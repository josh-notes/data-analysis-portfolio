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charts/chart3.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4.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5.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7" d="100"/>
          <a:sy n="87" d="100"/>
        </p:scale>
        <p:origin x="66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Golf Acres</c:v>
                </c:pt>
              </c:strCache>
            </c:strRef>
          </c:tx>
          <c:spPr>
            <a:solidFill>
              <a:srgbClr val="0B1F3A"/>
            </a:solidFill>
            <a:effectLst/>
          </c:spPr>
          <c:invertIfNegative val="0"/>
          <c:cat>
            <c:strRef>
              <c:f>Sheet1!$A$2:$A$8</c:f>
              <c:strCache>
                <c:ptCount val="7"/>
                <c:pt idx="0">
                  <c:v>Budget Fit</c:v>
                </c:pt>
                <c:pt idx="1">
                  <c:v>Developer</c:v>
                </c:pt>
                <c:pt idx="2">
                  <c:v>Connectivity</c:v>
                </c:pt>
                <c:pt idx="3">
                  <c:v>Livability</c:v>
                </c:pt>
                <c:pt idx="4">
                  <c:v>Liquidity</c:v>
                </c:pt>
                <c:pt idx="5">
                  <c:v>Regulatory</c:v>
                </c:pt>
                <c:pt idx="6">
                  <c:v>Appreciation</c:v>
                </c:pt>
              </c:strCache>
            </c:strRef>
          </c:cat>
          <c:val>
            <c:numRef>
              <c:f>Sheet1!$B$2:$B$8</c:f>
              <c:numCache>
                <c:formatCode>General</c:formatCode>
                <c:ptCount val="7"/>
                <c:pt idx="0">
                  <c:v>30</c:v>
                </c:pt>
                <c:pt idx="1">
                  <c:v>15</c:v>
                </c:pt>
                <c:pt idx="2">
                  <c:v>9</c:v>
                </c:pt>
                <c:pt idx="3">
                  <c:v>9</c:v>
                </c:pt>
                <c:pt idx="4">
                  <c:v>13</c:v>
                </c:pt>
                <c:pt idx="5">
                  <c:v>10</c:v>
                </c:pt>
                <c:pt idx="6">
                  <c:v>9</c:v>
                </c:pt>
              </c:numCache>
            </c:numRef>
          </c:val>
          <c:extLst>
            <c:ext xmlns:c16="http://schemas.microsoft.com/office/drawing/2014/chart" uri="{C3380CC4-5D6E-409C-BE32-E72D297353CC}">
              <c16:uniqueId val="{00000000-F4E3-4F08-96A7-A492304B514F}"/>
            </c:ext>
          </c:extLst>
        </c:ser>
        <c:ser>
          <c:idx val="1"/>
          <c:order val="1"/>
          <c:tx>
            <c:strRef>
              <c:f>Sheet1!$C$1</c:f>
              <c:strCache>
                <c:ptCount val="1"/>
                <c:pt idx="0">
                  <c:v>Greenspoint</c:v>
                </c:pt>
              </c:strCache>
            </c:strRef>
          </c:tx>
          <c:spPr>
            <a:solidFill>
              <a:srgbClr val="C9A227"/>
            </a:solidFill>
            <a:effectLst/>
          </c:spPr>
          <c:invertIfNegative val="0"/>
          <c:cat>
            <c:strRef>
              <c:f>Sheet1!$A$2:$A$8</c:f>
              <c:strCache>
                <c:ptCount val="7"/>
                <c:pt idx="0">
                  <c:v>Budget Fit</c:v>
                </c:pt>
                <c:pt idx="1">
                  <c:v>Developer</c:v>
                </c:pt>
                <c:pt idx="2">
                  <c:v>Connectivity</c:v>
                </c:pt>
                <c:pt idx="3">
                  <c:v>Livability</c:v>
                </c:pt>
                <c:pt idx="4">
                  <c:v>Liquidity</c:v>
                </c:pt>
                <c:pt idx="5">
                  <c:v>Regulatory</c:v>
                </c:pt>
                <c:pt idx="6">
                  <c:v>Appreciation</c:v>
                </c:pt>
              </c:strCache>
            </c:strRef>
          </c:cat>
          <c:val>
            <c:numRef>
              <c:f>Sheet1!$C$2:$C$8</c:f>
              <c:numCache>
                <c:formatCode>General</c:formatCode>
                <c:ptCount val="7"/>
                <c:pt idx="0">
                  <c:v>0</c:v>
                </c:pt>
                <c:pt idx="1">
                  <c:v>15</c:v>
                </c:pt>
                <c:pt idx="2">
                  <c:v>10</c:v>
                </c:pt>
                <c:pt idx="3">
                  <c:v>9</c:v>
                </c:pt>
                <c:pt idx="4">
                  <c:v>5</c:v>
                </c:pt>
                <c:pt idx="5">
                  <c:v>10</c:v>
                </c:pt>
                <c:pt idx="6">
                  <c:v>9</c:v>
                </c:pt>
              </c:numCache>
            </c:numRef>
          </c:val>
          <c:extLst>
            <c:ext xmlns:c16="http://schemas.microsoft.com/office/drawing/2014/chart" uri="{C3380CC4-5D6E-409C-BE32-E72D297353CC}">
              <c16:uniqueId val="{00000001-F4E3-4F08-96A7-A492304B514F}"/>
            </c:ext>
          </c:extLst>
        </c:ser>
        <c:dLbls>
          <c:showLegendKey val="0"/>
          <c:showVal val="0"/>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666666"/>
                </a:solidFill>
                <a:latin typeface="Arial"/>
              </a:defRPr>
            </a:pPr>
            <a:endParaRPr lang="en-US"/>
          </a:p>
        </c:txPr>
        <c:crossAx val="2094734552"/>
        <c:crosses val="autoZero"/>
        <c:auto val="1"/>
        <c:lblAlgn val="ctr"/>
        <c:lblOffset val="100"/>
        <c:noMultiLvlLbl val="1"/>
      </c:catAx>
      <c:valAx>
        <c:axId val="2094734552"/>
        <c:scaling>
          <c:orientation val="minMax"/>
          <c:max val="32"/>
        </c:scaling>
        <c:delete val="0"/>
        <c:axPos val="l"/>
        <c:majorGridlines>
          <c:spPr>
            <a:ln w="6350" cap="flat">
              <a:solidFill>
                <a:srgbClr val="E2E5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66666"/>
                </a:solidFill>
                <a:latin typeface="Arial"/>
              </a:defRPr>
            </a:pPr>
            <a:endParaRPr lang="en-US"/>
          </a:p>
        </c:txPr>
        <c:crossAx val="2094734554"/>
        <c:crosses val="autoZero"/>
        <c:crossBetween val="between"/>
      </c:valAx>
      <c:spPr>
        <a:solidFill>
          <a:srgbClr val="FFFFFF"/>
        </a:solidFill>
        <a:ln>
          <a:noFill/>
        </a:ln>
        <a:effectLst/>
      </c:spPr>
    </c:plotArea>
    <c:legend>
      <c:legendPos val="t"/>
      <c:overlay val="0"/>
      <c:txPr>
        <a:bodyPr/>
        <a:lstStyle/>
        <a:p>
          <a:pPr>
            <a:defRPr sz="900">
              <a:solidFill>
                <a:srgbClr val="666666"/>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Entry Price (AED)</c:v>
                </c:pt>
              </c:strCache>
            </c:strRef>
          </c:tx>
          <c:spPr>
            <a:solidFill>
              <a:srgbClr val="0B1F3A"/>
            </a:solidFill>
            <a:effectLst/>
          </c:spPr>
          <c:invertIfNegative val="0"/>
          <c:dLbls>
            <c:numFmt formatCode="#,##0" sourceLinked="0"/>
            <c:spPr>
              <a:noFill/>
              <a:ln>
                <a:noFill/>
              </a:ln>
              <a:effectLst/>
            </c:spPr>
            <c:txPr>
              <a:bodyPr/>
              <a:lstStyle/>
              <a:p>
                <a:pPr>
                  <a:defRPr sz="900" b="0" i="0" u="none" strike="noStrike">
                    <a:solidFill>
                      <a:srgbClr val="0B1F3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Golf Acres
1-Bed</c:v>
                </c:pt>
                <c:pt idx="1">
                  <c:v>Golf Acres
2-Bed</c:v>
                </c:pt>
                <c:pt idx="2">
                  <c:v>Client Budget
Ceiling</c:v>
                </c:pt>
                <c:pt idx="3">
                  <c:v>Greenspoint
3-Bed</c:v>
                </c:pt>
              </c:strCache>
            </c:strRef>
          </c:cat>
          <c:val>
            <c:numRef>
              <c:f>Sheet1!$B$2:$B$5</c:f>
              <c:numCache>
                <c:formatCode>General</c:formatCode>
                <c:ptCount val="4"/>
                <c:pt idx="0">
                  <c:v>950000</c:v>
                </c:pt>
                <c:pt idx="1">
                  <c:v>1750888</c:v>
                </c:pt>
                <c:pt idx="2">
                  <c:v>2000000</c:v>
                </c:pt>
                <c:pt idx="3">
                  <c:v>3360000</c:v>
                </c:pt>
              </c:numCache>
            </c:numRef>
          </c:val>
          <c:extLst>
            <c:ext xmlns:c16="http://schemas.microsoft.com/office/drawing/2014/chart" uri="{C3380CC4-5D6E-409C-BE32-E72D297353CC}">
              <c16:uniqueId val="{00000000-A042-45EC-8612-9E7C8B77AD2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66666"/>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5EA"/>
              </a:solidFill>
              <a:prstDash val="solid"/>
              <a:round/>
            </a:ln>
          </c:spPr>
        </c:majorGridlines>
        <c:numFmt formatCode="#,##0,\K"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66666"/>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AED</c:v>
                </c:pt>
              </c:strCache>
            </c:strRef>
          </c:tx>
          <c:spPr>
            <a:solidFill>
              <a:srgbClr val="C9A227"/>
            </a:solidFill>
            <a:effectLst/>
          </c:spPr>
          <c:invertIfNegative val="0"/>
          <c:dLbls>
            <c:numFmt formatCode="#,##0" sourceLinked="0"/>
            <c:spPr>
              <a:noFill/>
              <a:ln>
                <a:noFill/>
              </a:ln>
              <a:effectLst/>
            </c:spPr>
            <c:txPr>
              <a:bodyPr/>
              <a:lstStyle/>
              <a:p>
                <a:pPr>
                  <a:defRPr sz="900" b="0" i="0" u="none" strike="noStrike">
                    <a:solidFill>
                      <a:srgbClr val="0B1F3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Purchase
Price</c:v>
                </c:pt>
                <c:pt idx="1">
                  <c:v>Est. Gross
Rent (5.1%)</c:v>
                </c:pt>
                <c:pt idx="2">
                  <c:v>Net of Mgmt.
(approx.)</c:v>
                </c:pt>
              </c:strCache>
            </c:strRef>
          </c:cat>
          <c:val>
            <c:numRef>
              <c:f>Sheet1!$B$2:$B$4</c:f>
              <c:numCache>
                <c:formatCode>General</c:formatCode>
                <c:ptCount val="3"/>
                <c:pt idx="0">
                  <c:v>950000</c:v>
                </c:pt>
                <c:pt idx="1">
                  <c:v>48450</c:v>
                </c:pt>
                <c:pt idx="2">
                  <c:v>38760</c:v>
                </c:pt>
              </c:numCache>
            </c:numRef>
          </c:val>
          <c:extLst>
            <c:ext xmlns:c16="http://schemas.microsoft.com/office/drawing/2014/chart" uri="{C3380CC4-5D6E-409C-BE32-E72D297353CC}">
              <c16:uniqueId val="{00000000-4A74-4887-9333-AFEC04C339D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66666"/>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5EA"/>
              </a:solidFill>
              <a:prstDash val="solid"/>
              <a:round/>
            </a:ln>
          </c:spPr>
        </c:majorGridlines>
        <c:numFmt formatCode="#,##0,\K"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66666"/>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Units</c:v>
                </c:pt>
              </c:strCache>
            </c:strRef>
          </c:tx>
          <c:spPr>
            <a:solidFill>
              <a:srgbClr val="1B3A63"/>
            </a:solidFill>
            <a:effectLst/>
          </c:spPr>
          <c:invertIfNegative val="0"/>
          <c:dLbls>
            <c:numFmt formatCode="#,##0" sourceLinked="0"/>
            <c:spPr>
              <a:noFill/>
              <a:ln>
                <a:noFill/>
              </a:ln>
              <a:effectLst/>
            </c:spPr>
            <c:txPr>
              <a:bodyPr/>
              <a:lstStyle/>
              <a:p>
                <a:pPr>
                  <a:defRPr sz="900" b="0" i="0" u="none" strike="noStrike">
                    <a:solidFill>
                      <a:srgbClr val="0B1F3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2026</c:v>
                </c:pt>
                <c:pt idx="1">
                  <c:v>2027</c:v>
                </c:pt>
                <c:pt idx="2">
                  <c:v>2028</c:v>
                </c:pt>
              </c:strCache>
            </c:strRef>
          </c:cat>
          <c:val>
            <c:numRef>
              <c:f>Sheet1!$B$2:$B$4</c:f>
              <c:numCache>
                <c:formatCode>General</c:formatCode>
                <c:ptCount val="3"/>
                <c:pt idx="0">
                  <c:v>120000</c:v>
                </c:pt>
                <c:pt idx="1">
                  <c:v>146400</c:v>
                </c:pt>
                <c:pt idx="2">
                  <c:v>120100</c:v>
                </c:pt>
              </c:numCache>
            </c:numRef>
          </c:val>
          <c:extLst>
            <c:ext xmlns:c16="http://schemas.microsoft.com/office/drawing/2014/chart" uri="{C3380CC4-5D6E-409C-BE32-E72D297353CC}">
              <c16:uniqueId val="{00000000-5A85-448E-A85C-E9C6695A1C1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666666"/>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5EA"/>
              </a:solidFill>
              <a:prstDash val="solid"/>
              <a:round/>
            </a:ln>
          </c:spPr>
        </c:majorGridlines>
        <c:numFmt formatCode="#,##0,\K"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66666"/>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radarChart>
        <c:radarStyle val="marker"/>
        <c:varyColors val="0"/>
        <c:ser>
          <c:idx val="0"/>
          <c:order val="0"/>
          <c:tx>
            <c:strRef>
              <c:f>Sheet1!$B$1</c:f>
              <c:strCache>
                <c:ptCount val="1"/>
                <c:pt idx="0">
                  <c:v>Golf Acres</c:v>
                </c:pt>
              </c:strCache>
            </c:strRef>
          </c:tx>
          <c:spPr>
            <a:ln w="25400" cap="flat">
              <a:solidFill>
                <a:srgbClr val="C9A227"/>
              </a:solidFill>
              <a:prstDash val="solid"/>
              <a:round/>
            </a:ln>
            <a:effectLst/>
          </c:spPr>
          <c:marker>
            <c:symbol val="circle"/>
            <c:size val="6"/>
            <c:spPr>
              <a:solidFill>
                <a:srgbClr val="C9A227"/>
              </a:solidFill>
              <a:ln w="9525" cap="flat">
                <a:solidFill>
                  <a:srgbClr val="C9A227"/>
                </a:solidFill>
                <a:prstDash val="solid"/>
                <a:round/>
              </a:ln>
              <a:effectLst/>
            </c:spPr>
          </c:marker>
          <c:cat>
            <c:strRef>
              <c:f>Sheet1!$A$2:$A$6</c:f>
              <c:strCache>
                <c:ptCount val="5"/>
                <c:pt idx="0">
                  <c:v>Affordability</c:v>
                </c:pt>
                <c:pt idx="1">
                  <c:v>Yield</c:v>
                </c:pt>
                <c:pt idx="2">
                  <c:v>Appreciation
Track Record</c:v>
                </c:pt>
                <c:pt idx="3">
                  <c:v>Liquidity</c:v>
                </c:pt>
                <c:pt idx="4">
                  <c:v>Amenities</c:v>
                </c:pt>
              </c:strCache>
            </c:strRef>
          </c:cat>
          <c:val>
            <c:numRef>
              <c:f>Sheet1!$B$2:$B$6</c:f>
              <c:numCache>
                <c:formatCode>General</c:formatCode>
                <c:ptCount val="5"/>
                <c:pt idx="0">
                  <c:v>10</c:v>
                </c:pt>
                <c:pt idx="1">
                  <c:v>6</c:v>
                </c:pt>
                <c:pt idx="2">
                  <c:v>4</c:v>
                </c:pt>
                <c:pt idx="3">
                  <c:v>5</c:v>
                </c:pt>
                <c:pt idx="4">
                  <c:v>7</c:v>
                </c:pt>
              </c:numCache>
            </c:numRef>
          </c:val>
          <c:extLst>
            <c:ext xmlns:c16="http://schemas.microsoft.com/office/drawing/2014/chart" uri="{C3380CC4-5D6E-409C-BE32-E72D297353CC}">
              <c16:uniqueId val="{00000000-AEF0-4F53-A771-97926B4AEB27}"/>
            </c:ext>
          </c:extLst>
        </c:ser>
        <c:ser>
          <c:idx val="1"/>
          <c:order val="1"/>
          <c:tx>
            <c:strRef>
              <c:f>Sheet1!$C$1</c:f>
              <c:strCache>
                <c:ptCount val="1"/>
                <c:pt idx="0">
                  <c:v>Dubai Hills Estate</c:v>
                </c:pt>
              </c:strCache>
            </c:strRef>
          </c:tx>
          <c:spPr>
            <a:ln w="25400" cap="flat">
              <a:solidFill>
                <a:srgbClr val="0B1F3A"/>
              </a:solidFill>
              <a:prstDash val="solid"/>
              <a:round/>
            </a:ln>
            <a:effectLst/>
          </c:spPr>
          <c:marker>
            <c:symbol val="circle"/>
            <c:size val="6"/>
            <c:spPr>
              <a:solidFill>
                <a:srgbClr val="0B1F3A"/>
              </a:solidFill>
              <a:ln w="9525" cap="flat">
                <a:solidFill>
                  <a:srgbClr val="0B1F3A"/>
                </a:solidFill>
                <a:prstDash val="solid"/>
                <a:round/>
              </a:ln>
              <a:effectLst/>
            </c:spPr>
          </c:marker>
          <c:cat>
            <c:strRef>
              <c:f>Sheet1!$A$2:$A$6</c:f>
              <c:strCache>
                <c:ptCount val="5"/>
                <c:pt idx="0">
                  <c:v>Affordability</c:v>
                </c:pt>
                <c:pt idx="1">
                  <c:v>Yield</c:v>
                </c:pt>
                <c:pt idx="2">
                  <c:v>Appreciation
Track Record</c:v>
                </c:pt>
                <c:pt idx="3">
                  <c:v>Liquidity</c:v>
                </c:pt>
                <c:pt idx="4">
                  <c:v>Amenities</c:v>
                </c:pt>
              </c:strCache>
            </c:strRef>
          </c:cat>
          <c:val>
            <c:numRef>
              <c:f>Sheet1!$C$2:$C$6</c:f>
              <c:numCache>
                <c:formatCode>General</c:formatCode>
                <c:ptCount val="5"/>
                <c:pt idx="0">
                  <c:v>5</c:v>
                </c:pt>
                <c:pt idx="1">
                  <c:v>7</c:v>
                </c:pt>
                <c:pt idx="2">
                  <c:v>9</c:v>
                </c:pt>
                <c:pt idx="3">
                  <c:v>9</c:v>
                </c:pt>
                <c:pt idx="4">
                  <c:v>9</c:v>
                </c:pt>
              </c:numCache>
            </c:numRef>
          </c:val>
          <c:extLst>
            <c:ext xmlns:c16="http://schemas.microsoft.com/office/drawing/2014/chart" uri="{C3380CC4-5D6E-409C-BE32-E72D297353CC}">
              <c16:uniqueId val="{00000001-AEF0-4F53-A771-97926B4AEB27}"/>
            </c:ext>
          </c:extLst>
        </c:ser>
        <c:ser>
          <c:idx val="2"/>
          <c:order val="2"/>
          <c:tx>
            <c:strRef>
              <c:f>Sheet1!$D$1</c:f>
              <c:strCache>
                <c:ptCount val="1"/>
                <c:pt idx="0">
                  <c:v>The Valley</c:v>
                </c:pt>
              </c:strCache>
            </c:strRef>
          </c:tx>
          <c:spPr>
            <a:ln w="25400" cap="flat">
              <a:solidFill>
                <a:srgbClr val="8FA646"/>
              </a:solidFill>
              <a:prstDash val="solid"/>
              <a:round/>
            </a:ln>
            <a:effectLst/>
          </c:spPr>
          <c:marker>
            <c:symbol val="circle"/>
            <c:size val="6"/>
            <c:spPr>
              <a:solidFill>
                <a:srgbClr val="8FA646"/>
              </a:solidFill>
              <a:ln w="9525" cap="flat">
                <a:solidFill>
                  <a:srgbClr val="8FA646"/>
                </a:solidFill>
                <a:prstDash val="solid"/>
                <a:round/>
              </a:ln>
              <a:effectLst/>
            </c:spPr>
          </c:marker>
          <c:cat>
            <c:strRef>
              <c:f>Sheet1!$A$2:$A$6</c:f>
              <c:strCache>
                <c:ptCount val="5"/>
                <c:pt idx="0">
                  <c:v>Affordability</c:v>
                </c:pt>
                <c:pt idx="1">
                  <c:v>Yield</c:v>
                </c:pt>
                <c:pt idx="2">
                  <c:v>Appreciation
Track Record</c:v>
                </c:pt>
                <c:pt idx="3">
                  <c:v>Liquidity</c:v>
                </c:pt>
                <c:pt idx="4">
                  <c:v>Amenities</c:v>
                </c:pt>
              </c:strCache>
            </c:strRef>
          </c:cat>
          <c:val>
            <c:numRef>
              <c:f>Sheet1!$D$2:$D$6</c:f>
              <c:numCache>
                <c:formatCode>General</c:formatCode>
                <c:ptCount val="5"/>
                <c:pt idx="0">
                  <c:v>7</c:v>
                </c:pt>
                <c:pt idx="1">
                  <c:v>7</c:v>
                </c:pt>
                <c:pt idx="2">
                  <c:v>10</c:v>
                </c:pt>
                <c:pt idx="3">
                  <c:v>7</c:v>
                </c:pt>
                <c:pt idx="4">
                  <c:v>7</c:v>
                </c:pt>
              </c:numCache>
            </c:numRef>
          </c:val>
          <c:extLst>
            <c:ext xmlns:c16="http://schemas.microsoft.com/office/drawing/2014/chart" uri="{C3380CC4-5D6E-409C-BE32-E72D297353CC}">
              <c16:uniqueId val="{00000002-AEF0-4F53-A771-97926B4AEB27}"/>
            </c:ext>
          </c:extLst>
        </c:ser>
        <c:dLbls>
          <c:showLegendKey val="0"/>
          <c:showVal val="0"/>
          <c:showCatName val="0"/>
          <c:showSerName val="0"/>
          <c:showPercent val="0"/>
          <c:showBubbleSize val="0"/>
        </c:dLbls>
        <c:axId val="2094734554"/>
        <c:axId val="2094734552"/>
      </c:rad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666666"/>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800">
              <a:solidFill>
                <a:srgbClr val="666666"/>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23464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welcoming the CEO and framing the engagement: Dubai Luxury Real Estate Investment Advisory – Executive Case Study has been asked to evaluate two Emaar South launches — Golf Acres and Greenspoint — for a residential end-user client with a firm AED 2,000,000 budget. State clearly that every figure in this deck is sourced from a verified market intelligence report compiled from Emaar Properties, Dubai Land Department Open Data, Property Finder, Bayut, Propsearch.ae, and CBUAE economic reviews — nothing is invented, and any unverifiable data point is explicitly marked "Not Publicly Available" in the underlying report. Likely CEO question: "How current is this data?" Answer: the report was compiled in June 2026 using the most recent publicly available sources at that time; pricing and availability should be reconfirmed with Emaar before any transaction. Transition: "Let's start with the headline finding."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slide in the deck. Lead with the budget-fit finding: Golf Acres' 1-bed (AED 950,000) and 2-bed (AED 1,750,888) both fit within the AED 2,000,000 ceiling; Greenspoint's townhouse-only product starts at AED 3,360,000 — 68-77% over budget, with zero qualifying unit types. Walk through the four key findings in order, then land on the recommendation card: Golf Acres scores 95/100 versus Greenspoint's 58/100 on a client-specific weighted model (full methodology on slide 15). Likely CEO question: "Is Greenspoint a bad investment?" Answer: No — Part 14 of the underlying report shows it's a credible premium product; it simply doesn't fit this specific client's budget. If the client's budget increases, the recommendation should be revisited. Transition: "Let's establish exactly what this client needs before we go further."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three cards left to right: who the client is, how we evaluated the options, and what "success" means for this engagement. Emphasize that budget is non-negotiable in this mandate — AED 2,000,000 firm. The six decision-framework dimensions (affordability, livability, developer quality, connectivity, liquidity, investment fundamentals) are applied identically to both projects throughout the rest of the deck — this is what makes the comparison rigorous rather than anecdotal. Likely CEO question: "Did we assume financing or cash?" Answer: cash buyer assumed unless stated otherwise; the report flags financing as a possible (but mandate-changing) bridge for Greenspoint in the payment plan section. Transition: "Now let's look at where these two projects actually sit — Emaar South itself."</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Emaar South is a master-planned, golf-centric community inside Dubai South — home to the future Al Maktoum International Airport. The map placeholder should be replaced with a live Google Maps embed centered on Golf Acres' coordinates (24.865147, 55.138351) before the client meeting. Highlight the airport catalyst first: AED 128 billion expansion, targeting 150 million passengers by 2032. This is the single largest demand driver referenced throughout this deck. Expo City Dubai (10.6 km away) adds a second, independently funded catalyst. Likely CEO question: "Is the airport actually under construction, or just announced?" Answer: Yes — as of June 2026, over 17,000 concrete piles are complete, 45 million cubic metres excavated, and the second runway is finished; AED 13bn in contracts are under execution. Transition: "With the area established, let's look at the two specific projects."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both projects side by side. Golf Acres offers three apartment configurations plus a small townhouse allocation; Greenspoint is townhouse-only with no apartment or studio option at all — this is a structural feature of the project, not a current inventory shortage. Point to the colored tags: Golf Acres is tagged "Within Budget," Greenspoint is tagged "Over Budget" — this single visual cue previews the entire recommendation. Likely CEO question: "Could the client buy a smaller Greenspoint unit to fit budget?" Answer: No — even the smallest Greenspoint unit (a 2,418 sq.ft 3-bed townhouse) starts at AED 3,360,000; there is no smaller configuration. Transition: "Let's quantify this comparison with a full KPI dashboard."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dashboard view requested for the CEO briefing. Walk through the five KPI cards first — Investment Score, Budget Headroom, Composite Risk, Airport Connectivity, and Estimated Yield — then the weighted bar chart, which shows Golf Acres leading specifically on Budget Fit (30/30 vs 0/30) and Liquidity (13/15 vs 5/15), while the two are essentially tied on Developer, Connectivity, Livability, and Regulatory dimensions. The risk traffic-light panel on the right is a condensed preview of the full risk matrix in Section 12. Likely CEO question: "Why does Greenspoint score zero on budget fit instead of partial credit?" Answer: the scoring model is binary on this criterion because the client's budget is a firm constraint, not a soft preference — a unit that cannot be purchased within budget provides zero realizable value to this specific client. Transition: "Let's now look at pricing in more depth."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bar chart visually anchors the budget ceiling (AED 2,000,000) between Golf Acres' two qualifying unit types and Greenspoint's disqualifying entry price — this is intentional, to make the gap immediately visible to the CEO. On price per square foot, Golf Acres trades 19-43% below the Dubai citywide average while the surrounding Emaar South community has shown 19.3-22.8% year-over-year PSF growth — this is the core "below-market entry, above-market growth" value thesis. Likely CEO question: "Are these launch prices or current resale prices?" Answer: Golf Acres figures blend launch pricing with actual DLD-recorded resale transactions (see Section 9); Greenspoint asking prices largely still mirror launch pricing given its 2025 launch date. Transition: "Pricing tells us the entry cost — now let's look at expected returns."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illustrative cash-return build for a Golf Acres 1-bed: AED 950,000 purchase price against an estimated 5.1% community-level gross yield, producing roughly AED 48,450 in annual gross rent before costs. Stress that this is illustrative, not a guarantee — no project-specific yield data exists yet for either off-plan project. The three KPI cards on the right summarize yield range, community appreciation, and the recommended 6-8 year holding period, which is explicitly tied to the 2032 airport Phase 1 timeline discussed on slide 4. Likely CEO question: "Why 6-8 years and not sooner?" Answer: at 3 years, the airport's main catalyst hasn't yet materialized; by 6-8 years, the timeline comfortably spans the 2032 Phase 1 operational date, aligning exit timing with realized rather than anticipated catalyst value. Transition: "These return assumptions need validation — let's look at actual government transaction data."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about credibility: every Golf Acres transaction shown comes directly from Dubai Land Department Open Data, republished by Propsearch.ae. Fifty transactions exist for Golf Acres; zero project-specific transactions were locatable for Greenspoint, which is expected given its later 2025 launch but is still a meaningful liquidity data point. Point out the PSF pattern: 1-bed units cluster tightly (AED 1,295-1,339/sq.ft) while 3-bed units show wider variance (AED 1,102-1,777/sq.ft), likely reflecting floor and golf-course view premiums. Likely CEO question: "Does the absence of Greenspoint DLD data mean something is wrong?" Answer: No — it most likely reflects the project's later launch and shorter time on market, not a red flag; the report explicitly frames this as a data gap, not a confirmed absence of transactions. Transition: "Now let's translate these prices into a cash flow plan the client can act 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projects use an identical 10% booking / 70% construction-linked / 20% handover structure — so this comparison is purely about absolute affordability, not structural flexibility. Walk through the two cash flow cards: Golf Acres requires AED 950,000 total with AED 1,050,000 of budget headroom remaining; Greenspoint requires AED 3,360,000, exceeding budget by AED 1,360,000 before even adding DLD and agency fees. Note that the headroom on Golf Acres is enough to cover the standard ~7-8% in DLD transfer fees, agency commission, and mortgage registration, plus furnishing — Greenspoint would require external financing to even attempt closing the gap. Likely CEO question: "What if the client is open to a mortgage for Greenspoint?" Answer: feasible in principle — UAE banks fund up to 80% LTV for residents — but this changes the client's profile from a cash end-user to a financed buyer, a material change to the original mandate that should be explicitly confirmed with the client first. Transition: "Cash flow depends entirely on the developer executing — let's assess Emaar's track record."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projects share the same developer, so this slide establishes a risk factor that is constant across the entire decision — not a differentiator. Walk through the four KPI cards: AED 49.6bn FY2025 revenue (+40% YoY), AED 25.7bn net profit before tax (+36%), AED 155bn revenue backlog, and a long delivery history of at least 79,000 units since 2002. The four-quadrant grid below adds delivery history, construction quality commentary, financial strength, and execution risk context. Likely CEO question: "Is there any meaningful execution risk with Emaar specifically?" Answer: Emaar is RERA-registered and DFM-listed with a strong balance sheet, which reduces — but never fully eliminates — abandonment or delay risk; the escrow framework (covered on slide 17) provides the legal backstop regardless of developer size. Transition: "With developer risk equalized, let's look at the broader supply and demand picture."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Dubai faces a substantial supply wave — roughly 120,000 new units in 2026 alone, rising to 146,400 in 2027 before easing to 120,100 in 2028. This context matters because it's the backdrop against which Golf Acres' demonstrated liquidity (50 DLD transactions) becomes a meaningful differentiator rather than a formality. The three demand catalyst cards on the right — airport expansion, population growth, and Expo legacy — are the structural counterweight to that supply wave, specific to the Emaar South corridor. Likely CEO question: "Could this supply wave push prices down?" Answer: the report cites a Fitch-flagged bearish scenario of up to ~15% downside (via Driven Properties, a secondary source) as a risk to monitor, not a base case — it's addressed directly in the risk matrix on the next slide. Transition: "Let's now formalize all of this into a structured risk assessment."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traffic-light matrix top to bottom. The critical insight is that four of eight risk categories — Developer, Regulatory, Economic, and Currency — are rated identically for both projects, because both are Emaar-delivered, RERA-regulated, AED-denominated assets in the same master community. The differentiating risks are Liquidity (Golf Acres LOW-MEDIUM vs. Greenspoint MEDIUM-HIGH, due to the transaction history gap) and, implicitly, the budget-fit risk covered throughout this deck. Supply risk is actually rated slightly higher for Golf Acres, reflecting more concurrent apartment-segment competition within Emaar South. Likely CEO question: "Should the MEDIUM-HIGH supply risk on Golf Acres concern us?" Answer: it reflects multiple concurrent Emaar South apartment launches competing for the same buyer pool — a real factor, but one Golf Acres is already absorbing well, as shown by its active 50-transaction resale history. Transition: "Now let's see how both projects stack up against other major Dubai communities."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radar chart positions Golf Acres against Dubai Hills Estate and The Valley across five normalized dimensions. Golf Acres leads decisively on Affordability but trails on Appreciation Track Record and Liquidity — both expected, given Emaar South is an earlier-stage, less mature community than these established benchmarks. The table on the right adds Greenspoint and Dubai Creek Harbour for full context: note that Golf Acres' AED 950K entry price is the lowest of all five communities shown. Likely CEO question: "Should we be steering the client toward Dubai Hills or The Valley instead?" Answer: those communities both have entry prices and risk profiles that may suit this client, but they fall outside the client's stated mandate (Emaar South specifically) — this benchmark is included for context, not as an alternative recommendation. Transition: "Let's now consolidate everything into a single weighted scorecard."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auditable scoring breakdown behind the 95 vs. 58 headline figure from slide 2. Walk through each weighted row, emphasizing that Budget Fit (30% weight, the single largest factor) and Liquidity (15% weight) are where the scores diverge most sharply — every other criterion is within 1 point of each other. Be transparent about the methodology note at the bottom: these weights were built specifically for this client's mandate and would likely produce a different ranking for a client with a larger budget. Likely CEO question: "Is this scoring model defensible if the client pushes back?" Answer: yes — every input ties directly back to a verified figure in the underlying report (Part 16), and the weighting logic is fully disclosed, not a black box. Transition: "Before the final recommendation, let's confirm this client's profile actually matches Golf Acres' target buyer."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independently cross-checks the pricing conclusion using buyer-profile analysis rather than price alone. Golf Acres' four buyer profiles — families, aviation/logistics professionals, first-time buyers, and lifestyle/golf buyers — all plausibly describe this client. None of Greenspoint's three profiles (premium buyers, larger families, high-income professionals) match a client with a firm AED 2,000,000 budget. This is a deliberate triangulation: pricing data, payment plan cash flow, and buyer-profile fit all independently point to the same conclusion. Likely CEO question: "Could this client still want Greenspoint for non-financial reasons, like more space?" Answer: possibly — but that would represent a deviation from the stated budget mandate that should be explicitly raised and confirmed with the client, not assumed. Transition: "Let's close with the regulatory and macroeconomic context that underpins this entire recommendation."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the four regulatory safeguards on the left — escrow accounts under Law No. 8 of 2007, Oqood registration, RERA oversight, and buyer refund rights — emphasizing that these protections apply identically to both projects and significantly de-risk any off-plan purchase in Dubai. On the right, the macro snapshot shows a supportive backdrop: 5.6% UAE GDP growth, a stable 3.65% base rate, and AED 148.35bn in Q1 2026 foreign investment into Dubai real estate (+26% YoY). Likely CEO question: "What happens to the client's deposit if Emaar were to face financial difficulty?" Answer: by law, all payments sit in a ring-fenced, project-specific escrow account — those funds are legally the buyer's property, not the developer's, even in a bankruptcy scenario; this is one of the strongest investor protections in the Dubai market. Transition: "With the full picture established, let's land the final recommendation."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closing slide — deliver the recommendation with confidence: proceed with Golf Acres, specifically the 1-bed at AED 950,000 for maximum headroom, or the 2-bed at AED 1,750,888 if the client wants to use more of the available budget and anticipates household growth. Walk through the three columns: Key Reasons (budget fit, liquidity, school proximity, equal developer strength), Exit Strategy (5-year and 10-year outlook plus the recommended 6-8 year hold), and Next Steps (the concrete actions Dubai Luxury Real Estate Investment Advisory – Executive Case Study should take before the client signs anything). Close by being explicit that this is a data-driven, client-specific recommendation — not a universal verdict on Greenspoint, which remains a credible option if the client's budget changes. Likely CEO question: "What's the very first action item after this meeting?" Answer: verify live Golf Acres pricing and availability directly with Emaar, since off-plan inventory and pricing can change without notice — this is explicitly flagged in the underlying report's next-steps section.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3.png"/><Relationship Id="rId11" Type="http://schemas.openxmlformats.org/officeDocument/2006/relationships/image" Target="../media/image17.png"/><Relationship Id="rId5" Type="http://schemas.openxmlformats.org/officeDocument/2006/relationships/image" Target="../media/image12.png"/><Relationship Id="rId10" Type="http://schemas.openxmlformats.org/officeDocument/2006/relationships/image" Target="../media/image5.png"/><Relationship Id="rId4" Type="http://schemas.openxmlformats.org/officeDocument/2006/relationships/image" Target="../media/image11.png"/><Relationship Id="rId9" Type="http://schemas.openxmlformats.org/officeDocument/2006/relationships/image" Target="../media/image1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chart" Target="../charts/chart1.xml"/><Relationship Id="rId3" Type="http://schemas.openxmlformats.org/officeDocument/2006/relationships/image" Target="../media/image5.png"/><Relationship Id="rId7"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chart" Target="../charts/chart4.xml"/><Relationship Id="rId7"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26.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7.png"/><Relationship Id="rId7"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28.pn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25.png"/><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8092440" y="0"/>
            <a:ext cx="4099255" cy="6858000"/>
          </a:xfrm>
          <a:prstGeom prst="rect">
            <a:avLst/>
          </a:prstGeom>
          <a:solidFill>
            <a:srgbClr val="1B3A63"/>
          </a:solidFill>
          <a:ln/>
        </p:spPr>
      </p:sp>
      <p:sp>
        <p:nvSpPr>
          <p:cNvPr id="3" name="Shape 1"/>
          <p:cNvSpPr/>
          <p:nvPr/>
        </p:nvSpPr>
        <p:spPr>
          <a:xfrm>
            <a:off x="8092440" y="1371600"/>
            <a:ext cx="4099255" cy="0"/>
          </a:xfrm>
          <a:prstGeom prst="line">
            <a:avLst/>
          </a:prstGeom>
          <a:noFill/>
          <a:ln w="9525">
            <a:solidFill>
              <a:srgbClr val="2A4A78"/>
            </a:solidFill>
            <a:prstDash val="solid"/>
          </a:ln>
        </p:spPr>
      </p:sp>
      <p:sp>
        <p:nvSpPr>
          <p:cNvPr id="4" name="Shape 2"/>
          <p:cNvSpPr/>
          <p:nvPr/>
        </p:nvSpPr>
        <p:spPr>
          <a:xfrm>
            <a:off x="8092440" y="2743200"/>
            <a:ext cx="4099255" cy="0"/>
          </a:xfrm>
          <a:prstGeom prst="line">
            <a:avLst/>
          </a:prstGeom>
          <a:noFill/>
          <a:ln w="9525">
            <a:solidFill>
              <a:srgbClr val="2A4A78"/>
            </a:solidFill>
            <a:prstDash val="solid"/>
          </a:ln>
        </p:spPr>
      </p:sp>
      <p:sp>
        <p:nvSpPr>
          <p:cNvPr id="5" name="Shape 3"/>
          <p:cNvSpPr/>
          <p:nvPr/>
        </p:nvSpPr>
        <p:spPr>
          <a:xfrm>
            <a:off x="8092440" y="4114800"/>
            <a:ext cx="4099255" cy="0"/>
          </a:xfrm>
          <a:prstGeom prst="line">
            <a:avLst/>
          </a:prstGeom>
          <a:noFill/>
          <a:ln w="9525">
            <a:solidFill>
              <a:srgbClr val="2A4A78"/>
            </a:solidFill>
            <a:prstDash val="solid"/>
          </a:ln>
        </p:spPr>
      </p:sp>
      <p:sp>
        <p:nvSpPr>
          <p:cNvPr id="6" name="Shape 4"/>
          <p:cNvSpPr/>
          <p:nvPr/>
        </p:nvSpPr>
        <p:spPr>
          <a:xfrm>
            <a:off x="8092440" y="5486400"/>
            <a:ext cx="4099255" cy="0"/>
          </a:xfrm>
          <a:prstGeom prst="line">
            <a:avLst/>
          </a:prstGeom>
          <a:noFill/>
          <a:ln w="9525">
            <a:solidFill>
              <a:srgbClr val="2A4A78"/>
            </a:solidFill>
            <a:prstDash val="solid"/>
          </a:ln>
        </p:spPr>
      </p:sp>
      <p:sp>
        <p:nvSpPr>
          <p:cNvPr id="7" name="Shape 5"/>
          <p:cNvSpPr/>
          <p:nvPr/>
        </p:nvSpPr>
        <p:spPr>
          <a:xfrm>
            <a:off x="9117254" y="0"/>
            <a:ext cx="0" cy="6858000"/>
          </a:xfrm>
          <a:prstGeom prst="line">
            <a:avLst/>
          </a:prstGeom>
          <a:noFill/>
          <a:ln w="9525">
            <a:solidFill>
              <a:srgbClr val="2A4A78"/>
            </a:solidFill>
            <a:prstDash val="solid"/>
          </a:ln>
        </p:spPr>
      </p:sp>
      <p:sp>
        <p:nvSpPr>
          <p:cNvPr id="8" name="Shape 6"/>
          <p:cNvSpPr/>
          <p:nvPr/>
        </p:nvSpPr>
        <p:spPr>
          <a:xfrm>
            <a:off x="10142068" y="0"/>
            <a:ext cx="0" cy="6858000"/>
          </a:xfrm>
          <a:prstGeom prst="line">
            <a:avLst/>
          </a:prstGeom>
          <a:noFill/>
          <a:ln w="9525">
            <a:solidFill>
              <a:srgbClr val="2A4A78"/>
            </a:solidFill>
            <a:prstDash val="solid"/>
          </a:ln>
        </p:spPr>
      </p:sp>
      <p:sp>
        <p:nvSpPr>
          <p:cNvPr id="9" name="Shape 7"/>
          <p:cNvSpPr/>
          <p:nvPr/>
        </p:nvSpPr>
        <p:spPr>
          <a:xfrm>
            <a:off x="11166881" y="0"/>
            <a:ext cx="0" cy="6858000"/>
          </a:xfrm>
          <a:prstGeom prst="line">
            <a:avLst/>
          </a:prstGeom>
          <a:noFill/>
          <a:ln w="9525">
            <a:solidFill>
              <a:srgbClr val="2A4A78"/>
            </a:solidFill>
            <a:prstDash val="solid"/>
          </a:ln>
        </p:spPr>
      </p:sp>
      <p:pic>
        <p:nvPicPr>
          <p:cNvPr id="10" name="Image 0" descr="icons/map_pin_gold.png"/>
          <p:cNvPicPr>
            <a:picLocks noChangeAspect="1"/>
          </p:cNvPicPr>
          <p:nvPr/>
        </p:nvPicPr>
        <p:blipFill>
          <a:blip r:embed="rId3"/>
          <a:stretch>
            <a:fillRect/>
          </a:stretch>
        </p:blipFill>
        <p:spPr>
          <a:xfrm>
            <a:off x="9829800" y="2788920"/>
            <a:ext cx="566928" cy="566928"/>
          </a:xfrm>
          <a:prstGeom prst="rect">
            <a:avLst/>
          </a:prstGeom>
        </p:spPr>
      </p:pic>
      <p:sp>
        <p:nvSpPr>
          <p:cNvPr id="11" name="Text 8"/>
          <p:cNvSpPr/>
          <p:nvPr/>
        </p:nvSpPr>
        <p:spPr>
          <a:xfrm>
            <a:off x="640080" y="594360"/>
            <a:ext cx="6400800" cy="320040"/>
          </a:xfrm>
          <a:prstGeom prst="rect">
            <a:avLst/>
          </a:prstGeom>
          <a:noFill/>
          <a:ln/>
        </p:spPr>
        <p:txBody>
          <a:bodyPr wrap="square" lIns="0" tIns="0" rIns="0" bIns="0" rtlCol="0" anchor="ctr"/>
          <a:lstStyle/>
          <a:p>
            <a:pPr marL="0" indent="0">
              <a:buNone/>
            </a:pPr>
            <a:r>
              <a:rPr lang="en-US" sz="1300" b="1" kern="0" spc="300" dirty="0">
                <a:solidFill>
                  <a:srgbClr val="C9A227"/>
                </a:solidFill>
                <a:latin typeface="Calibri" pitchFamily="34" charset="0"/>
                <a:ea typeface="Calibri" pitchFamily="34" charset="-122"/>
                <a:cs typeface="Calibri" pitchFamily="34" charset="-120"/>
              </a:rPr>
              <a:t>LUXURY REAL ESTATE INVESTMENT ADVISORY</a:t>
            </a:r>
            <a:endParaRPr lang="en-US" sz="1300" dirty="0"/>
          </a:p>
        </p:txBody>
      </p:sp>
      <p:sp>
        <p:nvSpPr>
          <p:cNvPr id="12" name="Text 9"/>
          <p:cNvSpPr/>
          <p:nvPr/>
        </p:nvSpPr>
        <p:spPr>
          <a:xfrm>
            <a:off x="640080" y="1554480"/>
            <a:ext cx="6949440" cy="1691640"/>
          </a:xfrm>
          <a:prstGeom prst="rect">
            <a:avLst/>
          </a:prstGeom>
          <a:noFill/>
          <a:ln/>
        </p:spPr>
        <p:txBody>
          <a:bodyPr wrap="square" lIns="0" tIns="0" rIns="0" bIns="0" rtlCol="0" anchor="ctr"/>
          <a:lstStyle/>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RESIDENTIAL INVESTMENT</a:t>
            </a:r>
            <a:endParaRPr lang="en-US" sz="4000" dirty="0"/>
          </a:p>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ADVISORY</a:t>
            </a:r>
            <a:endParaRPr lang="en-US" sz="4000" dirty="0"/>
          </a:p>
        </p:txBody>
      </p:sp>
      <p:sp>
        <p:nvSpPr>
          <p:cNvPr id="13" name="Text 10"/>
          <p:cNvSpPr/>
          <p:nvPr/>
        </p:nvSpPr>
        <p:spPr>
          <a:xfrm>
            <a:off x="640080" y="3456432"/>
            <a:ext cx="6949440" cy="457200"/>
          </a:xfrm>
          <a:prstGeom prst="rect">
            <a:avLst/>
          </a:prstGeom>
          <a:noFill/>
          <a:ln/>
        </p:spPr>
        <p:txBody>
          <a:bodyPr wrap="square" lIns="0" tIns="0" rIns="0" bIns="0" rtlCol="0" anchor="ctr"/>
          <a:lstStyle/>
          <a:p>
            <a:pPr marL="0" indent="0">
              <a:buNone/>
            </a:pPr>
            <a:r>
              <a:rPr lang="en-US" sz="1600" i="1" dirty="0">
                <a:solidFill>
                  <a:srgbClr val="C7D0DE"/>
                </a:solidFill>
                <a:latin typeface="Calibri" pitchFamily="34" charset="0"/>
                <a:ea typeface="Calibri" pitchFamily="34" charset="-122"/>
                <a:cs typeface="Calibri" pitchFamily="34" charset="-120"/>
              </a:rPr>
              <a:t>Golf Acres vs. Greenspoint — Emaar South, Dubai South</a:t>
            </a:r>
            <a:endParaRPr lang="en-US" sz="1600" dirty="0"/>
          </a:p>
        </p:txBody>
      </p:sp>
      <p:sp>
        <p:nvSpPr>
          <p:cNvPr id="14" name="Text 11"/>
          <p:cNvSpPr/>
          <p:nvPr/>
        </p:nvSpPr>
        <p:spPr>
          <a:xfrm>
            <a:off x="640080" y="4297680"/>
            <a:ext cx="1920240" cy="320040"/>
          </a:xfrm>
          <a:prstGeom prst="rect">
            <a:avLst/>
          </a:prstGeom>
          <a:noFill/>
          <a:ln/>
        </p:spPr>
        <p:txBody>
          <a:bodyPr wrap="square" lIns="0" tIns="0" rIns="0" bIns="0" rtlCol="0" anchor="ctr"/>
          <a:lstStyle/>
          <a:p>
            <a:pPr marL="0" indent="0">
              <a:buNone/>
            </a:pPr>
            <a:r>
              <a:rPr lang="en-US" sz="950" b="1" kern="0" spc="100" dirty="0">
                <a:solidFill>
                  <a:srgbClr val="C9A227"/>
                </a:solidFill>
                <a:latin typeface="Calibri" pitchFamily="34" charset="0"/>
                <a:ea typeface="Calibri" pitchFamily="34" charset="-122"/>
                <a:cs typeface="Calibri" pitchFamily="34" charset="-120"/>
              </a:rPr>
              <a:t>PREPARED FOR</a:t>
            </a:r>
            <a:endParaRPr lang="en-US" sz="950" dirty="0"/>
          </a:p>
        </p:txBody>
      </p:sp>
      <p:sp>
        <p:nvSpPr>
          <p:cNvPr id="15" name="Text 12"/>
          <p:cNvSpPr/>
          <p:nvPr/>
        </p:nvSpPr>
        <p:spPr>
          <a:xfrm>
            <a:off x="2606040" y="4297680"/>
            <a:ext cx="5120640" cy="32004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Investment Committee — Confidential Advisory</a:t>
            </a:r>
            <a:endParaRPr lang="en-US" sz="1250" dirty="0"/>
          </a:p>
        </p:txBody>
      </p:sp>
      <p:sp>
        <p:nvSpPr>
          <p:cNvPr id="16" name="Text 13"/>
          <p:cNvSpPr/>
          <p:nvPr/>
        </p:nvSpPr>
        <p:spPr>
          <a:xfrm>
            <a:off x="640080" y="4681728"/>
            <a:ext cx="1920240" cy="320040"/>
          </a:xfrm>
          <a:prstGeom prst="rect">
            <a:avLst/>
          </a:prstGeom>
          <a:noFill/>
          <a:ln/>
        </p:spPr>
        <p:txBody>
          <a:bodyPr wrap="square" lIns="0" tIns="0" rIns="0" bIns="0" rtlCol="0" anchor="ctr"/>
          <a:lstStyle/>
          <a:p>
            <a:pPr marL="0" indent="0">
              <a:buNone/>
            </a:pPr>
            <a:r>
              <a:rPr lang="en-US" sz="950" b="1" kern="0" spc="100" dirty="0">
                <a:solidFill>
                  <a:srgbClr val="C9A227"/>
                </a:solidFill>
                <a:latin typeface="Calibri" pitchFamily="34" charset="0"/>
                <a:ea typeface="Calibri" pitchFamily="34" charset="-122"/>
                <a:cs typeface="Calibri" pitchFamily="34" charset="-120"/>
              </a:rPr>
              <a:t>CLIENT PROFILE</a:t>
            </a:r>
            <a:endParaRPr lang="en-US" sz="950" dirty="0"/>
          </a:p>
        </p:txBody>
      </p:sp>
      <p:sp>
        <p:nvSpPr>
          <p:cNvPr id="17" name="Text 14"/>
          <p:cNvSpPr/>
          <p:nvPr/>
        </p:nvSpPr>
        <p:spPr>
          <a:xfrm>
            <a:off x="2606040" y="4681728"/>
            <a:ext cx="5120640" cy="32004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Residential End-User  |  Budget: AED 2,000,000</a:t>
            </a:r>
            <a:endParaRPr lang="en-US" sz="1250" dirty="0"/>
          </a:p>
        </p:txBody>
      </p:sp>
      <p:sp>
        <p:nvSpPr>
          <p:cNvPr id="18" name="Text 15"/>
          <p:cNvSpPr/>
          <p:nvPr/>
        </p:nvSpPr>
        <p:spPr>
          <a:xfrm>
            <a:off x="640080" y="5065776"/>
            <a:ext cx="1920240" cy="320040"/>
          </a:xfrm>
          <a:prstGeom prst="rect">
            <a:avLst/>
          </a:prstGeom>
          <a:noFill/>
          <a:ln/>
        </p:spPr>
        <p:txBody>
          <a:bodyPr wrap="square" lIns="0" tIns="0" rIns="0" bIns="0" rtlCol="0" anchor="ctr"/>
          <a:lstStyle/>
          <a:p>
            <a:pPr marL="0" indent="0">
              <a:buNone/>
            </a:pPr>
            <a:r>
              <a:rPr lang="en-US" sz="950" b="1" kern="0" spc="100" dirty="0">
                <a:solidFill>
                  <a:srgbClr val="C9A227"/>
                </a:solidFill>
                <a:latin typeface="Calibri" pitchFamily="34" charset="0"/>
                <a:ea typeface="Calibri" pitchFamily="34" charset="-122"/>
                <a:cs typeface="Calibri" pitchFamily="34" charset="-120"/>
              </a:rPr>
              <a:t>ASSET LOCATION</a:t>
            </a:r>
            <a:endParaRPr lang="en-US" sz="950" dirty="0"/>
          </a:p>
        </p:txBody>
      </p:sp>
      <p:sp>
        <p:nvSpPr>
          <p:cNvPr id="19" name="Text 16"/>
          <p:cNvSpPr/>
          <p:nvPr/>
        </p:nvSpPr>
        <p:spPr>
          <a:xfrm>
            <a:off x="2606040" y="5065776"/>
            <a:ext cx="5120640" cy="32004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Emaar South, Dubai South, UAE</a:t>
            </a:r>
            <a:endParaRPr lang="en-US" sz="1250" dirty="0"/>
          </a:p>
        </p:txBody>
      </p:sp>
      <p:sp>
        <p:nvSpPr>
          <p:cNvPr id="20" name="Text 17"/>
          <p:cNvSpPr/>
          <p:nvPr/>
        </p:nvSpPr>
        <p:spPr>
          <a:xfrm>
            <a:off x="640080" y="5449824"/>
            <a:ext cx="1920240" cy="320040"/>
          </a:xfrm>
          <a:prstGeom prst="rect">
            <a:avLst/>
          </a:prstGeom>
          <a:noFill/>
          <a:ln/>
        </p:spPr>
        <p:txBody>
          <a:bodyPr wrap="square" lIns="0" tIns="0" rIns="0" bIns="0" rtlCol="0" anchor="ctr"/>
          <a:lstStyle/>
          <a:p>
            <a:pPr marL="0" indent="0">
              <a:buNone/>
            </a:pPr>
            <a:r>
              <a:rPr lang="en-US" sz="950" b="1" kern="0" spc="100" dirty="0">
                <a:solidFill>
                  <a:srgbClr val="C9A227"/>
                </a:solidFill>
                <a:latin typeface="Calibri" pitchFamily="34" charset="0"/>
                <a:ea typeface="Calibri" pitchFamily="34" charset="-122"/>
                <a:cs typeface="Calibri" pitchFamily="34" charset="-120"/>
              </a:rPr>
              <a:t>PREPARED BY</a:t>
            </a:r>
            <a:endParaRPr lang="en-US" sz="950" dirty="0"/>
          </a:p>
        </p:txBody>
      </p:sp>
      <p:sp>
        <p:nvSpPr>
          <p:cNvPr id="21" name="Text 18"/>
          <p:cNvSpPr/>
          <p:nvPr/>
        </p:nvSpPr>
        <p:spPr>
          <a:xfrm>
            <a:off x="2606040" y="5449824"/>
            <a:ext cx="5120640" cy="32004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Joshua Abejide  </a:t>
            </a:r>
            <a:r>
              <a:rPr lang="en-US" sz="1250" dirty="0">
                <a:solidFill>
                  <a:srgbClr val="FFFFFF"/>
                </a:solidFill>
                <a:latin typeface="Calibri" pitchFamily="34" charset="0"/>
                <a:ea typeface="Calibri" pitchFamily="34" charset="-122"/>
                <a:cs typeface="Calibri" pitchFamily="34" charset="-120"/>
              </a:rPr>
              <a:t>—  Business &amp; Data Analyst</a:t>
            </a:r>
            <a:endParaRPr lang="en-US" sz="1250" dirty="0"/>
          </a:p>
        </p:txBody>
      </p:sp>
      <p:sp>
        <p:nvSpPr>
          <p:cNvPr id="22" name="Text 19"/>
          <p:cNvSpPr/>
          <p:nvPr/>
        </p:nvSpPr>
        <p:spPr>
          <a:xfrm>
            <a:off x="640080" y="6355080"/>
            <a:ext cx="7315200" cy="274320"/>
          </a:xfrm>
          <a:prstGeom prst="rect">
            <a:avLst/>
          </a:prstGeom>
          <a:noFill/>
          <a:ln/>
        </p:spPr>
        <p:txBody>
          <a:bodyPr wrap="square" lIns="0" tIns="0" rIns="0" bIns="0" rtlCol="0" anchor="ctr"/>
          <a:lstStyle/>
          <a:p>
            <a:pPr marL="0" indent="0">
              <a:buNone/>
            </a:pPr>
            <a:r>
              <a:rPr lang="en-US" sz="950" i="1" dirty="0">
                <a:solidFill>
                  <a:srgbClr val="8A95AC"/>
                </a:solidFill>
                <a:latin typeface="Calibri" pitchFamily="34" charset="0"/>
                <a:ea typeface="Calibri" pitchFamily="34" charset="-122"/>
                <a:cs typeface="Calibri" pitchFamily="34" charset="-120"/>
              </a:rPr>
              <a:t>Prepared by: Joshua Abejide, Senior Analyst  |  CEO-level institutional advisory  |  June 2026</a:t>
            </a:r>
            <a:endParaRPr lang="en-US" sz="950" dirty="0"/>
          </a:p>
        </p:txBody>
      </p:sp>
      <p:pic>
        <p:nvPicPr>
          <p:cNvPr id="26" name="Picture 25">
            <a:extLst>
              <a:ext uri="{FF2B5EF4-FFF2-40B4-BE49-F238E27FC236}">
                <a16:creationId xmlns:a16="http://schemas.microsoft.com/office/drawing/2014/main" id="{BD0D45D5-D278-22DF-DBAC-1F9594677BED}"/>
              </a:ext>
            </a:extLst>
          </p:cNvPr>
          <p:cNvPicPr>
            <a:picLocks noChangeAspect="1"/>
          </p:cNvPicPr>
          <p:nvPr/>
        </p:nvPicPr>
        <p:blipFill>
          <a:blip r:embed="rId4">
            <a:extLst>
              <a:ext uri="{BEBA8EAE-BF5A-486C-A8C5-ECC9F3942E4B}">
                <a14:imgProps xmlns:a14="http://schemas.microsoft.com/office/drawing/2010/main">
                  <a14:imgLayer r:embed="rId5">
                    <a14:imgEffect>
                      <a14:colorTemperature colorTemp="2724"/>
                    </a14:imgEffect>
                    <a14:imgEffect>
                      <a14:saturation sat="400000"/>
                    </a14:imgEffect>
                  </a14:imgLayer>
                </a14:imgProps>
              </a:ext>
            </a:extLst>
          </a:blip>
          <a:stretch>
            <a:fillRect/>
          </a:stretch>
        </p:blipFill>
        <p:spPr>
          <a:xfrm>
            <a:off x="8092440" y="0"/>
            <a:ext cx="409925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lgn="l">
              <a:buNone/>
            </a:pPr>
            <a:r>
              <a:rPr lang="en-US" sz="1150" b="1" kern="0" spc="200" dirty="0">
                <a:solidFill>
                  <a:srgbClr val="C9A227"/>
                </a:solidFill>
                <a:latin typeface="Calibri" pitchFamily="34" charset="0"/>
                <a:ea typeface="Calibri" pitchFamily="34" charset="-122"/>
                <a:cs typeface="Calibri" pitchFamily="34" charset="-120"/>
              </a:rPr>
              <a:t>SECTION 01 · EXECUTIVE SUMMARY</a:t>
            </a:r>
            <a:endParaRPr lang="en-US" sz="1150" dirty="0"/>
          </a:p>
        </p:txBody>
      </p:sp>
      <p:sp>
        <p:nvSpPr>
          <p:cNvPr id="3" name="Text 1"/>
          <p:cNvSpPr/>
          <p:nvPr/>
        </p:nvSpPr>
        <p:spPr>
          <a:xfrm>
            <a:off x="502920" y="658368"/>
            <a:ext cx="10607040" cy="566928"/>
          </a:xfrm>
          <a:prstGeom prst="rect">
            <a:avLst/>
          </a:prstGeom>
          <a:noFill/>
          <a:ln/>
        </p:spPr>
        <p:txBody>
          <a:bodyPr wrap="square" lIns="0" tIns="0" rIns="0" bIns="0" rtlCol="0" anchor="ctr"/>
          <a:lstStyle/>
          <a:p>
            <a:pPr marL="0" indent="0" algn="l">
              <a:buNone/>
            </a:pPr>
            <a:r>
              <a:rPr lang="en-US" sz="2600" b="1" dirty="0">
                <a:solidFill>
                  <a:srgbClr val="0B1F3A"/>
                </a:solidFill>
                <a:latin typeface="Cambria" pitchFamily="34" charset="0"/>
                <a:ea typeface="Cambria" pitchFamily="34" charset="-122"/>
                <a:cs typeface="Cambria" pitchFamily="34" charset="-120"/>
              </a:rPr>
              <a:t>Investment Decision at a Glance</a:t>
            </a:r>
            <a:endParaRPr lang="en-US" sz="2600" dirty="0"/>
          </a:p>
        </p:txBody>
      </p:sp>
      <p:sp>
        <p:nvSpPr>
          <p:cNvPr id="4" name="Text 2"/>
          <p:cNvSpPr/>
          <p:nvPr/>
        </p:nvSpPr>
        <p:spPr>
          <a:xfrm>
            <a:off x="502920" y="1389888"/>
            <a:ext cx="6446520" cy="274320"/>
          </a:xfrm>
          <a:prstGeom prst="rect">
            <a:avLst/>
          </a:prstGeom>
          <a:noFill/>
          <a:ln/>
        </p:spPr>
        <p:txBody>
          <a:bodyPr wrap="square" lIns="0" tIns="0" rIns="0" bIns="0" rtlCol="0" anchor="ctr"/>
          <a:lstStyle/>
          <a:p>
            <a:pPr marL="0" indent="0">
              <a:buNone/>
            </a:pPr>
            <a:r>
              <a:rPr lang="en-US" sz="1100" b="1" kern="0" spc="150" dirty="0">
                <a:solidFill>
                  <a:srgbClr val="0B1F3A"/>
                </a:solidFill>
                <a:latin typeface="Calibri" pitchFamily="34" charset="0"/>
                <a:ea typeface="Calibri" pitchFamily="34" charset="-122"/>
                <a:cs typeface="Calibri" pitchFamily="34" charset="-120"/>
              </a:rPr>
              <a:t>OBJECTIVE</a:t>
            </a:r>
            <a:endParaRPr lang="en-US" sz="1100" dirty="0"/>
          </a:p>
        </p:txBody>
      </p:sp>
      <p:sp>
        <p:nvSpPr>
          <p:cNvPr id="5" name="Text 3"/>
          <p:cNvSpPr/>
          <p:nvPr/>
        </p:nvSpPr>
        <p:spPr>
          <a:xfrm>
            <a:off x="502920" y="1682496"/>
            <a:ext cx="6446520" cy="566928"/>
          </a:xfrm>
          <a:prstGeom prst="rect">
            <a:avLst/>
          </a:prstGeom>
          <a:noFill/>
          <a:ln/>
        </p:spPr>
        <p:txBody>
          <a:bodyPr wrap="square" lIns="0" tIns="0" rIns="0" bIns="0" rtlCol="0" anchor="ctr"/>
          <a:lstStyle/>
          <a:p>
            <a:pPr marL="0" indent="0">
              <a:lnSpc>
                <a:spcPct val="112000"/>
              </a:lnSpc>
              <a:buNone/>
            </a:pPr>
            <a:r>
              <a:rPr lang="en-US" sz="1250" dirty="0">
                <a:solidFill>
                  <a:srgbClr val="666666"/>
                </a:solidFill>
                <a:latin typeface="Calibri" pitchFamily="34" charset="0"/>
                <a:ea typeface="Calibri" pitchFamily="34" charset="-122"/>
                <a:cs typeface="Calibri" pitchFamily="34" charset="-120"/>
              </a:rPr>
              <a:t>Determine which Emaar South launch — Golf Acres or Greenspoint — represents the strongest residential opportunity for an end-user client with a firm AED 2,000,000 budget.</a:t>
            </a:r>
            <a:endParaRPr lang="en-US" sz="1250" dirty="0"/>
          </a:p>
        </p:txBody>
      </p:sp>
      <p:sp>
        <p:nvSpPr>
          <p:cNvPr id="6" name="Text 4"/>
          <p:cNvSpPr/>
          <p:nvPr/>
        </p:nvSpPr>
        <p:spPr>
          <a:xfrm>
            <a:off x="502920" y="2359152"/>
            <a:ext cx="6446520" cy="274320"/>
          </a:xfrm>
          <a:prstGeom prst="rect">
            <a:avLst/>
          </a:prstGeom>
          <a:noFill/>
          <a:ln/>
        </p:spPr>
        <p:txBody>
          <a:bodyPr wrap="square" lIns="0" tIns="0" rIns="0" bIns="0" rtlCol="0" anchor="ctr"/>
          <a:lstStyle/>
          <a:p>
            <a:pPr marL="0" indent="0">
              <a:buNone/>
            </a:pPr>
            <a:r>
              <a:rPr lang="en-US" sz="1100" b="1" kern="0" spc="150" dirty="0">
                <a:solidFill>
                  <a:srgbClr val="0B1F3A"/>
                </a:solidFill>
                <a:latin typeface="Calibri" pitchFamily="34" charset="0"/>
                <a:ea typeface="Calibri" pitchFamily="34" charset="-122"/>
                <a:cs typeface="Calibri" pitchFamily="34" charset="-120"/>
              </a:rPr>
              <a:t>KEY FINDINGS</a:t>
            </a:r>
            <a:endParaRPr lang="en-US" sz="1100" dirty="0"/>
          </a:p>
        </p:txBody>
      </p:sp>
      <p:pic>
        <p:nvPicPr>
          <p:cNvPr id="7" name="Image 0" descr="icons/check_green.png"/>
          <p:cNvPicPr>
            <a:picLocks noChangeAspect="1"/>
          </p:cNvPicPr>
          <p:nvPr/>
        </p:nvPicPr>
        <p:blipFill>
          <a:blip r:embed="rId3"/>
          <a:stretch>
            <a:fillRect/>
          </a:stretch>
        </p:blipFill>
        <p:spPr>
          <a:xfrm>
            <a:off x="502920" y="2697480"/>
            <a:ext cx="201168" cy="201168"/>
          </a:xfrm>
          <a:prstGeom prst="rect">
            <a:avLst/>
          </a:prstGeom>
        </p:spPr>
      </p:pic>
      <p:sp>
        <p:nvSpPr>
          <p:cNvPr id="8" name="Text 5"/>
          <p:cNvSpPr/>
          <p:nvPr/>
        </p:nvSpPr>
        <p:spPr>
          <a:xfrm>
            <a:off x="832104" y="2624328"/>
            <a:ext cx="6117336" cy="457200"/>
          </a:xfrm>
          <a:prstGeom prst="rect">
            <a:avLst/>
          </a:prstGeom>
          <a:noFill/>
          <a:ln/>
        </p:spPr>
        <p:txBody>
          <a:bodyPr wrap="square" lIns="0" tIns="0" rIns="0" bIns="0" rtlCol="0" anchor="t"/>
          <a:lstStyle/>
          <a:p>
            <a:pPr marL="0" indent="0">
              <a:lnSpc>
                <a:spcPct val="105000"/>
              </a:lnSpc>
              <a:buNone/>
            </a:pPr>
            <a:r>
              <a:rPr lang="en-US" sz="1200" b="1" dirty="0">
                <a:solidFill>
                  <a:srgbClr val="0B1F3A"/>
                </a:solidFill>
                <a:latin typeface="Calibri" pitchFamily="34" charset="0"/>
                <a:ea typeface="Calibri" pitchFamily="34" charset="-122"/>
                <a:cs typeface="Calibri" pitchFamily="34" charset="-120"/>
              </a:rPr>
              <a:t>Golf Acres fits the budget  —  </a:t>
            </a:r>
            <a:r>
              <a:rPr lang="en-US" sz="1200" dirty="0">
                <a:solidFill>
                  <a:srgbClr val="666666"/>
                </a:solidFill>
                <a:latin typeface="Calibri" pitchFamily="34" charset="0"/>
                <a:ea typeface="Calibri" pitchFamily="34" charset="-122"/>
                <a:cs typeface="Calibri" pitchFamily="34" charset="-120"/>
              </a:rPr>
              <a:t>1-bed from AED 950,000 and 2-bed from AED 1,750,888 — both within the AED 2M ceiling.</a:t>
            </a:r>
            <a:endParaRPr lang="en-US" sz="1200" dirty="0"/>
          </a:p>
        </p:txBody>
      </p:sp>
      <p:pic>
        <p:nvPicPr>
          <p:cNvPr id="9" name="Image 1" descr="icons/timescircle_red.png"/>
          <p:cNvPicPr>
            <a:picLocks noChangeAspect="1"/>
          </p:cNvPicPr>
          <p:nvPr/>
        </p:nvPicPr>
        <p:blipFill>
          <a:blip r:embed="rId4"/>
          <a:stretch>
            <a:fillRect/>
          </a:stretch>
        </p:blipFill>
        <p:spPr>
          <a:xfrm>
            <a:off x="502920" y="3264408"/>
            <a:ext cx="201168" cy="201168"/>
          </a:xfrm>
          <a:prstGeom prst="rect">
            <a:avLst/>
          </a:prstGeom>
        </p:spPr>
      </p:pic>
      <p:sp>
        <p:nvSpPr>
          <p:cNvPr id="10" name="Text 6"/>
          <p:cNvSpPr/>
          <p:nvPr/>
        </p:nvSpPr>
        <p:spPr>
          <a:xfrm>
            <a:off x="832104" y="3191256"/>
            <a:ext cx="6117336" cy="457200"/>
          </a:xfrm>
          <a:prstGeom prst="rect">
            <a:avLst/>
          </a:prstGeom>
          <a:noFill/>
          <a:ln/>
        </p:spPr>
        <p:txBody>
          <a:bodyPr wrap="square" lIns="0" tIns="0" rIns="0" bIns="0" rtlCol="0" anchor="t"/>
          <a:lstStyle/>
          <a:p>
            <a:pPr marL="0" indent="0">
              <a:lnSpc>
                <a:spcPct val="105000"/>
              </a:lnSpc>
              <a:buNone/>
            </a:pPr>
            <a:r>
              <a:rPr lang="en-US" sz="1200" b="1" dirty="0">
                <a:solidFill>
                  <a:srgbClr val="0B1F3A"/>
                </a:solidFill>
                <a:latin typeface="Calibri" pitchFamily="34" charset="0"/>
                <a:ea typeface="Calibri" pitchFamily="34" charset="-122"/>
                <a:cs typeface="Calibri" pitchFamily="34" charset="-120"/>
              </a:rPr>
              <a:t>Greenspoint exceeds the budget  —  </a:t>
            </a:r>
            <a:r>
              <a:rPr lang="en-US" sz="1200" dirty="0">
                <a:solidFill>
                  <a:srgbClr val="666666"/>
                </a:solidFill>
                <a:latin typeface="Calibri" pitchFamily="34" charset="0"/>
                <a:ea typeface="Calibri" pitchFamily="34" charset="-122"/>
                <a:cs typeface="Calibri" pitchFamily="34" charset="-120"/>
              </a:rPr>
              <a:t>Entry price of AED 3,360,000–3,532,888 is 68–77% above the client's stated ceiling.</a:t>
            </a:r>
            <a:endParaRPr lang="en-US" sz="1200" dirty="0"/>
          </a:p>
        </p:txBody>
      </p:sp>
      <p:pic>
        <p:nvPicPr>
          <p:cNvPr id="11" name="Image 2" descr="icons/check_green.png"/>
          <p:cNvPicPr>
            <a:picLocks noChangeAspect="1"/>
          </p:cNvPicPr>
          <p:nvPr/>
        </p:nvPicPr>
        <p:blipFill>
          <a:blip r:embed="rId3"/>
          <a:stretch>
            <a:fillRect/>
          </a:stretch>
        </p:blipFill>
        <p:spPr>
          <a:xfrm>
            <a:off x="502920" y="3831336"/>
            <a:ext cx="201168" cy="201168"/>
          </a:xfrm>
          <a:prstGeom prst="rect">
            <a:avLst/>
          </a:prstGeom>
        </p:spPr>
      </p:pic>
      <p:sp>
        <p:nvSpPr>
          <p:cNvPr id="12" name="Text 7"/>
          <p:cNvSpPr/>
          <p:nvPr/>
        </p:nvSpPr>
        <p:spPr>
          <a:xfrm>
            <a:off x="832104" y="3758184"/>
            <a:ext cx="6117336" cy="457200"/>
          </a:xfrm>
          <a:prstGeom prst="rect">
            <a:avLst/>
          </a:prstGeom>
          <a:noFill/>
          <a:ln/>
        </p:spPr>
        <p:txBody>
          <a:bodyPr wrap="square" lIns="0" tIns="0" rIns="0" bIns="0" rtlCol="0" anchor="t"/>
          <a:lstStyle/>
          <a:p>
            <a:pPr marL="0" indent="0">
              <a:lnSpc>
                <a:spcPct val="105000"/>
              </a:lnSpc>
              <a:buNone/>
            </a:pPr>
            <a:r>
              <a:rPr lang="en-US" sz="1200" b="1" dirty="0">
                <a:solidFill>
                  <a:srgbClr val="0B1F3A"/>
                </a:solidFill>
                <a:latin typeface="Calibri" pitchFamily="34" charset="0"/>
                <a:ea typeface="Calibri" pitchFamily="34" charset="-122"/>
                <a:cs typeface="Calibri" pitchFamily="34" charset="-120"/>
              </a:rPr>
              <a:t>Developer risk is identical  —  </a:t>
            </a:r>
            <a:r>
              <a:rPr lang="en-US" sz="1200" dirty="0">
                <a:solidFill>
                  <a:srgbClr val="666666"/>
                </a:solidFill>
                <a:latin typeface="Calibri" pitchFamily="34" charset="0"/>
                <a:ea typeface="Calibri" pitchFamily="34" charset="-122"/>
                <a:cs typeface="Calibri" pitchFamily="34" charset="-120"/>
              </a:rPr>
              <a:t>Both delivered by Emaar Development PJSC — AED 155bn Group revenue backlog (FY2025).</a:t>
            </a:r>
            <a:endParaRPr lang="en-US" sz="1200" dirty="0"/>
          </a:p>
        </p:txBody>
      </p:sp>
      <p:pic>
        <p:nvPicPr>
          <p:cNvPr id="13" name="Image 3" descr="icons/check_green.png"/>
          <p:cNvPicPr>
            <a:picLocks noChangeAspect="1"/>
          </p:cNvPicPr>
          <p:nvPr/>
        </p:nvPicPr>
        <p:blipFill>
          <a:blip r:embed="rId3"/>
          <a:stretch>
            <a:fillRect/>
          </a:stretch>
        </p:blipFill>
        <p:spPr>
          <a:xfrm>
            <a:off x="502920" y="4398264"/>
            <a:ext cx="201168" cy="201168"/>
          </a:xfrm>
          <a:prstGeom prst="rect">
            <a:avLst/>
          </a:prstGeom>
        </p:spPr>
      </p:pic>
      <p:sp>
        <p:nvSpPr>
          <p:cNvPr id="14" name="Text 8"/>
          <p:cNvSpPr/>
          <p:nvPr/>
        </p:nvSpPr>
        <p:spPr>
          <a:xfrm>
            <a:off x="832104" y="4325112"/>
            <a:ext cx="6117336" cy="457200"/>
          </a:xfrm>
          <a:prstGeom prst="rect">
            <a:avLst/>
          </a:prstGeom>
          <a:noFill/>
          <a:ln/>
        </p:spPr>
        <p:txBody>
          <a:bodyPr wrap="square" lIns="0" tIns="0" rIns="0" bIns="0" rtlCol="0" anchor="t"/>
          <a:lstStyle/>
          <a:p>
            <a:pPr marL="0" indent="0">
              <a:lnSpc>
                <a:spcPct val="105000"/>
              </a:lnSpc>
              <a:buNone/>
            </a:pPr>
            <a:r>
              <a:rPr lang="en-US" sz="1200" b="1" dirty="0">
                <a:solidFill>
                  <a:srgbClr val="0B1F3A"/>
                </a:solidFill>
                <a:latin typeface="Calibri" pitchFamily="34" charset="0"/>
                <a:ea typeface="Calibri" pitchFamily="34" charset="-122"/>
                <a:cs typeface="Calibri" pitchFamily="34" charset="-120"/>
              </a:rPr>
              <a:t>Golf Acres shows active liquidity  —  </a:t>
            </a:r>
            <a:r>
              <a:rPr lang="en-US" sz="1200" dirty="0">
                <a:solidFill>
                  <a:srgbClr val="666666"/>
                </a:solidFill>
                <a:latin typeface="Calibri" pitchFamily="34" charset="0"/>
                <a:ea typeface="Calibri" pitchFamily="34" charset="-122"/>
                <a:cs typeface="Calibri" pitchFamily="34" charset="-120"/>
              </a:rPr>
              <a:t>50 recorded DLD sale transactions vs. none located for Greenspoint at project level.</a:t>
            </a:r>
            <a:endParaRPr lang="en-US" sz="1200" dirty="0"/>
          </a:p>
        </p:txBody>
      </p:sp>
      <p:sp>
        <p:nvSpPr>
          <p:cNvPr id="15" name="Shape 9"/>
          <p:cNvSpPr/>
          <p:nvPr/>
        </p:nvSpPr>
        <p:spPr>
          <a:xfrm>
            <a:off x="7360920" y="1389888"/>
            <a:ext cx="4325112" cy="2331720"/>
          </a:xfrm>
          <a:prstGeom prst="rect">
            <a:avLst/>
          </a:prstGeom>
          <a:solidFill>
            <a:srgbClr val="0B1F3A"/>
          </a:solidFill>
          <a:ln/>
          <a:effectLst>
            <a:outerShdw blurRad="88900" dist="25400" dir="5400000" algn="bl" rotWithShape="0">
              <a:srgbClr val="0B1F3A">
                <a:alpha val="10000"/>
              </a:srgbClr>
            </a:outerShdw>
          </a:effectLst>
        </p:spPr>
      </p:sp>
      <p:sp>
        <p:nvSpPr>
          <p:cNvPr id="16" name="Text 10"/>
          <p:cNvSpPr/>
          <p:nvPr/>
        </p:nvSpPr>
        <p:spPr>
          <a:xfrm>
            <a:off x="7635240" y="1572768"/>
            <a:ext cx="3776472" cy="274320"/>
          </a:xfrm>
          <a:prstGeom prst="rect">
            <a:avLst/>
          </a:prstGeom>
          <a:noFill/>
          <a:ln/>
        </p:spPr>
        <p:txBody>
          <a:bodyPr wrap="square" lIns="0" tIns="0" rIns="0" bIns="0" rtlCol="0" anchor="ctr"/>
          <a:lstStyle/>
          <a:p>
            <a:pPr marL="0" indent="0">
              <a:buNone/>
            </a:pPr>
            <a:r>
              <a:rPr lang="en-US" sz="1050" b="1" kern="0" spc="150" dirty="0">
                <a:solidFill>
                  <a:srgbClr val="C9A227"/>
                </a:solidFill>
                <a:latin typeface="Calibri" pitchFamily="34" charset="0"/>
                <a:ea typeface="Calibri" pitchFamily="34" charset="-122"/>
                <a:cs typeface="Calibri" pitchFamily="34" charset="-120"/>
              </a:rPr>
              <a:t>RECOMMENDATION</a:t>
            </a:r>
            <a:endParaRPr lang="en-US" sz="1050" dirty="0"/>
          </a:p>
        </p:txBody>
      </p:sp>
      <p:sp>
        <p:nvSpPr>
          <p:cNvPr id="17" name="Text 11"/>
          <p:cNvSpPr/>
          <p:nvPr/>
        </p:nvSpPr>
        <p:spPr>
          <a:xfrm>
            <a:off x="7635240" y="1828800"/>
            <a:ext cx="3776472" cy="50292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GOLF ACRES</a:t>
            </a:r>
            <a:endParaRPr lang="en-US" sz="3000" dirty="0"/>
          </a:p>
        </p:txBody>
      </p:sp>
      <p:sp>
        <p:nvSpPr>
          <p:cNvPr id="18" name="Shape 12"/>
          <p:cNvSpPr/>
          <p:nvPr/>
        </p:nvSpPr>
        <p:spPr>
          <a:xfrm>
            <a:off x="7635240" y="2432304"/>
            <a:ext cx="3776472" cy="0"/>
          </a:xfrm>
          <a:prstGeom prst="line">
            <a:avLst/>
          </a:prstGeom>
          <a:noFill/>
          <a:ln w="12700">
            <a:solidFill>
              <a:srgbClr val="2A4A78"/>
            </a:solidFill>
            <a:prstDash val="solid"/>
          </a:ln>
        </p:spPr>
      </p:sp>
      <p:sp>
        <p:nvSpPr>
          <p:cNvPr id="19" name="Text 13"/>
          <p:cNvSpPr/>
          <p:nvPr/>
        </p:nvSpPr>
        <p:spPr>
          <a:xfrm>
            <a:off x="7635240" y="2560320"/>
            <a:ext cx="2103120" cy="256032"/>
          </a:xfrm>
          <a:prstGeom prst="rect">
            <a:avLst/>
          </a:prstGeom>
          <a:noFill/>
          <a:ln/>
        </p:spPr>
        <p:txBody>
          <a:bodyPr wrap="square" lIns="0" tIns="0" rIns="0" bIns="0" rtlCol="0" anchor="ctr"/>
          <a:lstStyle/>
          <a:p>
            <a:pPr marL="0" indent="0">
              <a:buNone/>
            </a:pPr>
            <a:r>
              <a:rPr lang="en-US" sz="950" b="1" kern="0" spc="100" dirty="0">
                <a:solidFill>
                  <a:srgbClr val="AEB9CC"/>
                </a:solidFill>
                <a:latin typeface="Calibri" pitchFamily="34" charset="0"/>
                <a:ea typeface="Calibri" pitchFamily="34" charset="-122"/>
                <a:cs typeface="Calibri" pitchFamily="34" charset="-120"/>
              </a:rPr>
              <a:t>INVESTMENT SCORE</a:t>
            </a:r>
            <a:endParaRPr lang="en-US" sz="950" dirty="0"/>
          </a:p>
        </p:txBody>
      </p:sp>
      <p:sp>
        <p:nvSpPr>
          <p:cNvPr id="20" name="Text 14"/>
          <p:cNvSpPr/>
          <p:nvPr/>
        </p:nvSpPr>
        <p:spPr>
          <a:xfrm>
            <a:off x="7635240" y="2779776"/>
            <a:ext cx="2194560" cy="548640"/>
          </a:xfrm>
          <a:prstGeom prst="rect">
            <a:avLst/>
          </a:prstGeom>
          <a:noFill/>
          <a:ln/>
        </p:spPr>
        <p:txBody>
          <a:bodyPr wrap="square" lIns="0" tIns="0" rIns="0" bIns="0" rtlCol="0" anchor="ctr"/>
          <a:lstStyle/>
          <a:p>
            <a:pPr marL="0" indent="0">
              <a:buNone/>
            </a:pPr>
            <a:r>
              <a:rPr lang="en-US" sz="4000" b="1" dirty="0">
                <a:solidFill>
                  <a:srgbClr val="C9A227"/>
                </a:solidFill>
                <a:latin typeface="Cambria" pitchFamily="34" charset="0"/>
                <a:ea typeface="Cambria" pitchFamily="34" charset="-122"/>
                <a:cs typeface="Cambria" pitchFamily="34" charset="-120"/>
              </a:rPr>
              <a:t>95</a:t>
            </a:r>
            <a:r>
              <a:rPr lang="en-US" sz="1600" dirty="0">
                <a:solidFill>
                  <a:srgbClr val="AEB9CC"/>
                </a:solidFill>
                <a:latin typeface="Cambria" pitchFamily="34" charset="0"/>
                <a:ea typeface="Cambria" pitchFamily="34" charset="-122"/>
                <a:cs typeface="Cambria" pitchFamily="34" charset="-120"/>
              </a:rPr>
              <a:t> /100</a:t>
            </a:r>
            <a:endParaRPr lang="en-US" sz="4000" dirty="0"/>
          </a:p>
        </p:txBody>
      </p:sp>
      <p:sp>
        <p:nvSpPr>
          <p:cNvPr id="21" name="Text 15"/>
          <p:cNvSpPr/>
          <p:nvPr/>
        </p:nvSpPr>
        <p:spPr>
          <a:xfrm>
            <a:off x="9738360" y="2560320"/>
            <a:ext cx="1737360" cy="256032"/>
          </a:xfrm>
          <a:prstGeom prst="rect">
            <a:avLst/>
          </a:prstGeom>
          <a:noFill/>
          <a:ln/>
        </p:spPr>
        <p:txBody>
          <a:bodyPr wrap="square" lIns="0" tIns="0" rIns="0" bIns="0" rtlCol="0" anchor="ctr"/>
          <a:lstStyle/>
          <a:p>
            <a:pPr marL="0" indent="0">
              <a:buNone/>
            </a:pPr>
            <a:r>
              <a:rPr lang="en-US" sz="950" b="1" kern="0" spc="100" dirty="0">
                <a:solidFill>
                  <a:srgbClr val="AEB9CC"/>
                </a:solidFill>
                <a:latin typeface="Calibri" pitchFamily="34" charset="0"/>
                <a:ea typeface="Calibri" pitchFamily="34" charset="-122"/>
                <a:cs typeface="Calibri" pitchFamily="34" charset="-120"/>
              </a:rPr>
              <a:t>vs. Greenspoint</a:t>
            </a:r>
            <a:endParaRPr lang="en-US" sz="950" dirty="0"/>
          </a:p>
        </p:txBody>
      </p:sp>
      <p:sp>
        <p:nvSpPr>
          <p:cNvPr id="22" name="Text 16"/>
          <p:cNvSpPr/>
          <p:nvPr/>
        </p:nvSpPr>
        <p:spPr>
          <a:xfrm>
            <a:off x="9738360" y="2779776"/>
            <a:ext cx="1828800" cy="548640"/>
          </a:xfrm>
          <a:prstGeom prst="rect">
            <a:avLst/>
          </a:prstGeom>
          <a:noFill/>
          <a:ln/>
        </p:spPr>
        <p:txBody>
          <a:bodyPr wrap="square" lIns="0" tIns="0" rIns="0" bIns="0" rtlCol="0" anchor="ctr"/>
          <a:lstStyle/>
          <a:p>
            <a:pPr marL="0" indent="0">
              <a:buNone/>
            </a:pPr>
            <a:r>
              <a:rPr lang="en-US" sz="4000" b="1" dirty="0">
                <a:solidFill>
                  <a:srgbClr val="5A6B8C"/>
                </a:solidFill>
                <a:latin typeface="Cambria" pitchFamily="34" charset="0"/>
                <a:ea typeface="Cambria" pitchFamily="34" charset="-122"/>
                <a:cs typeface="Cambria" pitchFamily="34" charset="-120"/>
              </a:rPr>
              <a:t>58</a:t>
            </a:r>
            <a:r>
              <a:rPr lang="en-US" sz="1600" dirty="0">
                <a:solidFill>
                  <a:srgbClr val="AEB9CC"/>
                </a:solidFill>
                <a:latin typeface="Cambria" pitchFamily="34" charset="0"/>
                <a:ea typeface="Cambria" pitchFamily="34" charset="-122"/>
                <a:cs typeface="Cambria" pitchFamily="34" charset="-120"/>
              </a:rPr>
              <a:t> /100</a:t>
            </a:r>
            <a:endParaRPr lang="en-US" sz="4000" dirty="0"/>
          </a:p>
        </p:txBody>
      </p:sp>
      <p:sp>
        <p:nvSpPr>
          <p:cNvPr id="23" name="Text 17"/>
          <p:cNvSpPr/>
          <p:nvPr/>
        </p:nvSpPr>
        <p:spPr>
          <a:xfrm>
            <a:off x="7635240" y="3364992"/>
            <a:ext cx="3776472" cy="310896"/>
          </a:xfrm>
          <a:prstGeom prst="rect">
            <a:avLst/>
          </a:prstGeom>
          <a:noFill/>
          <a:ln/>
        </p:spPr>
        <p:txBody>
          <a:bodyPr wrap="square" lIns="0" tIns="0" rIns="0" bIns="0" rtlCol="0" anchor="ctr"/>
          <a:lstStyle/>
          <a:p>
            <a:pPr marL="0" indent="0">
              <a:buNone/>
            </a:pPr>
            <a:r>
              <a:rPr lang="en-US" sz="950" i="1" dirty="0">
                <a:solidFill>
                  <a:srgbClr val="8A95AC"/>
                </a:solidFill>
                <a:latin typeface="Calibri" pitchFamily="34" charset="0"/>
                <a:ea typeface="Calibri" pitchFamily="34" charset="-122"/>
                <a:cs typeface="Calibri" pitchFamily="34" charset="-120"/>
              </a:rPr>
              <a:t>Client-specific weighted score, driven 30% by budget fit. See Section 15 for full methodology.</a:t>
            </a:r>
            <a:endParaRPr lang="en-US" sz="950" dirty="0"/>
          </a:p>
        </p:txBody>
      </p:sp>
      <p:sp>
        <p:nvSpPr>
          <p:cNvPr id="24" name="Shape 18"/>
          <p:cNvSpPr/>
          <p:nvPr/>
        </p:nvSpPr>
        <p:spPr>
          <a:xfrm>
            <a:off x="7360920" y="3858768"/>
            <a:ext cx="4325112" cy="1234440"/>
          </a:xfrm>
          <a:prstGeom prst="rect">
            <a:avLst/>
          </a:prstGeom>
          <a:solidFill>
            <a:srgbClr val="FBF5E6"/>
          </a:solidFill>
          <a:ln/>
        </p:spPr>
      </p:sp>
      <p:sp>
        <p:nvSpPr>
          <p:cNvPr id="25" name="Text 19"/>
          <p:cNvSpPr/>
          <p:nvPr/>
        </p:nvSpPr>
        <p:spPr>
          <a:xfrm>
            <a:off x="7616952" y="3968496"/>
            <a:ext cx="3813048" cy="1005840"/>
          </a:xfrm>
          <a:prstGeom prst="rect">
            <a:avLst/>
          </a:prstGeom>
          <a:noFill/>
          <a:ln/>
        </p:spPr>
        <p:txBody>
          <a:bodyPr wrap="square" lIns="0" tIns="0" rIns="0" bIns="0" rtlCol="0" anchor="ctr"/>
          <a:lstStyle/>
          <a:p>
            <a:pPr marL="0" indent="0">
              <a:lnSpc>
                <a:spcPct val="115000"/>
              </a:lnSpc>
              <a:buNone/>
            </a:pPr>
            <a:r>
              <a:rPr lang="en-US" sz="1200" b="1" dirty="0">
                <a:solidFill>
                  <a:srgbClr val="0B1F3A"/>
                </a:solidFill>
                <a:latin typeface="Calibri" pitchFamily="34" charset="0"/>
                <a:ea typeface="Calibri" pitchFamily="34" charset="-122"/>
                <a:cs typeface="Calibri" pitchFamily="34" charset="-120"/>
              </a:rPr>
              <a:t>Golf Acres is the only project that fits the client's stated AED 2,000,000 budget — no Greenspoint unit type qualifies at launch pricing.</a:t>
            </a:r>
            <a:endParaRPr lang="en-US" sz="1200" dirty="0"/>
          </a:p>
        </p:txBody>
      </p:sp>
      <p:sp>
        <p:nvSpPr>
          <p:cNvPr id="26" name="Shape 20"/>
          <p:cNvSpPr/>
          <p:nvPr/>
        </p:nvSpPr>
        <p:spPr>
          <a:xfrm>
            <a:off x="502920" y="5806440"/>
            <a:ext cx="11185855" cy="566928"/>
          </a:xfrm>
          <a:prstGeom prst="rect">
            <a:avLst/>
          </a:prstGeom>
          <a:solidFill>
            <a:srgbClr val="EEF1F6"/>
          </a:solidFill>
          <a:ln/>
        </p:spPr>
      </p:sp>
      <p:pic>
        <p:nvPicPr>
          <p:cNvPr id="27" name="Image 4" descr="icons/star_gold.png"/>
          <p:cNvPicPr>
            <a:picLocks noChangeAspect="1"/>
          </p:cNvPicPr>
          <p:nvPr/>
        </p:nvPicPr>
        <p:blipFill>
          <a:blip r:embed="rId5"/>
          <a:stretch>
            <a:fillRect/>
          </a:stretch>
        </p:blipFill>
        <p:spPr>
          <a:xfrm>
            <a:off x="667512" y="5952744"/>
            <a:ext cx="274320" cy="274320"/>
          </a:xfrm>
          <a:prstGeom prst="rect">
            <a:avLst/>
          </a:prstGeom>
        </p:spPr>
      </p:pic>
      <p:sp>
        <p:nvSpPr>
          <p:cNvPr id="28" name="Text 21"/>
          <p:cNvSpPr/>
          <p:nvPr/>
        </p:nvSpPr>
        <p:spPr>
          <a:xfrm>
            <a:off x="1069848" y="5806440"/>
            <a:ext cx="10454335" cy="566928"/>
          </a:xfrm>
          <a:prstGeom prst="rect">
            <a:avLst/>
          </a:prstGeom>
          <a:noFill/>
          <a:ln/>
        </p:spPr>
        <p:txBody>
          <a:bodyPr wrap="square" lIns="0" tIns="0" rIns="0" bIns="0" rtlCol="0" anchor="ctr"/>
          <a:lstStyle/>
          <a:p>
            <a:pPr marL="0" indent="0" algn="l">
              <a:lnSpc>
                <a:spcPct val="105000"/>
              </a:lnSpc>
              <a:buNone/>
            </a:pPr>
            <a:r>
              <a:rPr lang="en-US" sz="1050" b="1" kern="0" spc="100" dirty="0">
                <a:solidFill>
                  <a:srgbClr val="0B1F3A"/>
                </a:solidFill>
                <a:latin typeface="Calibri" pitchFamily="34" charset="0"/>
                <a:ea typeface="Calibri" pitchFamily="34" charset="-122"/>
                <a:cs typeface="Calibri" pitchFamily="34" charset="-120"/>
              </a:rPr>
              <a:t>EXECUTIVE INSIGHT   </a:t>
            </a:r>
            <a:r>
              <a:rPr lang="en-US" sz="1150" dirty="0">
                <a:solidFill>
                  <a:srgbClr val="0B1F3A"/>
                </a:solidFill>
                <a:latin typeface="Calibri" pitchFamily="34" charset="0"/>
                <a:ea typeface="Calibri" pitchFamily="34" charset="-122"/>
                <a:cs typeface="Calibri" pitchFamily="34" charset="-120"/>
              </a:rPr>
              <a:t>Budget fit is the single decisive variable — every other factor (developer, regulation, catalyst exposure) is materially equal between the two projects.</a:t>
            </a:r>
            <a:endParaRPr lang="en-US" sz="1050" dirty="0"/>
          </a:p>
        </p:txBody>
      </p:sp>
      <p:sp>
        <p:nvSpPr>
          <p:cNvPr id="29" name="Text 22"/>
          <p:cNvSpPr/>
          <p:nvPr/>
        </p:nvSpPr>
        <p:spPr>
          <a:xfrm>
            <a:off x="502920" y="6510528"/>
            <a:ext cx="3657600" cy="256032"/>
          </a:xfrm>
          <a:prstGeom prst="rect">
            <a:avLst/>
          </a:prstGeom>
          <a:noFill/>
          <a:ln/>
        </p:spPr>
        <p:txBody>
          <a:bodyPr wrap="square" lIns="0" tIns="0" rIns="0" bIns="0" rtlCol="0" anchor="ctr"/>
          <a:lstStyle/>
          <a:p>
            <a:pPr marL="0" indent="0" algn="l">
              <a:buNone/>
            </a:pPr>
            <a:r>
              <a:rPr lang="en-US" sz="800" kern="0" spc="100" dirty="0">
                <a:solidFill>
                  <a:srgbClr val="9AA1AC"/>
                </a:solidFill>
                <a:latin typeface="Calibri" pitchFamily="34" charset="0"/>
                <a:ea typeface="Calibri" pitchFamily="34" charset="-122"/>
                <a:cs typeface="Calibri" pitchFamily="34" charset="-120"/>
              </a:rPr>
              <a:t>LUXURY REAL ESTATE INVESTMENT ADVISORY</a:t>
            </a:r>
            <a:endParaRPr lang="en-US" sz="800" dirty="0"/>
          </a:p>
        </p:txBody>
      </p:sp>
      <p:sp>
        <p:nvSpPr>
          <p:cNvPr id="30" name="Text 23"/>
          <p:cNvSpPr/>
          <p:nvPr/>
        </p:nvSpPr>
        <p:spPr>
          <a:xfrm>
            <a:off x="3809848" y="6510528"/>
            <a:ext cx="4572000" cy="256032"/>
          </a:xfrm>
          <a:prstGeom prst="rect">
            <a:avLst/>
          </a:prstGeom>
          <a:noFill/>
          <a:ln/>
        </p:spPr>
        <p:txBody>
          <a:bodyPr wrap="square" lIns="0" tIns="0" rIns="0" bIns="0" rtlCol="0" anchor="ctr"/>
          <a:lstStyle/>
          <a:p>
            <a:pPr marL="0" indent="0" algn="ctr">
              <a:buNone/>
            </a:pPr>
            <a:r>
              <a:rPr lang="en-US" sz="800" dirty="0">
                <a:solidFill>
                  <a:srgbClr val="9AA1AC"/>
                </a:solidFill>
                <a:latin typeface="Calibri" pitchFamily="34" charset="0"/>
                <a:ea typeface="Calibri" pitchFamily="34" charset="-122"/>
                <a:cs typeface="Calibri" pitchFamily="34" charset="-120"/>
              </a:rPr>
              <a:t>Executive Summary</a:t>
            </a:r>
            <a:endParaRPr lang="en-US" sz="800" dirty="0"/>
          </a:p>
        </p:txBody>
      </p:sp>
      <p:sp>
        <p:nvSpPr>
          <p:cNvPr id="31" name="Text 24"/>
          <p:cNvSpPr/>
          <p:nvPr/>
        </p:nvSpPr>
        <p:spPr>
          <a:xfrm>
            <a:off x="8031175" y="6510528"/>
            <a:ext cx="3657600" cy="256032"/>
          </a:xfrm>
          <a:prstGeom prst="rect">
            <a:avLst/>
          </a:prstGeom>
          <a:noFill/>
          <a:ln/>
        </p:spPr>
        <p:txBody>
          <a:bodyPr wrap="square" lIns="0" tIns="0" rIns="0" bIns="0" rtlCol="0" anchor="ctr"/>
          <a:lstStyle/>
          <a:p>
            <a:pPr marL="0" indent="0" algn="r">
              <a:buNone/>
            </a:pPr>
            <a:r>
              <a:rPr lang="en-US" sz="800" dirty="0">
                <a:solidFill>
                  <a:srgbClr val="9AA1AC"/>
                </a:solidFill>
                <a:latin typeface="Calibri" pitchFamily="34" charset="0"/>
                <a:ea typeface="Calibri" pitchFamily="34" charset="-122"/>
                <a:cs typeface="Calibri" pitchFamily="34" charset="-120"/>
              </a:rPr>
              <a:t>02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lgn="l">
              <a:buNone/>
            </a:pPr>
            <a:r>
              <a:rPr lang="en-US" sz="1150" b="1" kern="0" spc="200" dirty="0">
                <a:solidFill>
                  <a:srgbClr val="C9A227"/>
                </a:solidFill>
                <a:latin typeface="Calibri" pitchFamily="34" charset="0"/>
                <a:ea typeface="Calibri" pitchFamily="34" charset="-122"/>
                <a:cs typeface="Calibri" pitchFamily="34" charset="-120"/>
              </a:rPr>
              <a:t>SECTION 02 · MANDATE</a:t>
            </a:r>
            <a:endParaRPr lang="en-US" sz="1150" dirty="0"/>
          </a:p>
        </p:txBody>
      </p:sp>
      <p:sp>
        <p:nvSpPr>
          <p:cNvPr id="3" name="Text 1"/>
          <p:cNvSpPr/>
          <p:nvPr/>
        </p:nvSpPr>
        <p:spPr>
          <a:xfrm>
            <a:off x="502920" y="658368"/>
            <a:ext cx="10607040" cy="566928"/>
          </a:xfrm>
          <a:prstGeom prst="rect">
            <a:avLst/>
          </a:prstGeom>
          <a:noFill/>
          <a:ln/>
        </p:spPr>
        <p:txBody>
          <a:bodyPr wrap="square" lIns="0" tIns="0" rIns="0" bIns="0" rtlCol="0" anchor="ctr"/>
          <a:lstStyle/>
          <a:p>
            <a:pPr marL="0" indent="0" algn="l">
              <a:buNone/>
            </a:pPr>
            <a:r>
              <a:rPr lang="en-US" sz="2600" b="1" dirty="0">
                <a:solidFill>
                  <a:srgbClr val="0B1F3A"/>
                </a:solidFill>
                <a:latin typeface="Cambria" pitchFamily="34" charset="0"/>
                <a:ea typeface="Cambria" pitchFamily="34" charset="-122"/>
                <a:cs typeface="Cambria" pitchFamily="34" charset="-120"/>
              </a:rPr>
              <a:t>Client Requirements &amp; Decision Framework</a:t>
            </a:r>
            <a:endParaRPr lang="en-US" sz="2600" dirty="0"/>
          </a:p>
        </p:txBody>
      </p:sp>
      <p:sp>
        <p:nvSpPr>
          <p:cNvPr id="4" name="Shape 2"/>
          <p:cNvSpPr/>
          <p:nvPr/>
        </p:nvSpPr>
        <p:spPr>
          <a:xfrm>
            <a:off x="502920" y="1481328"/>
            <a:ext cx="3533546" cy="4160520"/>
          </a:xfrm>
          <a:prstGeom prst="rect">
            <a:avLst/>
          </a:prstGeom>
          <a:solidFill>
            <a:srgbClr val="FFFFFF"/>
          </a:solidFill>
          <a:ln w="12700">
            <a:solidFill>
              <a:srgbClr val="E2E5EA"/>
            </a:solidFill>
            <a:prstDash val="solid"/>
          </a:ln>
          <a:effectLst>
            <a:outerShdw blurRad="88900" dist="25400" dir="5400000" algn="bl" rotWithShape="0">
              <a:srgbClr val="0B1F3A">
                <a:alpha val="10000"/>
              </a:srgbClr>
            </a:outerShdw>
          </a:effectLst>
        </p:spPr>
      </p:sp>
      <p:pic>
        <p:nvPicPr>
          <p:cNvPr id="5" name="Image 0" descr="icons/usertie_navy.png"/>
          <p:cNvPicPr>
            <a:picLocks noChangeAspect="1"/>
          </p:cNvPicPr>
          <p:nvPr/>
        </p:nvPicPr>
        <p:blipFill>
          <a:blip r:embed="rId3"/>
          <a:stretch>
            <a:fillRect/>
          </a:stretch>
        </p:blipFill>
        <p:spPr>
          <a:xfrm>
            <a:off x="758952" y="1737360"/>
            <a:ext cx="365760" cy="365760"/>
          </a:xfrm>
          <a:prstGeom prst="rect">
            <a:avLst/>
          </a:prstGeom>
        </p:spPr>
      </p:pic>
      <p:sp>
        <p:nvSpPr>
          <p:cNvPr id="6" name="Text 3"/>
          <p:cNvSpPr/>
          <p:nvPr/>
        </p:nvSpPr>
        <p:spPr>
          <a:xfrm>
            <a:off x="758952" y="2212848"/>
            <a:ext cx="3021482" cy="274320"/>
          </a:xfrm>
          <a:prstGeom prst="rect">
            <a:avLst/>
          </a:prstGeom>
          <a:noFill/>
          <a:ln/>
        </p:spPr>
        <p:txBody>
          <a:bodyPr wrap="square" lIns="0" tIns="0" rIns="0" bIns="0" rtlCol="0" anchor="ctr"/>
          <a:lstStyle/>
          <a:p>
            <a:pPr marL="0" indent="0">
              <a:buNone/>
            </a:pPr>
            <a:r>
              <a:rPr lang="en-US" sz="1200" b="1" kern="0" spc="100" dirty="0">
                <a:solidFill>
                  <a:srgbClr val="0B1F3A"/>
                </a:solidFill>
                <a:latin typeface="Calibri" pitchFamily="34" charset="0"/>
                <a:ea typeface="Calibri" pitchFamily="34" charset="-122"/>
                <a:cs typeface="Calibri" pitchFamily="34" charset="-120"/>
              </a:rPr>
              <a:t>CLIENT PROFILE</a:t>
            </a:r>
            <a:endParaRPr lang="en-US" sz="1200" dirty="0"/>
          </a:p>
        </p:txBody>
      </p:sp>
      <p:sp>
        <p:nvSpPr>
          <p:cNvPr id="7" name="Shape 4"/>
          <p:cNvSpPr/>
          <p:nvPr/>
        </p:nvSpPr>
        <p:spPr>
          <a:xfrm>
            <a:off x="758952" y="2542032"/>
            <a:ext cx="3021482" cy="0"/>
          </a:xfrm>
          <a:prstGeom prst="line">
            <a:avLst/>
          </a:prstGeom>
          <a:noFill/>
          <a:ln w="12700">
            <a:solidFill>
              <a:srgbClr val="E2E5EA"/>
            </a:solidFill>
            <a:prstDash val="solid"/>
          </a:ln>
        </p:spPr>
      </p:sp>
      <p:sp>
        <p:nvSpPr>
          <p:cNvPr id="8" name="Text 5"/>
          <p:cNvSpPr/>
          <p:nvPr/>
        </p:nvSpPr>
        <p:spPr>
          <a:xfrm>
            <a:off x="758952" y="2706624"/>
            <a:ext cx="3021482" cy="219456"/>
          </a:xfrm>
          <a:prstGeom prst="rect">
            <a:avLst/>
          </a:prstGeom>
          <a:noFill/>
          <a:ln/>
        </p:spPr>
        <p:txBody>
          <a:bodyPr wrap="square" lIns="0" tIns="0" rIns="0" bIns="0" rtlCol="0" anchor="ctr"/>
          <a:lstStyle/>
          <a:p>
            <a:pPr marL="0" indent="0">
              <a:buNone/>
            </a:pPr>
            <a:r>
              <a:rPr lang="en-US" sz="850" b="1" kern="0" spc="50" dirty="0">
                <a:solidFill>
                  <a:srgbClr val="C9A227"/>
                </a:solidFill>
                <a:latin typeface="Calibri" pitchFamily="34" charset="0"/>
                <a:ea typeface="Calibri" pitchFamily="34" charset="-122"/>
                <a:cs typeface="Calibri" pitchFamily="34" charset="-120"/>
              </a:rPr>
              <a:t>BUDGET</a:t>
            </a:r>
            <a:endParaRPr lang="en-US" sz="850" dirty="0"/>
          </a:p>
        </p:txBody>
      </p:sp>
      <p:sp>
        <p:nvSpPr>
          <p:cNvPr id="9" name="Text 6"/>
          <p:cNvSpPr/>
          <p:nvPr/>
        </p:nvSpPr>
        <p:spPr>
          <a:xfrm>
            <a:off x="758952" y="2926080"/>
            <a:ext cx="3021482" cy="292608"/>
          </a:xfrm>
          <a:prstGeom prst="rect">
            <a:avLst/>
          </a:prstGeom>
          <a:noFill/>
          <a:ln/>
        </p:spPr>
        <p:txBody>
          <a:bodyPr wrap="square" lIns="0" tIns="0" rIns="0" bIns="0" rtlCol="0" anchor="ctr"/>
          <a:lstStyle/>
          <a:p>
            <a:pPr marL="0" indent="0">
              <a:buNone/>
            </a:pPr>
            <a:r>
              <a:rPr lang="en-US" sz="1200" dirty="0">
                <a:solidFill>
                  <a:srgbClr val="0B1F3A"/>
                </a:solidFill>
                <a:latin typeface="Calibri" pitchFamily="34" charset="0"/>
                <a:ea typeface="Calibri" pitchFamily="34" charset="-122"/>
                <a:cs typeface="Calibri" pitchFamily="34" charset="-120"/>
              </a:rPr>
              <a:t>AED 2,000,000 (firm)</a:t>
            </a:r>
            <a:endParaRPr lang="en-US" sz="1200" dirty="0"/>
          </a:p>
        </p:txBody>
      </p:sp>
      <p:sp>
        <p:nvSpPr>
          <p:cNvPr id="10" name="Text 7"/>
          <p:cNvSpPr/>
          <p:nvPr/>
        </p:nvSpPr>
        <p:spPr>
          <a:xfrm>
            <a:off x="758952" y="3273552"/>
            <a:ext cx="3021482" cy="219456"/>
          </a:xfrm>
          <a:prstGeom prst="rect">
            <a:avLst/>
          </a:prstGeom>
          <a:noFill/>
          <a:ln/>
        </p:spPr>
        <p:txBody>
          <a:bodyPr wrap="square" lIns="0" tIns="0" rIns="0" bIns="0" rtlCol="0" anchor="ctr"/>
          <a:lstStyle/>
          <a:p>
            <a:pPr marL="0" indent="0">
              <a:buNone/>
            </a:pPr>
            <a:r>
              <a:rPr lang="en-US" sz="850" b="1" kern="0" spc="50" dirty="0">
                <a:solidFill>
                  <a:srgbClr val="C9A227"/>
                </a:solidFill>
                <a:latin typeface="Calibri" pitchFamily="34" charset="0"/>
                <a:ea typeface="Calibri" pitchFamily="34" charset="-122"/>
                <a:cs typeface="Calibri" pitchFamily="34" charset="-120"/>
              </a:rPr>
              <a:t>PURPOSE</a:t>
            </a:r>
            <a:endParaRPr lang="en-US" sz="850" dirty="0"/>
          </a:p>
        </p:txBody>
      </p:sp>
      <p:sp>
        <p:nvSpPr>
          <p:cNvPr id="11" name="Text 8"/>
          <p:cNvSpPr/>
          <p:nvPr/>
        </p:nvSpPr>
        <p:spPr>
          <a:xfrm>
            <a:off x="758952" y="3493008"/>
            <a:ext cx="3021482" cy="292608"/>
          </a:xfrm>
          <a:prstGeom prst="rect">
            <a:avLst/>
          </a:prstGeom>
          <a:noFill/>
          <a:ln/>
        </p:spPr>
        <p:txBody>
          <a:bodyPr wrap="square" lIns="0" tIns="0" rIns="0" bIns="0" rtlCol="0" anchor="ctr"/>
          <a:lstStyle/>
          <a:p>
            <a:pPr marL="0" indent="0">
              <a:buNone/>
            </a:pPr>
            <a:r>
              <a:rPr lang="en-US" sz="1200" dirty="0">
                <a:solidFill>
                  <a:srgbClr val="0B1F3A"/>
                </a:solidFill>
                <a:latin typeface="Calibri" pitchFamily="34" charset="0"/>
                <a:ea typeface="Calibri" pitchFamily="34" charset="-122"/>
                <a:cs typeface="Calibri" pitchFamily="34" charset="-120"/>
              </a:rPr>
              <a:t>Residential End-User</a:t>
            </a:r>
            <a:endParaRPr lang="en-US" sz="1200" dirty="0"/>
          </a:p>
        </p:txBody>
      </p:sp>
      <p:sp>
        <p:nvSpPr>
          <p:cNvPr id="12" name="Text 9"/>
          <p:cNvSpPr/>
          <p:nvPr/>
        </p:nvSpPr>
        <p:spPr>
          <a:xfrm>
            <a:off x="758952" y="3840480"/>
            <a:ext cx="3021482" cy="219456"/>
          </a:xfrm>
          <a:prstGeom prst="rect">
            <a:avLst/>
          </a:prstGeom>
          <a:noFill/>
          <a:ln/>
        </p:spPr>
        <p:txBody>
          <a:bodyPr wrap="square" lIns="0" tIns="0" rIns="0" bIns="0" rtlCol="0" anchor="ctr"/>
          <a:lstStyle/>
          <a:p>
            <a:pPr marL="0" indent="0">
              <a:buNone/>
            </a:pPr>
            <a:r>
              <a:rPr lang="en-US" sz="850" b="1" kern="0" spc="50" dirty="0">
                <a:solidFill>
                  <a:srgbClr val="C9A227"/>
                </a:solidFill>
                <a:latin typeface="Calibri" pitchFamily="34" charset="0"/>
                <a:ea typeface="Calibri" pitchFamily="34" charset="-122"/>
                <a:cs typeface="Calibri" pitchFamily="34" charset="-120"/>
              </a:rPr>
              <a:t>LOCATION MANDATE</a:t>
            </a:r>
            <a:endParaRPr lang="en-US" sz="850" dirty="0"/>
          </a:p>
        </p:txBody>
      </p:sp>
      <p:sp>
        <p:nvSpPr>
          <p:cNvPr id="13" name="Text 10"/>
          <p:cNvSpPr/>
          <p:nvPr/>
        </p:nvSpPr>
        <p:spPr>
          <a:xfrm>
            <a:off x="758952" y="4059936"/>
            <a:ext cx="3021482" cy="292608"/>
          </a:xfrm>
          <a:prstGeom prst="rect">
            <a:avLst/>
          </a:prstGeom>
          <a:noFill/>
          <a:ln/>
        </p:spPr>
        <p:txBody>
          <a:bodyPr wrap="square" lIns="0" tIns="0" rIns="0" bIns="0" rtlCol="0" anchor="ctr"/>
          <a:lstStyle/>
          <a:p>
            <a:pPr marL="0" indent="0">
              <a:buNone/>
            </a:pPr>
            <a:r>
              <a:rPr lang="en-US" sz="1200" dirty="0">
                <a:solidFill>
                  <a:srgbClr val="0B1F3A"/>
                </a:solidFill>
                <a:latin typeface="Calibri" pitchFamily="34" charset="0"/>
                <a:ea typeface="Calibri" pitchFamily="34" charset="-122"/>
                <a:cs typeface="Calibri" pitchFamily="34" charset="-120"/>
              </a:rPr>
              <a:t>Emaar South, Dubai South</a:t>
            </a:r>
            <a:endParaRPr lang="en-US" sz="1200" dirty="0"/>
          </a:p>
        </p:txBody>
      </p:sp>
      <p:sp>
        <p:nvSpPr>
          <p:cNvPr id="14" name="Text 11"/>
          <p:cNvSpPr/>
          <p:nvPr/>
        </p:nvSpPr>
        <p:spPr>
          <a:xfrm>
            <a:off x="758952" y="4407408"/>
            <a:ext cx="3021482" cy="219456"/>
          </a:xfrm>
          <a:prstGeom prst="rect">
            <a:avLst/>
          </a:prstGeom>
          <a:noFill/>
          <a:ln/>
        </p:spPr>
        <p:txBody>
          <a:bodyPr wrap="square" lIns="0" tIns="0" rIns="0" bIns="0" rtlCol="0" anchor="ctr"/>
          <a:lstStyle/>
          <a:p>
            <a:pPr marL="0" indent="0">
              <a:buNone/>
            </a:pPr>
            <a:r>
              <a:rPr lang="en-US" sz="850" b="1" kern="0" spc="50" dirty="0">
                <a:solidFill>
                  <a:srgbClr val="C9A227"/>
                </a:solidFill>
                <a:latin typeface="Calibri" pitchFamily="34" charset="0"/>
                <a:ea typeface="Calibri" pitchFamily="34" charset="-122"/>
                <a:cs typeface="Calibri" pitchFamily="34" charset="-120"/>
              </a:rPr>
              <a:t>PROJECTS IN SCOPE</a:t>
            </a:r>
            <a:endParaRPr lang="en-US" sz="850" dirty="0"/>
          </a:p>
        </p:txBody>
      </p:sp>
      <p:sp>
        <p:nvSpPr>
          <p:cNvPr id="15" name="Text 12"/>
          <p:cNvSpPr/>
          <p:nvPr/>
        </p:nvSpPr>
        <p:spPr>
          <a:xfrm>
            <a:off x="758952" y="4626864"/>
            <a:ext cx="3021482" cy="292608"/>
          </a:xfrm>
          <a:prstGeom prst="rect">
            <a:avLst/>
          </a:prstGeom>
          <a:noFill/>
          <a:ln/>
        </p:spPr>
        <p:txBody>
          <a:bodyPr wrap="square" lIns="0" tIns="0" rIns="0" bIns="0" rtlCol="0" anchor="ctr"/>
          <a:lstStyle/>
          <a:p>
            <a:pPr marL="0" indent="0">
              <a:buNone/>
            </a:pPr>
            <a:r>
              <a:rPr lang="en-US" sz="1200" dirty="0">
                <a:solidFill>
                  <a:srgbClr val="0B1F3A"/>
                </a:solidFill>
                <a:latin typeface="Calibri" pitchFamily="34" charset="0"/>
                <a:ea typeface="Calibri" pitchFamily="34" charset="-122"/>
                <a:cs typeface="Calibri" pitchFamily="34" charset="-120"/>
              </a:rPr>
              <a:t>Golf Acres, Greenspoint</a:t>
            </a:r>
            <a:endParaRPr lang="en-US" sz="1200" dirty="0"/>
          </a:p>
        </p:txBody>
      </p:sp>
      <p:sp>
        <p:nvSpPr>
          <p:cNvPr id="16" name="Text 13"/>
          <p:cNvSpPr/>
          <p:nvPr/>
        </p:nvSpPr>
        <p:spPr>
          <a:xfrm>
            <a:off x="758952" y="4974336"/>
            <a:ext cx="3021482" cy="219456"/>
          </a:xfrm>
          <a:prstGeom prst="rect">
            <a:avLst/>
          </a:prstGeom>
          <a:noFill/>
          <a:ln/>
        </p:spPr>
        <p:txBody>
          <a:bodyPr wrap="square" lIns="0" tIns="0" rIns="0" bIns="0" rtlCol="0" anchor="ctr"/>
          <a:lstStyle/>
          <a:p>
            <a:pPr marL="0" indent="0">
              <a:buNone/>
            </a:pPr>
            <a:r>
              <a:rPr lang="en-US" sz="850" b="1" kern="0" spc="50" dirty="0">
                <a:solidFill>
                  <a:srgbClr val="C9A227"/>
                </a:solidFill>
                <a:latin typeface="Calibri" pitchFamily="34" charset="0"/>
                <a:ea typeface="Calibri" pitchFamily="34" charset="-122"/>
                <a:cs typeface="Calibri" pitchFamily="34" charset="-120"/>
              </a:rPr>
              <a:t>FINANCING</a:t>
            </a:r>
            <a:endParaRPr lang="en-US" sz="850" dirty="0"/>
          </a:p>
        </p:txBody>
      </p:sp>
      <p:sp>
        <p:nvSpPr>
          <p:cNvPr id="17" name="Text 14"/>
          <p:cNvSpPr/>
          <p:nvPr/>
        </p:nvSpPr>
        <p:spPr>
          <a:xfrm>
            <a:off x="758952" y="5193792"/>
            <a:ext cx="3021482" cy="292608"/>
          </a:xfrm>
          <a:prstGeom prst="rect">
            <a:avLst/>
          </a:prstGeom>
          <a:noFill/>
          <a:ln/>
        </p:spPr>
        <p:txBody>
          <a:bodyPr wrap="square" lIns="0" tIns="0" rIns="0" bIns="0" rtlCol="0" anchor="ctr"/>
          <a:lstStyle/>
          <a:p>
            <a:pPr marL="0" indent="0">
              <a:buNone/>
            </a:pPr>
            <a:r>
              <a:rPr lang="en-US" sz="1200" dirty="0">
                <a:solidFill>
                  <a:srgbClr val="0B1F3A"/>
                </a:solidFill>
                <a:latin typeface="Calibri" pitchFamily="34" charset="0"/>
                <a:ea typeface="Calibri" pitchFamily="34" charset="-122"/>
                <a:cs typeface="Calibri" pitchFamily="34" charset="-120"/>
              </a:rPr>
              <a:t>Assumed cash buyer unless stated</a:t>
            </a:r>
            <a:endParaRPr lang="en-US" sz="1200" dirty="0"/>
          </a:p>
        </p:txBody>
      </p:sp>
      <p:sp>
        <p:nvSpPr>
          <p:cNvPr id="18" name="Shape 15"/>
          <p:cNvSpPr/>
          <p:nvPr/>
        </p:nvSpPr>
        <p:spPr>
          <a:xfrm>
            <a:off x="4329074" y="1481328"/>
            <a:ext cx="3533546" cy="4160520"/>
          </a:xfrm>
          <a:prstGeom prst="rect">
            <a:avLst/>
          </a:prstGeom>
          <a:solidFill>
            <a:srgbClr val="FFFFFF"/>
          </a:solidFill>
          <a:ln w="12700">
            <a:solidFill>
              <a:srgbClr val="E2E5EA"/>
            </a:solidFill>
            <a:prstDash val="solid"/>
          </a:ln>
          <a:effectLst>
            <a:outerShdw blurRad="88900" dist="25400" dir="5400000" algn="bl" rotWithShape="0">
              <a:srgbClr val="0B1F3A">
                <a:alpha val="10000"/>
              </a:srgbClr>
            </a:outerShdw>
          </a:effectLst>
        </p:spPr>
      </p:sp>
      <p:pic>
        <p:nvPicPr>
          <p:cNvPr id="19" name="Image 1" descr="icons/balance_navy.png"/>
          <p:cNvPicPr>
            <a:picLocks noChangeAspect="1"/>
          </p:cNvPicPr>
          <p:nvPr/>
        </p:nvPicPr>
        <p:blipFill>
          <a:blip r:embed="rId4"/>
          <a:stretch>
            <a:fillRect/>
          </a:stretch>
        </p:blipFill>
        <p:spPr>
          <a:xfrm>
            <a:off x="4585106" y="1737360"/>
            <a:ext cx="365760" cy="365760"/>
          </a:xfrm>
          <a:prstGeom prst="rect">
            <a:avLst/>
          </a:prstGeom>
        </p:spPr>
      </p:pic>
      <p:sp>
        <p:nvSpPr>
          <p:cNvPr id="20" name="Text 16"/>
          <p:cNvSpPr/>
          <p:nvPr/>
        </p:nvSpPr>
        <p:spPr>
          <a:xfrm>
            <a:off x="4585106" y="2212848"/>
            <a:ext cx="3021482" cy="274320"/>
          </a:xfrm>
          <a:prstGeom prst="rect">
            <a:avLst/>
          </a:prstGeom>
          <a:noFill/>
          <a:ln/>
        </p:spPr>
        <p:txBody>
          <a:bodyPr wrap="square" lIns="0" tIns="0" rIns="0" bIns="0" rtlCol="0" anchor="ctr"/>
          <a:lstStyle/>
          <a:p>
            <a:pPr marL="0" indent="0">
              <a:buNone/>
            </a:pPr>
            <a:r>
              <a:rPr lang="en-US" sz="1200" b="1" kern="0" spc="100" dirty="0">
                <a:solidFill>
                  <a:srgbClr val="0B1F3A"/>
                </a:solidFill>
                <a:latin typeface="Calibri" pitchFamily="34" charset="0"/>
                <a:ea typeface="Calibri" pitchFamily="34" charset="-122"/>
                <a:cs typeface="Calibri" pitchFamily="34" charset="-120"/>
              </a:rPr>
              <a:t>DECISION FRAMEWORK</a:t>
            </a:r>
            <a:endParaRPr lang="en-US" sz="1200" dirty="0"/>
          </a:p>
        </p:txBody>
      </p:sp>
      <p:sp>
        <p:nvSpPr>
          <p:cNvPr id="21" name="Shape 17"/>
          <p:cNvSpPr/>
          <p:nvPr/>
        </p:nvSpPr>
        <p:spPr>
          <a:xfrm>
            <a:off x="4585106" y="2542032"/>
            <a:ext cx="3021482" cy="0"/>
          </a:xfrm>
          <a:prstGeom prst="line">
            <a:avLst/>
          </a:prstGeom>
          <a:noFill/>
          <a:ln w="12700">
            <a:solidFill>
              <a:srgbClr val="E2E5EA"/>
            </a:solidFill>
            <a:prstDash val="solid"/>
          </a:ln>
        </p:spPr>
      </p:sp>
      <p:sp>
        <p:nvSpPr>
          <p:cNvPr id="22" name="Text 18"/>
          <p:cNvSpPr/>
          <p:nvPr/>
        </p:nvSpPr>
        <p:spPr>
          <a:xfrm>
            <a:off x="4585106" y="2688336"/>
            <a:ext cx="3021482" cy="457200"/>
          </a:xfrm>
          <a:prstGeom prst="rect">
            <a:avLst/>
          </a:prstGeom>
          <a:noFill/>
          <a:ln/>
        </p:spPr>
        <p:txBody>
          <a:bodyPr wrap="square" lIns="0" tIns="0" rIns="0" bIns="0" rtlCol="0" anchor="ctr"/>
          <a:lstStyle/>
          <a:p>
            <a:pPr marL="0" indent="0">
              <a:lnSpc>
                <a:spcPct val="110000"/>
              </a:lnSpc>
              <a:buNone/>
            </a:pPr>
            <a:r>
              <a:rPr lang="en-US" sz="1100" dirty="0">
                <a:solidFill>
                  <a:srgbClr val="666666"/>
                </a:solidFill>
                <a:latin typeface="Calibri" pitchFamily="34" charset="0"/>
                <a:ea typeface="Calibri" pitchFamily="34" charset="-122"/>
                <a:cs typeface="Calibri" pitchFamily="34" charset="-120"/>
              </a:rPr>
              <a:t>Each project is evaluated across six weighted dimensions, applied consistently to both candidates:</a:t>
            </a:r>
            <a:endParaRPr lang="en-US" sz="1100" dirty="0"/>
          </a:p>
        </p:txBody>
      </p:sp>
      <p:sp>
        <p:nvSpPr>
          <p:cNvPr id="23" name="Shape 19"/>
          <p:cNvSpPr/>
          <p:nvPr/>
        </p:nvSpPr>
        <p:spPr>
          <a:xfrm>
            <a:off x="4585106" y="3264408"/>
            <a:ext cx="201168" cy="201168"/>
          </a:xfrm>
          <a:prstGeom prst="ellipse">
            <a:avLst/>
          </a:prstGeom>
          <a:solidFill>
            <a:srgbClr val="EEF1F6"/>
          </a:solidFill>
          <a:ln/>
        </p:spPr>
      </p:sp>
      <p:sp>
        <p:nvSpPr>
          <p:cNvPr id="24" name="Text 20"/>
          <p:cNvSpPr/>
          <p:nvPr/>
        </p:nvSpPr>
        <p:spPr>
          <a:xfrm>
            <a:off x="4585106" y="3264408"/>
            <a:ext cx="201168" cy="201168"/>
          </a:xfrm>
          <a:prstGeom prst="rect">
            <a:avLst/>
          </a:prstGeom>
          <a:noFill/>
          <a:ln/>
        </p:spPr>
        <p:txBody>
          <a:bodyPr wrap="square" lIns="0" tIns="0" rIns="0" bIns="0" rtlCol="0" anchor="ctr"/>
          <a:lstStyle/>
          <a:p>
            <a:pPr marL="0" indent="0" algn="ctr">
              <a:buNone/>
            </a:pPr>
            <a:r>
              <a:rPr lang="en-US" sz="900" b="1" dirty="0">
                <a:solidFill>
                  <a:srgbClr val="0B1F3A"/>
                </a:solidFill>
                <a:latin typeface="Calibri" pitchFamily="34" charset="0"/>
                <a:ea typeface="Calibri" pitchFamily="34" charset="-122"/>
                <a:cs typeface="Calibri" pitchFamily="34" charset="-120"/>
              </a:rPr>
              <a:t>1</a:t>
            </a:r>
            <a:endParaRPr lang="en-US" sz="900" dirty="0"/>
          </a:p>
        </p:txBody>
      </p:sp>
      <p:sp>
        <p:nvSpPr>
          <p:cNvPr id="25" name="Text 21"/>
          <p:cNvSpPr/>
          <p:nvPr/>
        </p:nvSpPr>
        <p:spPr>
          <a:xfrm>
            <a:off x="4877714" y="3218688"/>
            <a:ext cx="2710586" cy="292608"/>
          </a:xfrm>
          <a:prstGeom prst="rect">
            <a:avLst/>
          </a:prstGeom>
          <a:noFill/>
          <a:ln/>
        </p:spPr>
        <p:txBody>
          <a:bodyPr wrap="square" lIns="0" tIns="0" rIns="0" bIns="0" rtlCol="0" anchor="ctr"/>
          <a:lstStyle/>
          <a:p>
            <a:pPr marL="0" indent="0">
              <a:buNone/>
            </a:pPr>
            <a:r>
              <a:rPr lang="en-US" sz="1150" dirty="0">
                <a:solidFill>
                  <a:srgbClr val="0B1F3A"/>
                </a:solidFill>
                <a:latin typeface="Calibri" pitchFamily="34" charset="0"/>
                <a:ea typeface="Calibri" pitchFamily="34" charset="-122"/>
                <a:cs typeface="Calibri" pitchFamily="34" charset="-120"/>
              </a:rPr>
              <a:t>Affordability &amp; Budget Fit</a:t>
            </a:r>
            <a:endParaRPr lang="en-US" sz="1150" dirty="0"/>
          </a:p>
        </p:txBody>
      </p:sp>
      <p:sp>
        <p:nvSpPr>
          <p:cNvPr id="26" name="Shape 22"/>
          <p:cNvSpPr/>
          <p:nvPr/>
        </p:nvSpPr>
        <p:spPr>
          <a:xfrm>
            <a:off x="4585106" y="3648456"/>
            <a:ext cx="201168" cy="201168"/>
          </a:xfrm>
          <a:prstGeom prst="ellipse">
            <a:avLst/>
          </a:prstGeom>
          <a:solidFill>
            <a:srgbClr val="EEF1F6"/>
          </a:solidFill>
          <a:ln/>
        </p:spPr>
      </p:sp>
      <p:sp>
        <p:nvSpPr>
          <p:cNvPr id="27" name="Text 23"/>
          <p:cNvSpPr/>
          <p:nvPr/>
        </p:nvSpPr>
        <p:spPr>
          <a:xfrm>
            <a:off x="4585106" y="3648456"/>
            <a:ext cx="201168" cy="201168"/>
          </a:xfrm>
          <a:prstGeom prst="rect">
            <a:avLst/>
          </a:prstGeom>
          <a:noFill/>
          <a:ln/>
        </p:spPr>
        <p:txBody>
          <a:bodyPr wrap="square" lIns="0" tIns="0" rIns="0" bIns="0" rtlCol="0" anchor="ctr"/>
          <a:lstStyle/>
          <a:p>
            <a:pPr marL="0" indent="0" algn="ctr">
              <a:buNone/>
            </a:pPr>
            <a:r>
              <a:rPr lang="en-US" sz="900" b="1" dirty="0">
                <a:solidFill>
                  <a:srgbClr val="0B1F3A"/>
                </a:solidFill>
                <a:latin typeface="Calibri" pitchFamily="34" charset="0"/>
                <a:ea typeface="Calibri" pitchFamily="34" charset="-122"/>
                <a:cs typeface="Calibri" pitchFamily="34" charset="-120"/>
              </a:rPr>
              <a:t>2</a:t>
            </a:r>
            <a:endParaRPr lang="en-US" sz="900" dirty="0"/>
          </a:p>
        </p:txBody>
      </p:sp>
      <p:sp>
        <p:nvSpPr>
          <p:cNvPr id="28" name="Text 24"/>
          <p:cNvSpPr/>
          <p:nvPr/>
        </p:nvSpPr>
        <p:spPr>
          <a:xfrm>
            <a:off x="4877714" y="3602736"/>
            <a:ext cx="2710586" cy="292608"/>
          </a:xfrm>
          <a:prstGeom prst="rect">
            <a:avLst/>
          </a:prstGeom>
          <a:noFill/>
          <a:ln/>
        </p:spPr>
        <p:txBody>
          <a:bodyPr wrap="square" lIns="0" tIns="0" rIns="0" bIns="0" rtlCol="0" anchor="ctr"/>
          <a:lstStyle/>
          <a:p>
            <a:pPr marL="0" indent="0">
              <a:buNone/>
            </a:pPr>
            <a:r>
              <a:rPr lang="en-US" sz="1150" dirty="0">
                <a:solidFill>
                  <a:srgbClr val="0B1F3A"/>
                </a:solidFill>
                <a:latin typeface="Calibri" pitchFamily="34" charset="0"/>
                <a:ea typeface="Calibri" pitchFamily="34" charset="-122"/>
                <a:cs typeface="Calibri" pitchFamily="34" charset="-120"/>
              </a:rPr>
              <a:t>Livability &amp; Connectivity</a:t>
            </a:r>
            <a:endParaRPr lang="en-US" sz="1150" dirty="0"/>
          </a:p>
        </p:txBody>
      </p:sp>
      <p:sp>
        <p:nvSpPr>
          <p:cNvPr id="29" name="Shape 25"/>
          <p:cNvSpPr/>
          <p:nvPr/>
        </p:nvSpPr>
        <p:spPr>
          <a:xfrm>
            <a:off x="4585106" y="4032504"/>
            <a:ext cx="201168" cy="201168"/>
          </a:xfrm>
          <a:prstGeom prst="ellipse">
            <a:avLst/>
          </a:prstGeom>
          <a:solidFill>
            <a:srgbClr val="EEF1F6"/>
          </a:solidFill>
          <a:ln/>
        </p:spPr>
      </p:sp>
      <p:sp>
        <p:nvSpPr>
          <p:cNvPr id="30" name="Text 26"/>
          <p:cNvSpPr/>
          <p:nvPr/>
        </p:nvSpPr>
        <p:spPr>
          <a:xfrm>
            <a:off x="4585106" y="4032504"/>
            <a:ext cx="201168" cy="201168"/>
          </a:xfrm>
          <a:prstGeom prst="rect">
            <a:avLst/>
          </a:prstGeom>
          <a:noFill/>
          <a:ln/>
        </p:spPr>
        <p:txBody>
          <a:bodyPr wrap="square" lIns="0" tIns="0" rIns="0" bIns="0" rtlCol="0" anchor="ctr"/>
          <a:lstStyle/>
          <a:p>
            <a:pPr marL="0" indent="0" algn="ctr">
              <a:buNone/>
            </a:pPr>
            <a:r>
              <a:rPr lang="en-US" sz="900" b="1" dirty="0">
                <a:solidFill>
                  <a:srgbClr val="0B1F3A"/>
                </a:solidFill>
                <a:latin typeface="Calibri" pitchFamily="34" charset="0"/>
                <a:ea typeface="Calibri" pitchFamily="34" charset="-122"/>
                <a:cs typeface="Calibri" pitchFamily="34" charset="-120"/>
              </a:rPr>
              <a:t>3</a:t>
            </a:r>
            <a:endParaRPr lang="en-US" sz="900" dirty="0"/>
          </a:p>
        </p:txBody>
      </p:sp>
      <p:sp>
        <p:nvSpPr>
          <p:cNvPr id="31" name="Text 27"/>
          <p:cNvSpPr/>
          <p:nvPr/>
        </p:nvSpPr>
        <p:spPr>
          <a:xfrm>
            <a:off x="4877714" y="3986784"/>
            <a:ext cx="2710586" cy="292608"/>
          </a:xfrm>
          <a:prstGeom prst="rect">
            <a:avLst/>
          </a:prstGeom>
          <a:noFill/>
          <a:ln/>
        </p:spPr>
        <p:txBody>
          <a:bodyPr wrap="square" lIns="0" tIns="0" rIns="0" bIns="0" rtlCol="0" anchor="ctr"/>
          <a:lstStyle/>
          <a:p>
            <a:pPr marL="0" indent="0">
              <a:buNone/>
            </a:pPr>
            <a:r>
              <a:rPr lang="en-US" sz="1150" dirty="0">
                <a:solidFill>
                  <a:srgbClr val="0B1F3A"/>
                </a:solidFill>
                <a:latin typeface="Calibri" pitchFamily="34" charset="0"/>
                <a:ea typeface="Calibri" pitchFamily="34" charset="-122"/>
                <a:cs typeface="Calibri" pitchFamily="34" charset="-120"/>
              </a:rPr>
              <a:t>Future Appreciation</a:t>
            </a:r>
            <a:endParaRPr lang="en-US" sz="1150" dirty="0"/>
          </a:p>
        </p:txBody>
      </p:sp>
      <p:sp>
        <p:nvSpPr>
          <p:cNvPr id="32" name="Shape 28"/>
          <p:cNvSpPr/>
          <p:nvPr/>
        </p:nvSpPr>
        <p:spPr>
          <a:xfrm>
            <a:off x="4585106" y="4416552"/>
            <a:ext cx="201168" cy="201168"/>
          </a:xfrm>
          <a:prstGeom prst="ellipse">
            <a:avLst/>
          </a:prstGeom>
          <a:solidFill>
            <a:srgbClr val="EEF1F6"/>
          </a:solidFill>
          <a:ln/>
        </p:spPr>
      </p:sp>
      <p:sp>
        <p:nvSpPr>
          <p:cNvPr id="33" name="Text 29"/>
          <p:cNvSpPr/>
          <p:nvPr/>
        </p:nvSpPr>
        <p:spPr>
          <a:xfrm>
            <a:off x="4585106" y="4416552"/>
            <a:ext cx="201168" cy="201168"/>
          </a:xfrm>
          <a:prstGeom prst="rect">
            <a:avLst/>
          </a:prstGeom>
          <a:noFill/>
          <a:ln/>
        </p:spPr>
        <p:txBody>
          <a:bodyPr wrap="square" lIns="0" tIns="0" rIns="0" bIns="0" rtlCol="0" anchor="ctr"/>
          <a:lstStyle/>
          <a:p>
            <a:pPr marL="0" indent="0" algn="ctr">
              <a:buNone/>
            </a:pPr>
            <a:r>
              <a:rPr lang="en-US" sz="900" b="1" dirty="0">
                <a:solidFill>
                  <a:srgbClr val="0B1F3A"/>
                </a:solidFill>
                <a:latin typeface="Calibri" pitchFamily="34" charset="0"/>
                <a:ea typeface="Calibri" pitchFamily="34" charset="-122"/>
                <a:cs typeface="Calibri" pitchFamily="34" charset="-120"/>
              </a:rPr>
              <a:t>4</a:t>
            </a:r>
            <a:endParaRPr lang="en-US" sz="900" dirty="0"/>
          </a:p>
        </p:txBody>
      </p:sp>
      <p:sp>
        <p:nvSpPr>
          <p:cNvPr id="34" name="Text 30"/>
          <p:cNvSpPr/>
          <p:nvPr/>
        </p:nvSpPr>
        <p:spPr>
          <a:xfrm>
            <a:off x="4877714" y="4370832"/>
            <a:ext cx="2710586" cy="292608"/>
          </a:xfrm>
          <a:prstGeom prst="rect">
            <a:avLst/>
          </a:prstGeom>
          <a:noFill/>
          <a:ln/>
        </p:spPr>
        <p:txBody>
          <a:bodyPr wrap="square" lIns="0" tIns="0" rIns="0" bIns="0" rtlCol="0" anchor="ctr"/>
          <a:lstStyle/>
          <a:p>
            <a:pPr marL="0" indent="0">
              <a:buNone/>
            </a:pPr>
            <a:r>
              <a:rPr lang="en-US" sz="1150" dirty="0">
                <a:solidFill>
                  <a:srgbClr val="0B1F3A"/>
                </a:solidFill>
                <a:latin typeface="Calibri" pitchFamily="34" charset="0"/>
                <a:ea typeface="Calibri" pitchFamily="34" charset="-122"/>
                <a:cs typeface="Calibri" pitchFamily="34" charset="-120"/>
              </a:rPr>
              <a:t>Developer Quality</a:t>
            </a:r>
            <a:endParaRPr lang="en-US" sz="1150" dirty="0"/>
          </a:p>
        </p:txBody>
      </p:sp>
      <p:sp>
        <p:nvSpPr>
          <p:cNvPr id="35" name="Shape 31"/>
          <p:cNvSpPr/>
          <p:nvPr/>
        </p:nvSpPr>
        <p:spPr>
          <a:xfrm>
            <a:off x="4585106" y="4800600"/>
            <a:ext cx="201168" cy="201168"/>
          </a:xfrm>
          <a:prstGeom prst="ellipse">
            <a:avLst/>
          </a:prstGeom>
          <a:solidFill>
            <a:srgbClr val="EEF1F6"/>
          </a:solidFill>
          <a:ln/>
        </p:spPr>
      </p:sp>
      <p:sp>
        <p:nvSpPr>
          <p:cNvPr id="36" name="Text 32"/>
          <p:cNvSpPr/>
          <p:nvPr/>
        </p:nvSpPr>
        <p:spPr>
          <a:xfrm>
            <a:off x="4585106" y="4800600"/>
            <a:ext cx="201168" cy="201168"/>
          </a:xfrm>
          <a:prstGeom prst="rect">
            <a:avLst/>
          </a:prstGeom>
          <a:noFill/>
          <a:ln/>
        </p:spPr>
        <p:txBody>
          <a:bodyPr wrap="square" lIns="0" tIns="0" rIns="0" bIns="0" rtlCol="0" anchor="ctr"/>
          <a:lstStyle/>
          <a:p>
            <a:pPr marL="0" indent="0" algn="ctr">
              <a:buNone/>
            </a:pPr>
            <a:r>
              <a:rPr lang="en-US" sz="900" b="1" dirty="0">
                <a:solidFill>
                  <a:srgbClr val="0B1F3A"/>
                </a:solidFill>
                <a:latin typeface="Calibri" pitchFamily="34" charset="0"/>
                <a:ea typeface="Calibri" pitchFamily="34" charset="-122"/>
                <a:cs typeface="Calibri" pitchFamily="34" charset="-120"/>
              </a:rPr>
              <a:t>5</a:t>
            </a:r>
            <a:endParaRPr lang="en-US" sz="900" dirty="0"/>
          </a:p>
        </p:txBody>
      </p:sp>
      <p:sp>
        <p:nvSpPr>
          <p:cNvPr id="37" name="Text 33"/>
          <p:cNvSpPr/>
          <p:nvPr/>
        </p:nvSpPr>
        <p:spPr>
          <a:xfrm>
            <a:off x="4877714" y="4754880"/>
            <a:ext cx="2710586" cy="292608"/>
          </a:xfrm>
          <a:prstGeom prst="rect">
            <a:avLst/>
          </a:prstGeom>
          <a:noFill/>
          <a:ln/>
        </p:spPr>
        <p:txBody>
          <a:bodyPr wrap="square" lIns="0" tIns="0" rIns="0" bIns="0" rtlCol="0" anchor="ctr"/>
          <a:lstStyle/>
          <a:p>
            <a:pPr marL="0" indent="0">
              <a:buNone/>
            </a:pPr>
            <a:r>
              <a:rPr lang="en-US" sz="1150" dirty="0">
                <a:solidFill>
                  <a:srgbClr val="0B1F3A"/>
                </a:solidFill>
                <a:latin typeface="Calibri" pitchFamily="34" charset="0"/>
                <a:ea typeface="Calibri" pitchFamily="34" charset="-122"/>
                <a:cs typeface="Calibri" pitchFamily="34" charset="-120"/>
              </a:rPr>
              <a:t>Liquidity &amp; Risk Profile</a:t>
            </a:r>
            <a:endParaRPr lang="en-US" sz="1150" dirty="0"/>
          </a:p>
        </p:txBody>
      </p:sp>
      <p:sp>
        <p:nvSpPr>
          <p:cNvPr id="38" name="Shape 34"/>
          <p:cNvSpPr/>
          <p:nvPr/>
        </p:nvSpPr>
        <p:spPr>
          <a:xfrm>
            <a:off x="4585106" y="5184648"/>
            <a:ext cx="201168" cy="201168"/>
          </a:xfrm>
          <a:prstGeom prst="ellipse">
            <a:avLst/>
          </a:prstGeom>
          <a:solidFill>
            <a:srgbClr val="EEF1F6"/>
          </a:solidFill>
          <a:ln/>
        </p:spPr>
      </p:sp>
      <p:sp>
        <p:nvSpPr>
          <p:cNvPr id="39" name="Text 35"/>
          <p:cNvSpPr/>
          <p:nvPr/>
        </p:nvSpPr>
        <p:spPr>
          <a:xfrm>
            <a:off x="4585106" y="5184648"/>
            <a:ext cx="201168" cy="201168"/>
          </a:xfrm>
          <a:prstGeom prst="rect">
            <a:avLst/>
          </a:prstGeom>
          <a:noFill/>
          <a:ln/>
        </p:spPr>
        <p:txBody>
          <a:bodyPr wrap="square" lIns="0" tIns="0" rIns="0" bIns="0" rtlCol="0" anchor="ctr"/>
          <a:lstStyle/>
          <a:p>
            <a:pPr marL="0" indent="0" algn="ctr">
              <a:buNone/>
            </a:pPr>
            <a:r>
              <a:rPr lang="en-US" sz="900" b="1" dirty="0">
                <a:solidFill>
                  <a:srgbClr val="0B1F3A"/>
                </a:solidFill>
                <a:latin typeface="Calibri" pitchFamily="34" charset="0"/>
                <a:ea typeface="Calibri" pitchFamily="34" charset="-122"/>
                <a:cs typeface="Calibri" pitchFamily="34" charset="-120"/>
              </a:rPr>
              <a:t>6</a:t>
            </a:r>
            <a:endParaRPr lang="en-US" sz="900" dirty="0"/>
          </a:p>
        </p:txBody>
      </p:sp>
      <p:sp>
        <p:nvSpPr>
          <p:cNvPr id="40" name="Text 36"/>
          <p:cNvSpPr/>
          <p:nvPr/>
        </p:nvSpPr>
        <p:spPr>
          <a:xfrm>
            <a:off x="4877714" y="5138928"/>
            <a:ext cx="2710586" cy="292608"/>
          </a:xfrm>
          <a:prstGeom prst="rect">
            <a:avLst/>
          </a:prstGeom>
          <a:noFill/>
          <a:ln/>
        </p:spPr>
        <p:txBody>
          <a:bodyPr wrap="square" lIns="0" tIns="0" rIns="0" bIns="0" rtlCol="0" anchor="ctr"/>
          <a:lstStyle/>
          <a:p>
            <a:pPr marL="0" indent="0">
              <a:buNone/>
            </a:pPr>
            <a:r>
              <a:rPr lang="en-US" sz="1150" dirty="0">
                <a:solidFill>
                  <a:srgbClr val="0B1F3A"/>
                </a:solidFill>
                <a:latin typeface="Calibri" pitchFamily="34" charset="0"/>
                <a:ea typeface="Calibri" pitchFamily="34" charset="-122"/>
                <a:cs typeface="Calibri" pitchFamily="34" charset="-120"/>
              </a:rPr>
              <a:t>Investment Fundamentals</a:t>
            </a:r>
            <a:endParaRPr lang="en-US" sz="1150" dirty="0"/>
          </a:p>
        </p:txBody>
      </p:sp>
      <p:sp>
        <p:nvSpPr>
          <p:cNvPr id="41" name="Shape 37"/>
          <p:cNvSpPr/>
          <p:nvPr/>
        </p:nvSpPr>
        <p:spPr>
          <a:xfrm>
            <a:off x="8155229" y="1481328"/>
            <a:ext cx="3533546" cy="4160520"/>
          </a:xfrm>
          <a:prstGeom prst="rect">
            <a:avLst/>
          </a:prstGeom>
          <a:solidFill>
            <a:srgbClr val="0B1F3A"/>
          </a:solidFill>
          <a:ln/>
          <a:effectLst>
            <a:outerShdw blurRad="88900" dist="25400" dir="5400000" algn="bl" rotWithShape="0">
              <a:srgbClr val="0B1F3A">
                <a:alpha val="10000"/>
              </a:srgbClr>
            </a:outerShdw>
          </a:effectLst>
        </p:spPr>
      </p:sp>
      <p:pic>
        <p:nvPicPr>
          <p:cNvPr id="42" name="Image 2" descr="icons/clipboard_gold.png"/>
          <p:cNvPicPr>
            <a:picLocks noChangeAspect="1"/>
          </p:cNvPicPr>
          <p:nvPr/>
        </p:nvPicPr>
        <p:blipFill>
          <a:blip r:embed="rId5"/>
          <a:stretch>
            <a:fillRect/>
          </a:stretch>
        </p:blipFill>
        <p:spPr>
          <a:xfrm>
            <a:off x="8411261" y="1737360"/>
            <a:ext cx="365760" cy="365760"/>
          </a:xfrm>
          <a:prstGeom prst="rect">
            <a:avLst/>
          </a:prstGeom>
        </p:spPr>
      </p:pic>
      <p:sp>
        <p:nvSpPr>
          <p:cNvPr id="43" name="Text 38"/>
          <p:cNvSpPr/>
          <p:nvPr/>
        </p:nvSpPr>
        <p:spPr>
          <a:xfrm>
            <a:off x="8411261" y="2212848"/>
            <a:ext cx="3021482" cy="274320"/>
          </a:xfrm>
          <a:prstGeom prst="rect">
            <a:avLst/>
          </a:prstGeom>
          <a:noFill/>
          <a:ln/>
        </p:spPr>
        <p:txBody>
          <a:bodyPr wrap="square" lIns="0" tIns="0" rIns="0" bIns="0" rtlCol="0" anchor="ctr"/>
          <a:lstStyle/>
          <a:p>
            <a:pPr marL="0" indent="0">
              <a:buNone/>
            </a:pPr>
            <a:r>
              <a:rPr lang="en-US" sz="1200" b="1" kern="0" spc="100" dirty="0">
                <a:solidFill>
                  <a:srgbClr val="C9A227"/>
                </a:solidFill>
                <a:latin typeface="Calibri" pitchFamily="34" charset="0"/>
                <a:ea typeface="Calibri" pitchFamily="34" charset="-122"/>
                <a:cs typeface="Calibri" pitchFamily="34" charset="-120"/>
              </a:rPr>
              <a:t>SUCCESS CRITERIA</a:t>
            </a:r>
            <a:endParaRPr lang="en-US" sz="1200" dirty="0"/>
          </a:p>
        </p:txBody>
      </p:sp>
      <p:sp>
        <p:nvSpPr>
          <p:cNvPr id="44" name="Shape 39"/>
          <p:cNvSpPr/>
          <p:nvPr/>
        </p:nvSpPr>
        <p:spPr>
          <a:xfrm>
            <a:off x="8411261" y="2542032"/>
            <a:ext cx="3021482" cy="0"/>
          </a:xfrm>
          <a:prstGeom prst="line">
            <a:avLst/>
          </a:prstGeom>
          <a:noFill/>
          <a:ln w="12700">
            <a:solidFill>
              <a:srgbClr val="2A4A78"/>
            </a:solidFill>
            <a:prstDash val="solid"/>
          </a:ln>
        </p:spPr>
      </p:sp>
      <p:pic>
        <p:nvPicPr>
          <p:cNvPr id="45" name="Image 3" descr="icons/check_white.png"/>
          <p:cNvPicPr>
            <a:picLocks noChangeAspect="1"/>
          </p:cNvPicPr>
          <p:nvPr/>
        </p:nvPicPr>
        <p:blipFill>
          <a:blip r:embed="rId6"/>
          <a:stretch>
            <a:fillRect/>
          </a:stretch>
        </p:blipFill>
        <p:spPr>
          <a:xfrm>
            <a:off x="8411261" y="2679192"/>
            <a:ext cx="164592" cy="164592"/>
          </a:xfrm>
          <a:prstGeom prst="rect">
            <a:avLst/>
          </a:prstGeom>
        </p:spPr>
      </p:pic>
      <p:sp>
        <p:nvSpPr>
          <p:cNvPr id="46" name="Text 40"/>
          <p:cNvSpPr/>
          <p:nvPr/>
        </p:nvSpPr>
        <p:spPr>
          <a:xfrm>
            <a:off x="8667293" y="2624328"/>
            <a:ext cx="2765450" cy="329184"/>
          </a:xfrm>
          <a:prstGeom prst="rect">
            <a:avLst/>
          </a:prstGeom>
          <a:noFill/>
          <a:ln/>
        </p:spPr>
        <p:txBody>
          <a:bodyPr wrap="square" lIns="0" tIns="0" rIns="0" bIns="0" rtlCol="0" anchor="t"/>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Fits within AED 2,000,000 budget</a:t>
            </a:r>
            <a:endParaRPr lang="en-US" sz="1050" dirty="0"/>
          </a:p>
        </p:txBody>
      </p:sp>
      <p:pic>
        <p:nvPicPr>
          <p:cNvPr id="47" name="Image 4" descr="icons/check_white.png"/>
          <p:cNvPicPr>
            <a:picLocks noChangeAspect="1"/>
          </p:cNvPicPr>
          <p:nvPr/>
        </p:nvPicPr>
        <p:blipFill>
          <a:blip r:embed="rId6"/>
          <a:stretch>
            <a:fillRect/>
          </a:stretch>
        </p:blipFill>
        <p:spPr>
          <a:xfrm>
            <a:off x="8411261" y="3076956"/>
            <a:ext cx="164592" cy="164592"/>
          </a:xfrm>
          <a:prstGeom prst="rect">
            <a:avLst/>
          </a:prstGeom>
        </p:spPr>
      </p:pic>
      <p:sp>
        <p:nvSpPr>
          <p:cNvPr id="48" name="Text 41"/>
          <p:cNvSpPr/>
          <p:nvPr/>
        </p:nvSpPr>
        <p:spPr>
          <a:xfrm>
            <a:off x="8667293" y="3022092"/>
            <a:ext cx="2765450" cy="329184"/>
          </a:xfrm>
          <a:prstGeom prst="rect">
            <a:avLst/>
          </a:prstGeom>
          <a:noFill/>
          <a:ln/>
        </p:spPr>
        <p:txBody>
          <a:bodyPr wrap="square" lIns="0" tIns="0" rIns="0" bIns="0" rtlCol="0" anchor="t"/>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Suitable for end-user occupancy</a:t>
            </a:r>
            <a:endParaRPr lang="en-US" sz="1050" dirty="0"/>
          </a:p>
        </p:txBody>
      </p:sp>
      <p:pic>
        <p:nvPicPr>
          <p:cNvPr id="49" name="Image 5" descr="icons/check_white.png"/>
          <p:cNvPicPr>
            <a:picLocks noChangeAspect="1"/>
          </p:cNvPicPr>
          <p:nvPr/>
        </p:nvPicPr>
        <p:blipFill>
          <a:blip r:embed="rId6"/>
          <a:stretch>
            <a:fillRect/>
          </a:stretch>
        </p:blipFill>
        <p:spPr>
          <a:xfrm>
            <a:off x="8411261" y="3474720"/>
            <a:ext cx="164592" cy="164592"/>
          </a:xfrm>
          <a:prstGeom prst="rect">
            <a:avLst/>
          </a:prstGeom>
        </p:spPr>
      </p:pic>
      <p:sp>
        <p:nvSpPr>
          <p:cNvPr id="50" name="Text 42"/>
          <p:cNvSpPr/>
          <p:nvPr/>
        </p:nvSpPr>
        <p:spPr>
          <a:xfrm>
            <a:off x="8667293" y="3419856"/>
            <a:ext cx="2765450" cy="329184"/>
          </a:xfrm>
          <a:prstGeom prst="rect">
            <a:avLst/>
          </a:prstGeom>
          <a:noFill/>
          <a:ln/>
        </p:spPr>
        <p:txBody>
          <a:bodyPr wrap="square" lIns="0" tIns="0" rIns="0" bIns="0" rtlCol="0" anchor="t"/>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Strong connectivity to employment hubs</a:t>
            </a:r>
            <a:endParaRPr lang="en-US" sz="1050" dirty="0"/>
          </a:p>
        </p:txBody>
      </p:sp>
      <p:pic>
        <p:nvPicPr>
          <p:cNvPr id="51" name="Image 6" descr="icons/check_white.png"/>
          <p:cNvPicPr>
            <a:picLocks noChangeAspect="1"/>
          </p:cNvPicPr>
          <p:nvPr/>
        </p:nvPicPr>
        <p:blipFill>
          <a:blip r:embed="rId6"/>
          <a:stretch>
            <a:fillRect/>
          </a:stretch>
        </p:blipFill>
        <p:spPr>
          <a:xfrm>
            <a:off x="8411261" y="3872484"/>
            <a:ext cx="164592" cy="164592"/>
          </a:xfrm>
          <a:prstGeom prst="rect">
            <a:avLst/>
          </a:prstGeom>
        </p:spPr>
      </p:pic>
      <p:sp>
        <p:nvSpPr>
          <p:cNvPr id="52" name="Text 43"/>
          <p:cNvSpPr/>
          <p:nvPr/>
        </p:nvSpPr>
        <p:spPr>
          <a:xfrm>
            <a:off x="8667293" y="3817620"/>
            <a:ext cx="2765450" cy="329184"/>
          </a:xfrm>
          <a:prstGeom prst="rect">
            <a:avLst/>
          </a:prstGeom>
          <a:noFill/>
          <a:ln/>
        </p:spPr>
        <p:txBody>
          <a:bodyPr wrap="square" lIns="0" tIns="0" rIns="0" bIns="0" rtlCol="0" anchor="t"/>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Verifiable appreciation catalyst</a:t>
            </a:r>
            <a:endParaRPr lang="en-US" sz="1050" dirty="0"/>
          </a:p>
        </p:txBody>
      </p:sp>
      <p:pic>
        <p:nvPicPr>
          <p:cNvPr id="53" name="Image 7" descr="icons/check_white.png"/>
          <p:cNvPicPr>
            <a:picLocks noChangeAspect="1"/>
          </p:cNvPicPr>
          <p:nvPr/>
        </p:nvPicPr>
        <p:blipFill>
          <a:blip r:embed="rId6"/>
          <a:stretch>
            <a:fillRect/>
          </a:stretch>
        </p:blipFill>
        <p:spPr>
          <a:xfrm>
            <a:off x="8411261" y="4270248"/>
            <a:ext cx="164592" cy="164592"/>
          </a:xfrm>
          <a:prstGeom prst="rect">
            <a:avLst/>
          </a:prstGeom>
        </p:spPr>
      </p:pic>
      <p:sp>
        <p:nvSpPr>
          <p:cNvPr id="54" name="Text 44"/>
          <p:cNvSpPr/>
          <p:nvPr/>
        </p:nvSpPr>
        <p:spPr>
          <a:xfrm>
            <a:off x="8667293" y="4215384"/>
            <a:ext cx="2765450" cy="329184"/>
          </a:xfrm>
          <a:prstGeom prst="rect">
            <a:avLst/>
          </a:prstGeom>
          <a:noFill/>
          <a:ln/>
        </p:spPr>
        <p:txBody>
          <a:bodyPr wrap="square" lIns="0" tIns="0" rIns="0" bIns="0" rtlCol="0" anchor="t"/>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Reputable, financially strong developer</a:t>
            </a:r>
            <a:endParaRPr lang="en-US" sz="1050" dirty="0"/>
          </a:p>
        </p:txBody>
      </p:sp>
      <p:pic>
        <p:nvPicPr>
          <p:cNvPr id="55" name="Image 8" descr="icons/check_white.png"/>
          <p:cNvPicPr>
            <a:picLocks noChangeAspect="1"/>
          </p:cNvPicPr>
          <p:nvPr/>
        </p:nvPicPr>
        <p:blipFill>
          <a:blip r:embed="rId6"/>
          <a:stretch>
            <a:fillRect/>
          </a:stretch>
        </p:blipFill>
        <p:spPr>
          <a:xfrm>
            <a:off x="8411261" y="4668012"/>
            <a:ext cx="164592" cy="164592"/>
          </a:xfrm>
          <a:prstGeom prst="rect">
            <a:avLst/>
          </a:prstGeom>
        </p:spPr>
      </p:pic>
      <p:sp>
        <p:nvSpPr>
          <p:cNvPr id="56" name="Text 45"/>
          <p:cNvSpPr/>
          <p:nvPr/>
        </p:nvSpPr>
        <p:spPr>
          <a:xfrm>
            <a:off x="8667293" y="4613148"/>
            <a:ext cx="2765450" cy="329184"/>
          </a:xfrm>
          <a:prstGeom prst="rect">
            <a:avLst/>
          </a:prstGeom>
          <a:noFill/>
          <a:ln/>
        </p:spPr>
        <p:txBody>
          <a:bodyPr wrap="square" lIns="0" tIns="0" rIns="0" bIns="0" rtlCol="0" anchor="t"/>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Acceptable liquidity &amp; risk profile</a:t>
            </a:r>
            <a:endParaRPr lang="en-US" sz="1050" dirty="0"/>
          </a:p>
        </p:txBody>
      </p:sp>
      <p:sp>
        <p:nvSpPr>
          <p:cNvPr id="57" name="Shape 46"/>
          <p:cNvSpPr/>
          <p:nvPr/>
        </p:nvSpPr>
        <p:spPr>
          <a:xfrm>
            <a:off x="8411261" y="5074920"/>
            <a:ext cx="3021482" cy="0"/>
          </a:xfrm>
          <a:prstGeom prst="line">
            <a:avLst/>
          </a:prstGeom>
          <a:noFill/>
          <a:ln w="12700">
            <a:solidFill>
              <a:srgbClr val="2A4A78"/>
            </a:solidFill>
            <a:prstDash val="solid"/>
          </a:ln>
        </p:spPr>
      </p:sp>
      <p:sp>
        <p:nvSpPr>
          <p:cNvPr id="58" name="Text 47"/>
          <p:cNvSpPr/>
          <p:nvPr/>
        </p:nvSpPr>
        <p:spPr>
          <a:xfrm>
            <a:off x="8411261" y="5184648"/>
            <a:ext cx="3021482" cy="457200"/>
          </a:xfrm>
          <a:prstGeom prst="rect">
            <a:avLst/>
          </a:prstGeom>
          <a:noFill/>
          <a:ln/>
        </p:spPr>
        <p:txBody>
          <a:bodyPr wrap="square" lIns="0" tIns="0" rIns="0" bIns="0" rtlCol="0" anchor="ctr"/>
          <a:lstStyle/>
          <a:p>
            <a:pPr marL="0" indent="0">
              <a:lnSpc>
                <a:spcPct val="110000"/>
              </a:lnSpc>
              <a:buNone/>
            </a:pPr>
            <a:r>
              <a:rPr lang="en-US" sz="950" i="1" dirty="0">
                <a:solidFill>
                  <a:srgbClr val="AEB9CC"/>
                </a:solidFill>
                <a:latin typeface="Calibri" pitchFamily="34" charset="0"/>
                <a:ea typeface="Calibri" pitchFamily="34" charset="-122"/>
                <a:cs typeface="Calibri" pitchFamily="34" charset="-120"/>
              </a:rPr>
              <a:t>Every recommendation in this presentation is evaluated against these six criteria.</a:t>
            </a:r>
            <a:endParaRPr lang="en-US" sz="950" dirty="0"/>
          </a:p>
        </p:txBody>
      </p:sp>
      <p:sp>
        <p:nvSpPr>
          <p:cNvPr id="59" name="Text 48"/>
          <p:cNvSpPr/>
          <p:nvPr/>
        </p:nvSpPr>
        <p:spPr>
          <a:xfrm>
            <a:off x="502920" y="6510528"/>
            <a:ext cx="3657600" cy="256032"/>
          </a:xfrm>
          <a:prstGeom prst="rect">
            <a:avLst/>
          </a:prstGeom>
          <a:noFill/>
          <a:ln/>
        </p:spPr>
        <p:txBody>
          <a:bodyPr wrap="square" lIns="0" tIns="0" rIns="0" bIns="0" rtlCol="0" anchor="ctr"/>
          <a:lstStyle/>
          <a:p>
            <a:pPr marL="0" indent="0" algn="l">
              <a:buNone/>
            </a:pPr>
            <a:r>
              <a:rPr lang="en-US" sz="800" kern="0" spc="100" dirty="0">
                <a:solidFill>
                  <a:srgbClr val="9AA1AC"/>
                </a:solidFill>
                <a:latin typeface="Calibri" pitchFamily="34" charset="0"/>
                <a:ea typeface="Calibri" pitchFamily="34" charset="-122"/>
                <a:cs typeface="Calibri" pitchFamily="34" charset="-120"/>
              </a:rPr>
              <a:t>LUXURY REAL ESTATE INVESTMENT ADVISORY</a:t>
            </a:r>
            <a:endParaRPr lang="en-US" sz="800" dirty="0"/>
          </a:p>
        </p:txBody>
      </p:sp>
      <p:sp>
        <p:nvSpPr>
          <p:cNvPr id="60" name="Text 49"/>
          <p:cNvSpPr/>
          <p:nvPr/>
        </p:nvSpPr>
        <p:spPr>
          <a:xfrm>
            <a:off x="3809848" y="6510528"/>
            <a:ext cx="4572000" cy="256032"/>
          </a:xfrm>
          <a:prstGeom prst="rect">
            <a:avLst/>
          </a:prstGeom>
          <a:noFill/>
          <a:ln/>
        </p:spPr>
        <p:txBody>
          <a:bodyPr wrap="square" lIns="0" tIns="0" rIns="0" bIns="0" rtlCol="0" anchor="ctr"/>
          <a:lstStyle/>
          <a:p>
            <a:pPr marL="0" indent="0" algn="ctr">
              <a:buNone/>
            </a:pPr>
            <a:r>
              <a:rPr lang="en-US" sz="800" dirty="0">
                <a:solidFill>
                  <a:srgbClr val="9AA1AC"/>
                </a:solidFill>
                <a:latin typeface="Calibri" pitchFamily="34" charset="0"/>
                <a:ea typeface="Calibri" pitchFamily="34" charset="-122"/>
                <a:cs typeface="Calibri" pitchFamily="34" charset="-120"/>
              </a:rPr>
              <a:t>Client Requirements</a:t>
            </a:r>
            <a:endParaRPr lang="en-US" sz="800" dirty="0"/>
          </a:p>
        </p:txBody>
      </p:sp>
      <p:sp>
        <p:nvSpPr>
          <p:cNvPr id="61" name="Text 50"/>
          <p:cNvSpPr/>
          <p:nvPr/>
        </p:nvSpPr>
        <p:spPr>
          <a:xfrm>
            <a:off x="8031175" y="6510528"/>
            <a:ext cx="3657600" cy="256032"/>
          </a:xfrm>
          <a:prstGeom prst="rect">
            <a:avLst/>
          </a:prstGeom>
          <a:noFill/>
          <a:ln/>
        </p:spPr>
        <p:txBody>
          <a:bodyPr wrap="square" lIns="0" tIns="0" rIns="0" bIns="0" rtlCol="0" anchor="ctr"/>
          <a:lstStyle/>
          <a:p>
            <a:pPr marL="0" indent="0" algn="r">
              <a:buNone/>
            </a:pPr>
            <a:r>
              <a:rPr lang="en-US" sz="800" dirty="0">
                <a:solidFill>
                  <a:srgbClr val="9AA1AC"/>
                </a:solidFill>
                <a:latin typeface="Calibri" pitchFamily="34" charset="0"/>
                <a:ea typeface="Calibri" pitchFamily="34" charset="-122"/>
                <a:cs typeface="Calibri" pitchFamily="34" charset="-120"/>
              </a:rPr>
              <a:t>03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lgn="l">
              <a:buNone/>
            </a:pPr>
            <a:r>
              <a:rPr lang="en-US" sz="1150" b="1" kern="0" spc="200" dirty="0">
                <a:solidFill>
                  <a:srgbClr val="C9A227"/>
                </a:solidFill>
                <a:latin typeface="Calibri" pitchFamily="34" charset="0"/>
                <a:ea typeface="Calibri" pitchFamily="34" charset="-122"/>
                <a:cs typeface="Calibri" pitchFamily="34" charset="-120"/>
              </a:rPr>
              <a:t>SECTION 03 · MARKET INTELLIGENCE</a:t>
            </a:r>
            <a:endParaRPr lang="en-US" sz="1150" dirty="0"/>
          </a:p>
        </p:txBody>
      </p:sp>
      <p:sp>
        <p:nvSpPr>
          <p:cNvPr id="3" name="Text 1"/>
          <p:cNvSpPr/>
          <p:nvPr/>
        </p:nvSpPr>
        <p:spPr>
          <a:xfrm>
            <a:off x="502920" y="658368"/>
            <a:ext cx="10607040" cy="566928"/>
          </a:xfrm>
          <a:prstGeom prst="rect">
            <a:avLst/>
          </a:prstGeom>
          <a:noFill/>
          <a:ln/>
        </p:spPr>
        <p:txBody>
          <a:bodyPr wrap="square" lIns="0" tIns="0" rIns="0" bIns="0" rtlCol="0" anchor="ctr"/>
          <a:lstStyle/>
          <a:p>
            <a:pPr marL="0" indent="0" algn="l">
              <a:buNone/>
            </a:pPr>
            <a:r>
              <a:rPr lang="en-US" sz="2600" b="1" dirty="0">
                <a:solidFill>
                  <a:srgbClr val="0B1F3A"/>
                </a:solidFill>
                <a:latin typeface="Cambria" pitchFamily="34" charset="0"/>
                <a:ea typeface="Cambria" pitchFamily="34" charset="-122"/>
                <a:cs typeface="Cambria" pitchFamily="34" charset="-120"/>
              </a:rPr>
              <a:t>Emaar South: Strategic Area Profile</a:t>
            </a:r>
            <a:endParaRPr lang="en-US" sz="2600" dirty="0"/>
          </a:p>
        </p:txBody>
      </p:sp>
      <p:sp>
        <p:nvSpPr>
          <p:cNvPr id="4" name="Shape 2"/>
          <p:cNvSpPr/>
          <p:nvPr/>
        </p:nvSpPr>
        <p:spPr>
          <a:xfrm>
            <a:off x="477164" y="1325880"/>
            <a:ext cx="4846320" cy="3703320"/>
          </a:xfrm>
          <a:prstGeom prst="rect">
            <a:avLst/>
          </a:prstGeom>
          <a:solidFill>
            <a:srgbClr val="EEF1F6"/>
          </a:solidFill>
          <a:ln w="12700">
            <a:solidFill>
              <a:srgbClr val="E2E5EA"/>
            </a:solidFill>
            <a:prstDash val="solid"/>
          </a:ln>
        </p:spPr>
      </p:sp>
      <p:pic>
        <p:nvPicPr>
          <p:cNvPr id="5" name="Image 0" descr="icons/map_pin_navy.png"/>
          <p:cNvPicPr>
            <a:picLocks noChangeAspect="1"/>
          </p:cNvPicPr>
          <p:nvPr/>
        </p:nvPicPr>
        <p:blipFill>
          <a:blip r:embed="rId3"/>
          <a:stretch>
            <a:fillRect/>
          </a:stretch>
        </p:blipFill>
        <p:spPr>
          <a:xfrm>
            <a:off x="2697480" y="2766060"/>
            <a:ext cx="457200" cy="457200"/>
          </a:xfrm>
          <a:prstGeom prst="rect">
            <a:avLst/>
          </a:prstGeom>
        </p:spPr>
      </p:pic>
      <p:sp>
        <p:nvSpPr>
          <p:cNvPr id="6" name="Text 3"/>
          <p:cNvSpPr/>
          <p:nvPr/>
        </p:nvSpPr>
        <p:spPr>
          <a:xfrm>
            <a:off x="502920" y="3314700"/>
            <a:ext cx="4846320" cy="274320"/>
          </a:xfrm>
          <a:prstGeom prst="rect">
            <a:avLst/>
          </a:prstGeom>
          <a:noFill/>
          <a:ln/>
        </p:spPr>
        <p:txBody>
          <a:bodyPr wrap="square" lIns="0" tIns="0" rIns="0" bIns="0" rtlCol="0" anchor="ctr"/>
          <a:lstStyle/>
          <a:p>
            <a:pPr marL="0" indent="0" algn="ctr">
              <a:buNone/>
            </a:pPr>
            <a:r>
              <a:rPr lang="en-US" sz="1100" b="1" dirty="0">
                <a:solidFill>
                  <a:srgbClr val="9AA1AC"/>
                </a:solidFill>
                <a:latin typeface="Calibri" pitchFamily="34" charset="0"/>
                <a:ea typeface="Calibri" pitchFamily="34" charset="-122"/>
                <a:cs typeface="Calibri" pitchFamily="34" charset="-120"/>
              </a:rPr>
              <a:t>&lt;&lt; INSERT GOOGLE MAP HERE &gt;&gt;</a:t>
            </a:r>
            <a:endParaRPr lang="en-US" sz="1100" dirty="0"/>
          </a:p>
        </p:txBody>
      </p:sp>
      <p:sp>
        <p:nvSpPr>
          <p:cNvPr id="7" name="Text 4"/>
          <p:cNvSpPr/>
          <p:nvPr/>
        </p:nvSpPr>
        <p:spPr>
          <a:xfrm>
            <a:off x="502920" y="3616452"/>
            <a:ext cx="4846320" cy="237744"/>
          </a:xfrm>
          <a:prstGeom prst="rect">
            <a:avLst/>
          </a:prstGeom>
          <a:noFill/>
          <a:ln/>
        </p:spPr>
        <p:txBody>
          <a:bodyPr wrap="square" lIns="0" tIns="0" rIns="0" bIns="0" rtlCol="0" anchor="ctr"/>
          <a:lstStyle/>
          <a:p>
            <a:pPr marL="0" indent="0" algn="ctr">
              <a:buNone/>
            </a:pPr>
            <a:r>
              <a:rPr lang="en-US" sz="950" i="1" dirty="0">
                <a:solidFill>
                  <a:srgbClr val="9AA1AC"/>
                </a:solidFill>
                <a:latin typeface="Calibri" pitchFamily="34" charset="0"/>
                <a:ea typeface="Calibri" pitchFamily="34" charset="-122"/>
                <a:cs typeface="Calibri" pitchFamily="34" charset="-120"/>
              </a:rPr>
              <a:t>Golf Acres · 24.865147, 55.138351</a:t>
            </a:r>
            <a:endParaRPr lang="en-US" sz="950" dirty="0"/>
          </a:p>
        </p:txBody>
      </p:sp>
      <p:sp>
        <p:nvSpPr>
          <p:cNvPr id="8" name="Text 5"/>
          <p:cNvSpPr/>
          <p:nvPr/>
        </p:nvSpPr>
        <p:spPr>
          <a:xfrm>
            <a:off x="502920" y="5193792"/>
            <a:ext cx="4846320" cy="237744"/>
          </a:xfrm>
          <a:prstGeom prst="rect">
            <a:avLst/>
          </a:prstGeom>
          <a:noFill/>
          <a:ln/>
        </p:spPr>
        <p:txBody>
          <a:bodyPr wrap="square" lIns="0" tIns="0" rIns="0" bIns="0" rtlCol="0" anchor="ctr"/>
          <a:lstStyle/>
          <a:p>
            <a:pPr marL="0" indent="0" algn="l">
              <a:buNone/>
            </a:pPr>
            <a:r>
              <a:rPr lang="en-US" sz="850" i="1" dirty="0">
                <a:solidFill>
                  <a:srgbClr val="9AA1AC"/>
                </a:solidFill>
                <a:latin typeface="Calibri" pitchFamily="34" charset="0"/>
                <a:ea typeface="Calibri" pitchFamily="34" charset="-122"/>
                <a:cs typeface="Calibri" pitchFamily="34" charset="-120"/>
              </a:rPr>
              <a:t>Source: Propsearch.ae (embedded Google Maps reference)</a:t>
            </a:r>
            <a:endParaRPr lang="en-US" sz="850" dirty="0"/>
          </a:p>
        </p:txBody>
      </p:sp>
      <p:sp>
        <p:nvSpPr>
          <p:cNvPr id="9" name="Shape 6"/>
          <p:cNvSpPr/>
          <p:nvPr/>
        </p:nvSpPr>
        <p:spPr>
          <a:xfrm>
            <a:off x="5715000" y="1417320"/>
            <a:ext cx="2872588" cy="1078992"/>
          </a:xfrm>
          <a:prstGeom prst="rect">
            <a:avLst/>
          </a:prstGeom>
          <a:solidFill>
            <a:srgbClr val="FFFFFF"/>
          </a:solidFill>
          <a:ln w="12700">
            <a:solidFill>
              <a:srgbClr val="E2E5EA"/>
            </a:solidFill>
            <a:prstDash val="solid"/>
          </a:ln>
          <a:effectLst>
            <a:outerShdw blurRad="88900" dist="25400" dir="5400000" algn="bl" rotWithShape="0">
              <a:srgbClr val="0B1F3A">
                <a:alpha val="10000"/>
              </a:srgbClr>
            </a:outerShdw>
          </a:effectLst>
        </p:spPr>
      </p:sp>
      <p:pic>
        <p:nvPicPr>
          <p:cNvPr id="10" name="Image 1" descr="icons/plane_navy.png"/>
          <p:cNvPicPr>
            <a:picLocks noChangeAspect="1"/>
          </p:cNvPicPr>
          <p:nvPr/>
        </p:nvPicPr>
        <p:blipFill>
          <a:blip r:embed="rId4"/>
          <a:stretch>
            <a:fillRect/>
          </a:stretch>
        </p:blipFill>
        <p:spPr>
          <a:xfrm>
            <a:off x="5897880" y="1581912"/>
            <a:ext cx="292608" cy="292608"/>
          </a:xfrm>
          <a:prstGeom prst="rect">
            <a:avLst/>
          </a:prstGeom>
        </p:spPr>
      </p:pic>
      <p:sp>
        <p:nvSpPr>
          <p:cNvPr id="11" name="Text 7"/>
          <p:cNvSpPr/>
          <p:nvPr/>
        </p:nvSpPr>
        <p:spPr>
          <a:xfrm>
            <a:off x="6281928" y="1536192"/>
            <a:ext cx="2122780" cy="256032"/>
          </a:xfrm>
          <a:prstGeom prst="rect">
            <a:avLst/>
          </a:prstGeom>
          <a:noFill/>
          <a:ln/>
        </p:spPr>
        <p:txBody>
          <a:bodyPr wrap="square" lIns="0" tIns="0" rIns="0" bIns="0" rtlCol="0" anchor="ctr"/>
          <a:lstStyle/>
          <a:p>
            <a:pPr marL="0" indent="0">
              <a:buNone/>
            </a:pPr>
            <a:r>
              <a:rPr lang="en-US" sz="1150" b="1" dirty="0">
                <a:solidFill>
                  <a:srgbClr val="0B1F3A"/>
                </a:solidFill>
                <a:latin typeface="Calibri" pitchFamily="34" charset="0"/>
                <a:ea typeface="Calibri" pitchFamily="34" charset="-122"/>
                <a:cs typeface="Calibri" pitchFamily="34" charset="-120"/>
              </a:rPr>
              <a:t>Airport Catalyst</a:t>
            </a:r>
            <a:endParaRPr lang="en-US" sz="1150" dirty="0"/>
          </a:p>
        </p:txBody>
      </p:sp>
      <p:sp>
        <p:nvSpPr>
          <p:cNvPr id="12" name="Text 8"/>
          <p:cNvSpPr/>
          <p:nvPr/>
        </p:nvSpPr>
        <p:spPr>
          <a:xfrm>
            <a:off x="5897880" y="1874520"/>
            <a:ext cx="2506828" cy="530352"/>
          </a:xfrm>
          <a:prstGeom prst="rect">
            <a:avLst/>
          </a:prstGeom>
          <a:noFill/>
          <a:ln/>
        </p:spPr>
        <p:txBody>
          <a:bodyPr wrap="square" lIns="0" tIns="0" rIns="0" bIns="0" rtlCol="0" anchor="t"/>
          <a:lstStyle/>
          <a:p>
            <a:pPr marL="0" indent="0">
              <a:lnSpc>
                <a:spcPct val="105000"/>
              </a:lnSpc>
              <a:buNone/>
            </a:pPr>
            <a:r>
              <a:rPr lang="en-US" sz="900" dirty="0">
                <a:solidFill>
                  <a:srgbClr val="666666"/>
                </a:solidFill>
                <a:latin typeface="Calibri" pitchFamily="34" charset="0"/>
                <a:ea typeface="Calibri" pitchFamily="34" charset="-122"/>
                <a:cs typeface="Calibri" pitchFamily="34" charset="-120"/>
              </a:rPr>
              <a:t>~7 min to Al Maktoum Intl. (DWC). AED 128bn expansion targets 150M passengers by 2032.</a:t>
            </a:r>
            <a:endParaRPr lang="en-US" sz="900" dirty="0"/>
          </a:p>
        </p:txBody>
      </p:sp>
      <p:sp>
        <p:nvSpPr>
          <p:cNvPr id="13" name="Shape 9"/>
          <p:cNvSpPr/>
          <p:nvPr/>
        </p:nvSpPr>
        <p:spPr>
          <a:xfrm>
            <a:off x="8816188" y="1417320"/>
            <a:ext cx="2872588" cy="1078992"/>
          </a:xfrm>
          <a:prstGeom prst="rect">
            <a:avLst/>
          </a:prstGeom>
          <a:solidFill>
            <a:srgbClr val="FFFFFF"/>
          </a:solidFill>
          <a:ln w="12700">
            <a:solidFill>
              <a:srgbClr val="E2E5EA"/>
            </a:solidFill>
            <a:prstDash val="solid"/>
          </a:ln>
          <a:effectLst>
            <a:outerShdw blurRad="88900" dist="25400" dir="5400000" algn="bl" rotWithShape="0">
              <a:srgbClr val="0B1F3A">
                <a:alpha val="10000"/>
              </a:srgbClr>
            </a:outerShdw>
          </a:effectLst>
        </p:spPr>
      </p:sp>
      <p:pic>
        <p:nvPicPr>
          <p:cNvPr id="14" name="Image 2" descr="icons/city_navy.png"/>
          <p:cNvPicPr>
            <a:picLocks noChangeAspect="1"/>
          </p:cNvPicPr>
          <p:nvPr/>
        </p:nvPicPr>
        <p:blipFill>
          <a:blip r:embed="rId5"/>
          <a:stretch>
            <a:fillRect/>
          </a:stretch>
        </p:blipFill>
        <p:spPr>
          <a:xfrm>
            <a:off x="8999068" y="1581912"/>
            <a:ext cx="292608" cy="292608"/>
          </a:xfrm>
          <a:prstGeom prst="rect">
            <a:avLst/>
          </a:prstGeom>
        </p:spPr>
      </p:pic>
      <p:sp>
        <p:nvSpPr>
          <p:cNvPr id="15" name="Text 10"/>
          <p:cNvSpPr/>
          <p:nvPr/>
        </p:nvSpPr>
        <p:spPr>
          <a:xfrm>
            <a:off x="9383116" y="1536192"/>
            <a:ext cx="2122780" cy="256032"/>
          </a:xfrm>
          <a:prstGeom prst="rect">
            <a:avLst/>
          </a:prstGeom>
          <a:noFill/>
          <a:ln/>
        </p:spPr>
        <p:txBody>
          <a:bodyPr wrap="square" lIns="0" tIns="0" rIns="0" bIns="0" rtlCol="0" anchor="ctr"/>
          <a:lstStyle/>
          <a:p>
            <a:pPr marL="0" indent="0">
              <a:buNone/>
            </a:pPr>
            <a:r>
              <a:rPr lang="en-US" sz="1150" b="1" dirty="0">
                <a:solidFill>
                  <a:srgbClr val="0B1F3A"/>
                </a:solidFill>
                <a:latin typeface="Calibri" pitchFamily="34" charset="0"/>
                <a:ea typeface="Calibri" pitchFamily="34" charset="-122"/>
                <a:cs typeface="Calibri" pitchFamily="34" charset="-120"/>
              </a:rPr>
              <a:t>Expo City Influence</a:t>
            </a:r>
            <a:endParaRPr lang="en-US" sz="1150" dirty="0"/>
          </a:p>
        </p:txBody>
      </p:sp>
      <p:sp>
        <p:nvSpPr>
          <p:cNvPr id="16" name="Text 11"/>
          <p:cNvSpPr/>
          <p:nvPr/>
        </p:nvSpPr>
        <p:spPr>
          <a:xfrm>
            <a:off x="8999068" y="1874520"/>
            <a:ext cx="2506828" cy="530352"/>
          </a:xfrm>
          <a:prstGeom prst="rect">
            <a:avLst/>
          </a:prstGeom>
          <a:noFill/>
          <a:ln/>
        </p:spPr>
        <p:txBody>
          <a:bodyPr wrap="square" lIns="0" tIns="0" rIns="0" bIns="0" rtlCol="0" anchor="t"/>
          <a:lstStyle/>
          <a:p>
            <a:pPr marL="0" indent="0">
              <a:lnSpc>
                <a:spcPct val="105000"/>
              </a:lnSpc>
              <a:buNone/>
            </a:pPr>
            <a:r>
              <a:rPr lang="en-US" sz="900" dirty="0">
                <a:solidFill>
                  <a:srgbClr val="666666"/>
                </a:solidFill>
                <a:latin typeface="Calibri" pitchFamily="34" charset="0"/>
                <a:ea typeface="Calibri" pitchFamily="34" charset="-122"/>
                <a:cs typeface="Calibri" pitchFamily="34" charset="-120"/>
              </a:rPr>
              <a:t>10.6 km away. AED 154.9bn projected GVA contribution 2013–2042 (EY 2023 study).</a:t>
            </a:r>
            <a:endParaRPr lang="en-US" sz="900" dirty="0"/>
          </a:p>
        </p:txBody>
      </p:sp>
      <p:sp>
        <p:nvSpPr>
          <p:cNvPr id="17" name="Shape 12"/>
          <p:cNvSpPr/>
          <p:nvPr/>
        </p:nvSpPr>
        <p:spPr>
          <a:xfrm>
            <a:off x="5715000" y="2642616"/>
            <a:ext cx="2872588" cy="1078992"/>
          </a:xfrm>
          <a:prstGeom prst="rect">
            <a:avLst/>
          </a:prstGeom>
          <a:solidFill>
            <a:srgbClr val="FFFFFF"/>
          </a:solidFill>
          <a:ln w="12700">
            <a:solidFill>
              <a:srgbClr val="E2E5EA"/>
            </a:solidFill>
            <a:prstDash val="solid"/>
          </a:ln>
          <a:effectLst>
            <a:outerShdw blurRad="88900" dist="25400" dir="5400000" algn="bl" rotWithShape="0">
              <a:srgbClr val="0B1F3A">
                <a:alpha val="10000"/>
              </a:srgbClr>
            </a:outerShdw>
          </a:effectLst>
        </p:spPr>
      </p:sp>
      <p:pic>
        <p:nvPicPr>
          <p:cNvPr id="18" name="Image 3" descr="icons/school_navy.png"/>
          <p:cNvPicPr>
            <a:picLocks noChangeAspect="1"/>
          </p:cNvPicPr>
          <p:nvPr/>
        </p:nvPicPr>
        <p:blipFill>
          <a:blip r:embed="rId6"/>
          <a:stretch>
            <a:fillRect/>
          </a:stretch>
        </p:blipFill>
        <p:spPr>
          <a:xfrm>
            <a:off x="5897880" y="2807208"/>
            <a:ext cx="292608" cy="292608"/>
          </a:xfrm>
          <a:prstGeom prst="rect">
            <a:avLst/>
          </a:prstGeom>
        </p:spPr>
      </p:pic>
      <p:sp>
        <p:nvSpPr>
          <p:cNvPr id="19" name="Text 13"/>
          <p:cNvSpPr/>
          <p:nvPr/>
        </p:nvSpPr>
        <p:spPr>
          <a:xfrm>
            <a:off x="6281928" y="2761488"/>
            <a:ext cx="2122780" cy="256032"/>
          </a:xfrm>
          <a:prstGeom prst="rect">
            <a:avLst/>
          </a:prstGeom>
          <a:noFill/>
          <a:ln/>
        </p:spPr>
        <p:txBody>
          <a:bodyPr wrap="square" lIns="0" tIns="0" rIns="0" bIns="0" rtlCol="0" anchor="ctr"/>
          <a:lstStyle/>
          <a:p>
            <a:pPr marL="0" indent="0">
              <a:buNone/>
            </a:pPr>
            <a:r>
              <a:rPr lang="en-US" sz="1150" b="1" dirty="0">
                <a:solidFill>
                  <a:srgbClr val="0B1F3A"/>
                </a:solidFill>
                <a:latin typeface="Calibri" pitchFamily="34" charset="0"/>
                <a:ea typeface="Calibri" pitchFamily="34" charset="-122"/>
                <a:cs typeface="Calibri" pitchFamily="34" charset="-120"/>
              </a:rPr>
              <a:t>Education Access</a:t>
            </a:r>
            <a:endParaRPr lang="en-US" sz="1150" dirty="0"/>
          </a:p>
        </p:txBody>
      </p:sp>
      <p:sp>
        <p:nvSpPr>
          <p:cNvPr id="20" name="Text 14"/>
          <p:cNvSpPr/>
          <p:nvPr/>
        </p:nvSpPr>
        <p:spPr>
          <a:xfrm>
            <a:off x="5897880" y="3099816"/>
            <a:ext cx="2506828" cy="530352"/>
          </a:xfrm>
          <a:prstGeom prst="rect">
            <a:avLst/>
          </a:prstGeom>
          <a:noFill/>
          <a:ln/>
        </p:spPr>
        <p:txBody>
          <a:bodyPr wrap="square" lIns="0" tIns="0" rIns="0" bIns="0" rtlCol="0" anchor="t"/>
          <a:lstStyle/>
          <a:p>
            <a:pPr marL="0" indent="0">
              <a:lnSpc>
                <a:spcPct val="105000"/>
              </a:lnSpc>
              <a:buNone/>
            </a:pPr>
            <a:r>
              <a:rPr lang="en-US" sz="900" dirty="0">
                <a:solidFill>
                  <a:srgbClr val="666666"/>
                </a:solidFill>
                <a:latin typeface="Calibri" pitchFamily="34" charset="0"/>
                <a:ea typeface="Calibri" pitchFamily="34" charset="-122"/>
                <a:cs typeface="Calibri" pitchFamily="34" charset="-120"/>
              </a:rPr>
              <a:t>GEMS Founders School 1.0 km from Golf Acres; 3 more schools within 12–15 km.</a:t>
            </a:r>
            <a:endParaRPr lang="en-US" sz="900" dirty="0"/>
          </a:p>
        </p:txBody>
      </p:sp>
      <p:sp>
        <p:nvSpPr>
          <p:cNvPr id="21" name="Shape 15"/>
          <p:cNvSpPr/>
          <p:nvPr/>
        </p:nvSpPr>
        <p:spPr>
          <a:xfrm>
            <a:off x="8816188" y="2642616"/>
            <a:ext cx="2872588" cy="1078992"/>
          </a:xfrm>
          <a:prstGeom prst="rect">
            <a:avLst/>
          </a:prstGeom>
          <a:solidFill>
            <a:srgbClr val="FFFFFF"/>
          </a:solidFill>
          <a:ln w="12700">
            <a:solidFill>
              <a:srgbClr val="E2E5EA"/>
            </a:solidFill>
            <a:prstDash val="solid"/>
          </a:ln>
          <a:effectLst>
            <a:outerShdw blurRad="88900" dist="25400" dir="5400000" algn="bl" rotWithShape="0">
              <a:srgbClr val="0B1F3A">
                <a:alpha val="10000"/>
              </a:srgbClr>
            </a:outerShdw>
          </a:effectLst>
        </p:spPr>
      </p:sp>
      <p:pic>
        <p:nvPicPr>
          <p:cNvPr id="22" name="Image 4" descr="icons/route_navy.png"/>
          <p:cNvPicPr>
            <a:picLocks noChangeAspect="1"/>
          </p:cNvPicPr>
          <p:nvPr/>
        </p:nvPicPr>
        <p:blipFill>
          <a:blip r:embed="rId7"/>
          <a:stretch>
            <a:fillRect/>
          </a:stretch>
        </p:blipFill>
        <p:spPr>
          <a:xfrm>
            <a:off x="8999068" y="2807208"/>
            <a:ext cx="292608" cy="292608"/>
          </a:xfrm>
          <a:prstGeom prst="rect">
            <a:avLst/>
          </a:prstGeom>
        </p:spPr>
      </p:pic>
      <p:sp>
        <p:nvSpPr>
          <p:cNvPr id="23" name="Text 16"/>
          <p:cNvSpPr/>
          <p:nvPr/>
        </p:nvSpPr>
        <p:spPr>
          <a:xfrm>
            <a:off x="9383116" y="2761488"/>
            <a:ext cx="2122780" cy="256032"/>
          </a:xfrm>
          <a:prstGeom prst="rect">
            <a:avLst/>
          </a:prstGeom>
          <a:noFill/>
          <a:ln/>
        </p:spPr>
        <p:txBody>
          <a:bodyPr wrap="square" lIns="0" tIns="0" rIns="0" bIns="0" rtlCol="0" anchor="ctr"/>
          <a:lstStyle/>
          <a:p>
            <a:pPr marL="0" indent="0">
              <a:buNone/>
            </a:pPr>
            <a:r>
              <a:rPr lang="en-US" sz="1150" b="1" dirty="0">
                <a:solidFill>
                  <a:srgbClr val="0B1F3A"/>
                </a:solidFill>
                <a:latin typeface="Calibri" pitchFamily="34" charset="0"/>
                <a:ea typeface="Calibri" pitchFamily="34" charset="-122"/>
                <a:cs typeface="Calibri" pitchFamily="34" charset="-120"/>
              </a:rPr>
              <a:t>Highway Connectivity</a:t>
            </a:r>
            <a:endParaRPr lang="en-US" sz="1150" dirty="0"/>
          </a:p>
        </p:txBody>
      </p:sp>
      <p:sp>
        <p:nvSpPr>
          <p:cNvPr id="24" name="Text 17"/>
          <p:cNvSpPr/>
          <p:nvPr/>
        </p:nvSpPr>
        <p:spPr>
          <a:xfrm>
            <a:off x="8999068" y="3099816"/>
            <a:ext cx="2506828" cy="530352"/>
          </a:xfrm>
          <a:prstGeom prst="rect">
            <a:avLst/>
          </a:prstGeom>
          <a:noFill/>
          <a:ln/>
        </p:spPr>
        <p:txBody>
          <a:bodyPr wrap="square" lIns="0" tIns="0" rIns="0" bIns="0" rtlCol="0" anchor="t"/>
          <a:lstStyle/>
          <a:p>
            <a:pPr marL="0" indent="0">
              <a:lnSpc>
                <a:spcPct val="105000"/>
              </a:lnSpc>
              <a:buNone/>
            </a:pPr>
            <a:r>
              <a:rPr lang="en-US" sz="900" dirty="0">
                <a:solidFill>
                  <a:srgbClr val="666666"/>
                </a:solidFill>
                <a:latin typeface="Calibri" pitchFamily="34" charset="0"/>
                <a:ea typeface="Calibri" pitchFamily="34" charset="-122"/>
                <a:cs typeface="Calibri" pitchFamily="34" charset="-120"/>
              </a:rPr>
              <a:t>Direct access to E611 (Emirates Rd) and E311 (Sheikh Mohammed Bin Zayed Rd).</a:t>
            </a:r>
            <a:endParaRPr lang="en-US" sz="900" dirty="0"/>
          </a:p>
        </p:txBody>
      </p:sp>
      <p:sp>
        <p:nvSpPr>
          <p:cNvPr id="25" name="Shape 18"/>
          <p:cNvSpPr/>
          <p:nvPr/>
        </p:nvSpPr>
        <p:spPr>
          <a:xfrm>
            <a:off x="5715000" y="3867912"/>
            <a:ext cx="2872588" cy="1078992"/>
          </a:xfrm>
          <a:prstGeom prst="rect">
            <a:avLst/>
          </a:prstGeom>
          <a:solidFill>
            <a:srgbClr val="FFFFFF"/>
          </a:solidFill>
          <a:ln w="12700">
            <a:solidFill>
              <a:srgbClr val="E2E5EA"/>
            </a:solidFill>
            <a:prstDash val="solid"/>
          </a:ln>
          <a:effectLst>
            <a:outerShdw blurRad="88900" dist="25400" dir="5400000" algn="bl" rotWithShape="0">
              <a:srgbClr val="0B1F3A">
                <a:alpha val="10000"/>
              </a:srgbClr>
            </a:outerShdw>
          </a:effectLst>
        </p:spPr>
      </p:sp>
      <p:pic>
        <p:nvPicPr>
          <p:cNvPr id="26" name="Image 5" descr="icons/golf_navy.png"/>
          <p:cNvPicPr>
            <a:picLocks noChangeAspect="1"/>
          </p:cNvPicPr>
          <p:nvPr/>
        </p:nvPicPr>
        <p:blipFill>
          <a:blip r:embed="rId8"/>
          <a:stretch>
            <a:fillRect/>
          </a:stretch>
        </p:blipFill>
        <p:spPr>
          <a:xfrm>
            <a:off x="5897880" y="4032504"/>
            <a:ext cx="292608" cy="292608"/>
          </a:xfrm>
          <a:prstGeom prst="rect">
            <a:avLst/>
          </a:prstGeom>
        </p:spPr>
      </p:pic>
      <p:sp>
        <p:nvSpPr>
          <p:cNvPr id="27" name="Text 19"/>
          <p:cNvSpPr/>
          <p:nvPr/>
        </p:nvSpPr>
        <p:spPr>
          <a:xfrm>
            <a:off x="6281928" y="3986784"/>
            <a:ext cx="2122780" cy="256032"/>
          </a:xfrm>
          <a:prstGeom prst="rect">
            <a:avLst/>
          </a:prstGeom>
          <a:noFill/>
          <a:ln/>
        </p:spPr>
        <p:txBody>
          <a:bodyPr wrap="square" lIns="0" tIns="0" rIns="0" bIns="0" rtlCol="0" anchor="ctr"/>
          <a:lstStyle/>
          <a:p>
            <a:pPr marL="0" indent="0">
              <a:buNone/>
            </a:pPr>
            <a:r>
              <a:rPr lang="en-US" sz="1150" b="1" dirty="0">
                <a:solidFill>
                  <a:srgbClr val="0B1F3A"/>
                </a:solidFill>
                <a:latin typeface="Calibri" pitchFamily="34" charset="0"/>
                <a:ea typeface="Calibri" pitchFamily="34" charset="-122"/>
                <a:cs typeface="Calibri" pitchFamily="34" charset="-120"/>
              </a:rPr>
              <a:t>Lifestyle Core</a:t>
            </a:r>
            <a:endParaRPr lang="en-US" sz="1150" dirty="0"/>
          </a:p>
        </p:txBody>
      </p:sp>
      <p:sp>
        <p:nvSpPr>
          <p:cNvPr id="28" name="Text 20"/>
          <p:cNvSpPr/>
          <p:nvPr/>
        </p:nvSpPr>
        <p:spPr>
          <a:xfrm>
            <a:off x="5897880" y="4325112"/>
            <a:ext cx="2506828" cy="530352"/>
          </a:xfrm>
          <a:prstGeom prst="rect">
            <a:avLst/>
          </a:prstGeom>
          <a:noFill/>
          <a:ln/>
        </p:spPr>
        <p:txBody>
          <a:bodyPr wrap="square" lIns="0" tIns="0" rIns="0" bIns="0" rtlCol="0" anchor="t"/>
          <a:lstStyle/>
          <a:p>
            <a:pPr marL="0" indent="0">
              <a:lnSpc>
                <a:spcPct val="105000"/>
              </a:lnSpc>
              <a:buNone/>
            </a:pPr>
            <a:r>
              <a:rPr lang="en-US" sz="900" dirty="0">
                <a:solidFill>
                  <a:srgbClr val="666666"/>
                </a:solidFill>
                <a:latin typeface="Calibri" pitchFamily="34" charset="0"/>
                <a:ea typeface="Calibri" pitchFamily="34" charset="-122"/>
                <a:cs typeface="Calibri" pitchFamily="34" charset="-120"/>
              </a:rPr>
              <a:t>18-hole championship golf course; ~25 community parks across the masterplan.</a:t>
            </a:r>
            <a:endParaRPr lang="en-US" sz="900" dirty="0"/>
          </a:p>
        </p:txBody>
      </p:sp>
      <p:sp>
        <p:nvSpPr>
          <p:cNvPr id="29" name="Shape 21"/>
          <p:cNvSpPr/>
          <p:nvPr/>
        </p:nvSpPr>
        <p:spPr>
          <a:xfrm>
            <a:off x="8816188" y="3867912"/>
            <a:ext cx="2872588" cy="1078992"/>
          </a:xfrm>
          <a:prstGeom prst="rect">
            <a:avLst/>
          </a:prstGeom>
          <a:solidFill>
            <a:srgbClr val="FFFFFF"/>
          </a:solidFill>
          <a:ln w="12700">
            <a:solidFill>
              <a:srgbClr val="E2E5EA"/>
            </a:solidFill>
            <a:prstDash val="solid"/>
          </a:ln>
          <a:effectLst>
            <a:outerShdw blurRad="88900" dist="25400" dir="5400000" algn="bl" rotWithShape="0">
              <a:srgbClr val="0B1F3A">
                <a:alpha val="10000"/>
              </a:srgbClr>
            </a:outerShdw>
          </a:effectLst>
        </p:spPr>
      </p:sp>
      <p:pic>
        <p:nvPicPr>
          <p:cNvPr id="30" name="Image 6" descr="icons/layers_navy.png"/>
          <p:cNvPicPr>
            <a:picLocks noChangeAspect="1"/>
          </p:cNvPicPr>
          <p:nvPr/>
        </p:nvPicPr>
        <p:blipFill>
          <a:blip r:embed="rId9"/>
          <a:stretch>
            <a:fillRect/>
          </a:stretch>
        </p:blipFill>
        <p:spPr>
          <a:xfrm>
            <a:off x="8999068" y="4032504"/>
            <a:ext cx="292608" cy="292608"/>
          </a:xfrm>
          <a:prstGeom prst="rect">
            <a:avLst/>
          </a:prstGeom>
        </p:spPr>
      </p:pic>
      <p:sp>
        <p:nvSpPr>
          <p:cNvPr id="31" name="Text 22"/>
          <p:cNvSpPr/>
          <p:nvPr/>
        </p:nvSpPr>
        <p:spPr>
          <a:xfrm>
            <a:off x="9383116" y="3986784"/>
            <a:ext cx="2122780" cy="256032"/>
          </a:xfrm>
          <a:prstGeom prst="rect">
            <a:avLst/>
          </a:prstGeom>
          <a:noFill/>
          <a:ln/>
        </p:spPr>
        <p:txBody>
          <a:bodyPr wrap="square" lIns="0" tIns="0" rIns="0" bIns="0" rtlCol="0" anchor="ctr"/>
          <a:lstStyle/>
          <a:p>
            <a:pPr marL="0" indent="0">
              <a:buNone/>
            </a:pPr>
            <a:r>
              <a:rPr lang="en-US" sz="1150" b="1" dirty="0">
                <a:solidFill>
                  <a:srgbClr val="0B1F3A"/>
                </a:solidFill>
                <a:latin typeface="Calibri" pitchFamily="34" charset="0"/>
                <a:ea typeface="Calibri" pitchFamily="34" charset="-122"/>
                <a:cs typeface="Calibri" pitchFamily="34" charset="-120"/>
              </a:rPr>
              <a:t>Masterplan Scale</a:t>
            </a:r>
            <a:endParaRPr lang="en-US" sz="1150" dirty="0"/>
          </a:p>
        </p:txBody>
      </p:sp>
      <p:sp>
        <p:nvSpPr>
          <p:cNvPr id="32" name="Text 23"/>
          <p:cNvSpPr/>
          <p:nvPr/>
        </p:nvSpPr>
        <p:spPr>
          <a:xfrm>
            <a:off x="8999068" y="4325112"/>
            <a:ext cx="2506828" cy="530352"/>
          </a:xfrm>
          <a:prstGeom prst="rect">
            <a:avLst/>
          </a:prstGeom>
          <a:noFill/>
          <a:ln/>
        </p:spPr>
        <p:txBody>
          <a:bodyPr wrap="square" lIns="0" tIns="0" rIns="0" bIns="0" rtlCol="0" anchor="t"/>
          <a:lstStyle/>
          <a:p>
            <a:pPr marL="0" indent="0">
              <a:lnSpc>
                <a:spcPct val="105000"/>
              </a:lnSpc>
              <a:buNone/>
            </a:pPr>
            <a:r>
              <a:rPr lang="en-US" sz="900" dirty="0">
                <a:solidFill>
                  <a:srgbClr val="666666"/>
                </a:solidFill>
                <a:latin typeface="Calibri" pitchFamily="34" charset="0"/>
                <a:ea typeface="Calibri" pitchFamily="34" charset="-122"/>
                <a:cs typeface="Calibri" pitchFamily="34" charset="-120"/>
              </a:rPr>
              <a:t>700 hectares; 15,000–22,850 planned units across 24 sub-communities.</a:t>
            </a:r>
            <a:endParaRPr lang="en-US" sz="900" dirty="0"/>
          </a:p>
        </p:txBody>
      </p:sp>
      <p:sp>
        <p:nvSpPr>
          <p:cNvPr id="33" name="Shape 24"/>
          <p:cNvSpPr/>
          <p:nvPr/>
        </p:nvSpPr>
        <p:spPr>
          <a:xfrm>
            <a:off x="502920" y="5806440"/>
            <a:ext cx="11185855" cy="566928"/>
          </a:xfrm>
          <a:prstGeom prst="rect">
            <a:avLst/>
          </a:prstGeom>
          <a:solidFill>
            <a:srgbClr val="EEF1F6"/>
          </a:solidFill>
          <a:ln/>
        </p:spPr>
      </p:sp>
      <p:pic>
        <p:nvPicPr>
          <p:cNvPr id="34" name="Image 7" descr="icons/star_gold.png"/>
          <p:cNvPicPr>
            <a:picLocks noChangeAspect="1"/>
          </p:cNvPicPr>
          <p:nvPr/>
        </p:nvPicPr>
        <p:blipFill>
          <a:blip r:embed="rId10"/>
          <a:stretch>
            <a:fillRect/>
          </a:stretch>
        </p:blipFill>
        <p:spPr>
          <a:xfrm>
            <a:off x="667512" y="5952744"/>
            <a:ext cx="274320" cy="274320"/>
          </a:xfrm>
          <a:prstGeom prst="rect">
            <a:avLst/>
          </a:prstGeom>
        </p:spPr>
      </p:pic>
      <p:sp>
        <p:nvSpPr>
          <p:cNvPr id="35" name="Text 25"/>
          <p:cNvSpPr/>
          <p:nvPr/>
        </p:nvSpPr>
        <p:spPr>
          <a:xfrm>
            <a:off x="1069848" y="5806440"/>
            <a:ext cx="10454335" cy="566928"/>
          </a:xfrm>
          <a:prstGeom prst="rect">
            <a:avLst/>
          </a:prstGeom>
          <a:noFill/>
          <a:ln/>
        </p:spPr>
        <p:txBody>
          <a:bodyPr wrap="square" lIns="0" tIns="0" rIns="0" bIns="0" rtlCol="0" anchor="ctr"/>
          <a:lstStyle/>
          <a:p>
            <a:pPr marL="0" indent="0" algn="l">
              <a:lnSpc>
                <a:spcPct val="105000"/>
              </a:lnSpc>
              <a:buNone/>
            </a:pPr>
            <a:r>
              <a:rPr lang="en-US" sz="1050" b="1" kern="0" spc="100" dirty="0">
                <a:solidFill>
                  <a:srgbClr val="0B1F3A"/>
                </a:solidFill>
                <a:latin typeface="Calibri" pitchFamily="34" charset="0"/>
                <a:ea typeface="Calibri" pitchFamily="34" charset="-122"/>
                <a:cs typeface="Calibri" pitchFamily="34" charset="-120"/>
              </a:rPr>
              <a:t>EXECUTIVE INSIGHT   </a:t>
            </a:r>
            <a:r>
              <a:rPr lang="en-US" sz="1150" dirty="0">
                <a:solidFill>
                  <a:srgbClr val="0B1F3A"/>
                </a:solidFill>
                <a:latin typeface="Calibri" pitchFamily="34" charset="0"/>
                <a:ea typeface="Calibri" pitchFamily="34" charset="-122"/>
                <a:cs typeface="Calibri" pitchFamily="34" charset="-120"/>
              </a:rPr>
              <a:t>Emaar South's growth thesis is structurally funded, not sentiment-driven — but the principal catalyst (Airport Phase 1) lands in 2032, not today.</a:t>
            </a:r>
            <a:endParaRPr lang="en-US" sz="1050" dirty="0"/>
          </a:p>
        </p:txBody>
      </p:sp>
      <p:sp>
        <p:nvSpPr>
          <p:cNvPr id="36" name="Text 26"/>
          <p:cNvSpPr/>
          <p:nvPr/>
        </p:nvSpPr>
        <p:spPr>
          <a:xfrm>
            <a:off x="502920" y="6510528"/>
            <a:ext cx="3657600" cy="256032"/>
          </a:xfrm>
          <a:prstGeom prst="rect">
            <a:avLst/>
          </a:prstGeom>
          <a:noFill/>
          <a:ln/>
        </p:spPr>
        <p:txBody>
          <a:bodyPr wrap="square" lIns="0" tIns="0" rIns="0" bIns="0" rtlCol="0" anchor="ctr"/>
          <a:lstStyle/>
          <a:p>
            <a:pPr marL="0" indent="0" algn="l">
              <a:buNone/>
            </a:pPr>
            <a:r>
              <a:rPr lang="en-US" sz="800" kern="0" spc="100" dirty="0">
                <a:solidFill>
                  <a:srgbClr val="9AA1AC"/>
                </a:solidFill>
                <a:latin typeface="Calibri" pitchFamily="34" charset="0"/>
                <a:ea typeface="Calibri" pitchFamily="34" charset="-122"/>
                <a:cs typeface="Calibri" pitchFamily="34" charset="-120"/>
              </a:rPr>
              <a:t>LUXURY REAL ESTATE INVESTMENT ADVISORY</a:t>
            </a:r>
            <a:endParaRPr lang="en-US" sz="800" dirty="0"/>
          </a:p>
        </p:txBody>
      </p:sp>
      <p:sp>
        <p:nvSpPr>
          <p:cNvPr id="37" name="Text 27"/>
          <p:cNvSpPr/>
          <p:nvPr/>
        </p:nvSpPr>
        <p:spPr>
          <a:xfrm>
            <a:off x="3809848" y="6510528"/>
            <a:ext cx="4572000" cy="256032"/>
          </a:xfrm>
          <a:prstGeom prst="rect">
            <a:avLst/>
          </a:prstGeom>
          <a:noFill/>
          <a:ln/>
        </p:spPr>
        <p:txBody>
          <a:bodyPr wrap="square" lIns="0" tIns="0" rIns="0" bIns="0" rtlCol="0" anchor="ctr"/>
          <a:lstStyle/>
          <a:p>
            <a:pPr marL="0" indent="0" algn="ctr">
              <a:buNone/>
            </a:pPr>
            <a:r>
              <a:rPr lang="en-US" sz="800" dirty="0">
                <a:solidFill>
                  <a:srgbClr val="9AA1AC"/>
                </a:solidFill>
                <a:latin typeface="Calibri" pitchFamily="34" charset="0"/>
                <a:ea typeface="Calibri" pitchFamily="34" charset="-122"/>
                <a:cs typeface="Calibri" pitchFamily="34" charset="-120"/>
              </a:rPr>
              <a:t>Area Intelligence</a:t>
            </a:r>
            <a:endParaRPr lang="en-US" sz="800" dirty="0"/>
          </a:p>
        </p:txBody>
      </p:sp>
      <p:sp>
        <p:nvSpPr>
          <p:cNvPr id="38" name="Text 28"/>
          <p:cNvSpPr/>
          <p:nvPr/>
        </p:nvSpPr>
        <p:spPr>
          <a:xfrm>
            <a:off x="8031175" y="6510528"/>
            <a:ext cx="3657600" cy="256032"/>
          </a:xfrm>
          <a:prstGeom prst="rect">
            <a:avLst/>
          </a:prstGeom>
          <a:noFill/>
          <a:ln/>
        </p:spPr>
        <p:txBody>
          <a:bodyPr wrap="square" lIns="0" tIns="0" rIns="0" bIns="0" rtlCol="0" anchor="ctr"/>
          <a:lstStyle/>
          <a:p>
            <a:pPr marL="0" indent="0" algn="r">
              <a:buNone/>
            </a:pPr>
            <a:r>
              <a:rPr lang="en-US" sz="800" dirty="0">
                <a:solidFill>
                  <a:srgbClr val="9AA1AC"/>
                </a:solidFill>
                <a:latin typeface="Calibri" pitchFamily="34" charset="0"/>
                <a:ea typeface="Calibri" pitchFamily="34" charset="-122"/>
                <a:cs typeface="Calibri" pitchFamily="34" charset="-120"/>
              </a:rPr>
              <a:t>04</a:t>
            </a:r>
            <a:endParaRPr lang="en-US" sz="800" dirty="0"/>
          </a:p>
        </p:txBody>
      </p:sp>
      <p:pic>
        <p:nvPicPr>
          <p:cNvPr id="40" name="Picture 39">
            <a:extLst>
              <a:ext uri="{FF2B5EF4-FFF2-40B4-BE49-F238E27FC236}">
                <a16:creationId xmlns:a16="http://schemas.microsoft.com/office/drawing/2014/main" id="{07DE2E2E-09BC-D71C-D99E-EEED69D62ACC}"/>
              </a:ext>
            </a:extLst>
          </p:cNvPr>
          <p:cNvPicPr>
            <a:picLocks noChangeAspect="1"/>
          </p:cNvPicPr>
          <p:nvPr/>
        </p:nvPicPr>
        <p:blipFill>
          <a:blip r:embed="rId11"/>
          <a:stretch>
            <a:fillRect/>
          </a:stretch>
        </p:blipFill>
        <p:spPr>
          <a:xfrm>
            <a:off x="483930" y="1330176"/>
            <a:ext cx="4846804" cy="3699024"/>
          </a:xfrm>
          <a:prstGeom prst="rect">
            <a:avLst/>
          </a:prstGeom>
        </p:spPr>
      </p:pic>
      <p:cxnSp>
        <p:nvCxnSpPr>
          <p:cNvPr id="42" name="Straight Arrow Connector 41">
            <a:extLst>
              <a:ext uri="{FF2B5EF4-FFF2-40B4-BE49-F238E27FC236}">
                <a16:creationId xmlns:a16="http://schemas.microsoft.com/office/drawing/2014/main" id="{F76C2814-C40E-5C85-3E6F-83E5ECED95A7}"/>
              </a:ext>
            </a:extLst>
          </p:cNvPr>
          <p:cNvCxnSpPr>
            <a:cxnSpLocks/>
          </p:cNvCxnSpPr>
          <p:nvPr/>
        </p:nvCxnSpPr>
        <p:spPr>
          <a:xfrm>
            <a:off x="2996588" y="1874520"/>
            <a:ext cx="77118" cy="22402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EA92659A-301D-776B-18D5-568C997439DA}"/>
              </a:ext>
            </a:extLst>
          </p:cNvPr>
          <p:cNvCxnSpPr/>
          <p:nvPr/>
        </p:nvCxnSpPr>
        <p:spPr>
          <a:xfrm>
            <a:off x="1239288" y="1581912"/>
            <a:ext cx="0" cy="30632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BF8FDDA4-DE3C-CEBC-30E4-A26A97F563D9}"/>
              </a:ext>
            </a:extLst>
          </p:cNvPr>
          <p:cNvCxnSpPr/>
          <p:nvPr/>
        </p:nvCxnSpPr>
        <p:spPr>
          <a:xfrm>
            <a:off x="2697480" y="3719900"/>
            <a:ext cx="0" cy="39319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42D7C10D-7B9B-F8C6-9CC0-BC3872F90DE1}"/>
              </a:ext>
            </a:extLst>
          </p:cNvPr>
          <p:cNvCxnSpPr/>
          <p:nvPr/>
        </p:nvCxnSpPr>
        <p:spPr>
          <a:xfrm>
            <a:off x="2508531" y="2807208"/>
            <a:ext cx="291313"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219F1BD8-9AAB-CA9A-0F57-691C9E25FCD5}"/>
              </a:ext>
            </a:extLst>
          </p:cNvPr>
          <p:cNvCxnSpPr/>
          <p:nvPr/>
        </p:nvCxnSpPr>
        <p:spPr>
          <a:xfrm>
            <a:off x="4879497" y="2872673"/>
            <a:ext cx="0" cy="22714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lgn="l">
              <a:buNone/>
            </a:pPr>
            <a:r>
              <a:rPr lang="en-US" sz="1150" b="1" kern="0" spc="200" dirty="0">
                <a:solidFill>
                  <a:srgbClr val="C9A227"/>
                </a:solidFill>
                <a:latin typeface="Calibri" pitchFamily="34" charset="0"/>
                <a:ea typeface="Calibri" pitchFamily="34" charset="-122"/>
                <a:cs typeface="Calibri" pitchFamily="34" charset="-120"/>
              </a:rPr>
              <a:t>SECTION 04 · PROJECT RESEARCH</a:t>
            </a:r>
            <a:endParaRPr lang="en-US" sz="1150" dirty="0"/>
          </a:p>
        </p:txBody>
      </p:sp>
      <p:sp>
        <p:nvSpPr>
          <p:cNvPr id="3" name="Text 1"/>
          <p:cNvSpPr/>
          <p:nvPr/>
        </p:nvSpPr>
        <p:spPr>
          <a:xfrm>
            <a:off x="502920" y="658368"/>
            <a:ext cx="10607040" cy="566928"/>
          </a:xfrm>
          <a:prstGeom prst="rect">
            <a:avLst/>
          </a:prstGeom>
          <a:noFill/>
          <a:ln/>
        </p:spPr>
        <p:txBody>
          <a:bodyPr wrap="square" lIns="0" tIns="0" rIns="0" bIns="0" rtlCol="0" anchor="ctr"/>
          <a:lstStyle/>
          <a:p>
            <a:pPr marL="0" indent="0" algn="l">
              <a:buNone/>
            </a:pPr>
            <a:r>
              <a:rPr lang="en-US" sz="2600" b="1" dirty="0">
                <a:solidFill>
                  <a:srgbClr val="0B1F3A"/>
                </a:solidFill>
                <a:latin typeface="Cambria" pitchFamily="34" charset="0"/>
                <a:ea typeface="Cambria" pitchFamily="34" charset="-122"/>
                <a:cs typeface="Cambria" pitchFamily="34" charset="-120"/>
              </a:rPr>
              <a:t>Property Overview: Golf Acres vs. Greenspoint</a:t>
            </a:r>
            <a:endParaRPr lang="en-US" sz="2600" dirty="0"/>
          </a:p>
        </p:txBody>
      </p:sp>
      <p:sp>
        <p:nvSpPr>
          <p:cNvPr id="4" name="Shape 2"/>
          <p:cNvSpPr/>
          <p:nvPr/>
        </p:nvSpPr>
        <p:spPr>
          <a:xfrm>
            <a:off x="502920" y="1417320"/>
            <a:ext cx="5437480" cy="3429000"/>
          </a:xfrm>
          <a:prstGeom prst="rect">
            <a:avLst/>
          </a:prstGeom>
          <a:solidFill>
            <a:srgbClr val="FFFFFF"/>
          </a:solidFill>
          <a:ln w="12700">
            <a:solidFill>
              <a:srgbClr val="E2E5EA"/>
            </a:solidFill>
            <a:prstDash val="solid"/>
          </a:ln>
          <a:effectLst>
            <a:outerShdw blurRad="88900" dist="25400" dir="5400000" algn="bl" rotWithShape="0">
              <a:srgbClr val="0B1F3A">
                <a:alpha val="10000"/>
              </a:srgbClr>
            </a:outerShdw>
          </a:effectLst>
        </p:spPr>
      </p:sp>
      <p:sp>
        <p:nvSpPr>
          <p:cNvPr id="5" name="Text 3"/>
          <p:cNvSpPr/>
          <p:nvPr/>
        </p:nvSpPr>
        <p:spPr>
          <a:xfrm>
            <a:off x="758952" y="1600200"/>
            <a:ext cx="3974440" cy="365760"/>
          </a:xfrm>
          <a:prstGeom prst="rect">
            <a:avLst/>
          </a:prstGeom>
          <a:noFill/>
          <a:ln/>
        </p:spPr>
        <p:txBody>
          <a:bodyPr wrap="square" lIns="0" tIns="0" rIns="0" bIns="0" rtlCol="0" anchor="ctr"/>
          <a:lstStyle/>
          <a:p>
            <a:pPr marL="0" indent="0">
              <a:buNone/>
            </a:pPr>
            <a:r>
              <a:rPr lang="en-US" sz="1900" b="1" dirty="0">
                <a:solidFill>
                  <a:srgbClr val="0B1F3A"/>
                </a:solidFill>
                <a:latin typeface="Cambria" pitchFamily="34" charset="0"/>
                <a:ea typeface="Cambria" pitchFamily="34" charset="-122"/>
                <a:cs typeface="Cambria" pitchFamily="34" charset="-120"/>
              </a:rPr>
              <a:t>Golf Acres</a:t>
            </a:r>
            <a:endParaRPr lang="en-US" sz="1900" dirty="0"/>
          </a:p>
        </p:txBody>
      </p:sp>
      <p:sp>
        <p:nvSpPr>
          <p:cNvPr id="6" name="Shape 4"/>
          <p:cNvSpPr/>
          <p:nvPr/>
        </p:nvSpPr>
        <p:spPr>
          <a:xfrm>
            <a:off x="4568800" y="1618488"/>
            <a:ext cx="1115568" cy="310896"/>
          </a:xfrm>
          <a:prstGeom prst="rect">
            <a:avLst/>
          </a:prstGeom>
          <a:solidFill>
            <a:srgbClr val="1E7B45"/>
          </a:solidFill>
          <a:ln/>
        </p:spPr>
      </p:sp>
      <p:sp>
        <p:nvSpPr>
          <p:cNvPr id="7" name="Text 5"/>
          <p:cNvSpPr/>
          <p:nvPr/>
        </p:nvSpPr>
        <p:spPr>
          <a:xfrm>
            <a:off x="4568800" y="1618488"/>
            <a:ext cx="1115568" cy="31089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WITHIN BUDGET</a:t>
            </a:r>
            <a:endParaRPr lang="en-US" sz="900" dirty="0"/>
          </a:p>
        </p:txBody>
      </p:sp>
      <p:sp>
        <p:nvSpPr>
          <p:cNvPr id="8" name="Shape 6"/>
          <p:cNvSpPr/>
          <p:nvPr/>
        </p:nvSpPr>
        <p:spPr>
          <a:xfrm>
            <a:off x="758952" y="2039112"/>
            <a:ext cx="4925416" cy="0"/>
          </a:xfrm>
          <a:prstGeom prst="line">
            <a:avLst/>
          </a:prstGeom>
          <a:noFill/>
          <a:ln w="12700">
            <a:solidFill>
              <a:srgbClr val="E2E5EA"/>
            </a:solidFill>
            <a:prstDash val="solid"/>
          </a:ln>
        </p:spPr>
      </p:sp>
      <p:sp>
        <p:nvSpPr>
          <p:cNvPr id="9" name="Text 7"/>
          <p:cNvSpPr/>
          <p:nvPr/>
        </p:nvSpPr>
        <p:spPr>
          <a:xfrm>
            <a:off x="758952" y="2167128"/>
            <a:ext cx="1554480" cy="384048"/>
          </a:xfrm>
          <a:prstGeom prst="rect">
            <a:avLst/>
          </a:prstGeom>
          <a:noFill/>
          <a:ln/>
        </p:spPr>
        <p:txBody>
          <a:bodyPr wrap="square" lIns="0" tIns="0" rIns="0" bIns="0" rtlCol="0" anchor="t"/>
          <a:lstStyle/>
          <a:p>
            <a:pPr marL="0" indent="0">
              <a:buNone/>
            </a:pPr>
            <a:r>
              <a:rPr lang="en-US" sz="850" b="1" kern="0" spc="30" dirty="0">
                <a:solidFill>
                  <a:srgbClr val="C9A227"/>
                </a:solidFill>
                <a:latin typeface="Calibri" pitchFamily="34" charset="0"/>
                <a:ea typeface="Calibri" pitchFamily="34" charset="-122"/>
                <a:cs typeface="Calibri" pitchFamily="34" charset="-120"/>
              </a:rPr>
              <a:t>DEVELOPER</a:t>
            </a:r>
            <a:endParaRPr lang="en-US" sz="850" dirty="0"/>
          </a:p>
        </p:txBody>
      </p:sp>
      <p:sp>
        <p:nvSpPr>
          <p:cNvPr id="10" name="Text 8"/>
          <p:cNvSpPr/>
          <p:nvPr/>
        </p:nvSpPr>
        <p:spPr>
          <a:xfrm>
            <a:off x="2331720" y="2167128"/>
            <a:ext cx="3352648" cy="384048"/>
          </a:xfrm>
          <a:prstGeom prst="rect">
            <a:avLst/>
          </a:prstGeom>
          <a:noFill/>
          <a:ln/>
        </p:spPr>
        <p:txBody>
          <a:bodyPr wrap="square" lIns="0" tIns="0" rIns="0" bIns="0" rtlCol="0" anchor="t"/>
          <a:lstStyle/>
          <a:p>
            <a:pPr marL="0" indent="0">
              <a:lnSpc>
                <a:spcPct val="100000"/>
              </a:lnSpc>
              <a:buNone/>
            </a:pPr>
            <a:r>
              <a:rPr lang="en-US" sz="1000" dirty="0">
                <a:solidFill>
                  <a:srgbClr val="0B1F3A"/>
                </a:solidFill>
                <a:latin typeface="Calibri" pitchFamily="34" charset="0"/>
                <a:ea typeface="Calibri" pitchFamily="34" charset="-122"/>
                <a:cs typeface="Calibri" pitchFamily="34" charset="-120"/>
              </a:rPr>
              <a:t>Emaar Properties (Emaar Dubai South DWC LLC)</a:t>
            </a:r>
            <a:endParaRPr lang="en-US" sz="1000" dirty="0"/>
          </a:p>
        </p:txBody>
      </p:sp>
      <p:sp>
        <p:nvSpPr>
          <p:cNvPr id="11" name="Text 9"/>
          <p:cNvSpPr/>
          <p:nvPr/>
        </p:nvSpPr>
        <p:spPr>
          <a:xfrm>
            <a:off x="758952" y="2564892"/>
            <a:ext cx="1554480" cy="384048"/>
          </a:xfrm>
          <a:prstGeom prst="rect">
            <a:avLst/>
          </a:prstGeom>
          <a:noFill/>
          <a:ln/>
        </p:spPr>
        <p:txBody>
          <a:bodyPr wrap="square" lIns="0" tIns="0" rIns="0" bIns="0" rtlCol="0" anchor="t"/>
          <a:lstStyle/>
          <a:p>
            <a:pPr marL="0" indent="0">
              <a:buNone/>
            </a:pPr>
            <a:r>
              <a:rPr lang="en-US" sz="850" b="1" kern="0" spc="30" dirty="0">
                <a:solidFill>
                  <a:srgbClr val="C9A227"/>
                </a:solidFill>
                <a:latin typeface="Calibri" pitchFamily="34" charset="0"/>
                <a:ea typeface="Calibri" pitchFamily="34" charset="-122"/>
                <a:cs typeface="Calibri" pitchFamily="34" charset="-120"/>
              </a:rPr>
              <a:t>UNIT MIX</a:t>
            </a:r>
            <a:endParaRPr lang="en-US" sz="850" dirty="0"/>
          </a:p>
        </p:txBody>
      </p:sp>
      <p:sp>
        <p:nvSpPr>
          <p:cNvPr id="12" name="Text 10"/>
          <p:cNvSpPr/>
          <p:nvPr/>
        </p:nvSpPr>
        <p:spPr>
          <a:xfrm>
            <a:off x="2331720" y="2564892"/>
            <a:ext cx="3352648" cy="384048"/>
          </a:xfrm>
          <a:prstGeom prst="rect">
            <a:avLst/>
          </a:prstGeom>
          <a:noFill/>
          <a:ln/>
        </p:spPr>
        <p:txBody>
          <a:bodyPr wrap="square" lIns="0" tIns="0" rIns="0" bIns="0" rtlCol="0" anchor="t"/>
          <a:lstStyle/>
          <a:p>
            <a:pPr marL="0" indent="0">
              <a:lnSpc>
                <a:spcPct val="100000"/>
              </a:lnSpc>
              <a:buNone/>
            </a:pPr>
            <a:r>
              <a:rPr lang="en-US" sz="1000" dirty="0">
                <a:solidFill>
                  <a:srgbClr val="0B1F3A"/>
                </a:solidFill>
                <a:latin typeface="Calibri" pitchFamily="34" charset="0"/>
                <a:ea typeface="Calibri" pitchFamily="34" charset="-122"/>
                <a:cs typeface="Calibri" pitchFamily="34" charset="-120"/>
              </a:rPr>
              <a:t>1, 2, 3-bed apartments + 3-bed townhouses</a:t>
            </a:r>
            <a:endParaRPr lang="en-US" sz="1000" dirty="0"/>
          </a:p>
        </p:txBody>
      </p:sp>
      <p:sp>
        <p:nvSpPr>
          <p:cNvPr id="13" name="Text 11"/>
          <p:cNvSpPr/>
          <p:nvPr/>
        </p:nvSpPr>
        <p:spPr>
          <a:xfrm>
            <a:off x="758952" y="2962656"/>
            <a:ext cx="1554480" cy="384048"/>
          </a:xfrm>
          <a:prstGeom prst="rect">
            <a:avLst/>
          </a:prstGeom>
          <a:noFill/>
          <a:ln/>
        </p:spPr>
        <p:txBody>
          <a:bodyPr wrap="square" lIns="0" tIns="0" rIns="0" bIns="0" rtlCol="0" anchor="t"/>
          <a:lstStyle/>
          <a:p>
            <a:pPr marL="0" indent="0">
              <a:buNone/>
            </a:pPr>
            <a:r>
              <a:rPr lang="en-US" sz="850" b="1" kern="0" spc="30" dirty="0">
                <a:solidFill>
                  <a:srgbClr val="C9A227"/>
                </a:solidFill>
                <a:latin typeface="Calibri" pitchFamily="34" charset="0"/>
                <a:ea typeface="Calibri" pitchFamily="34" charset="-122"/>
                <a:cs typeface="Calibri" pitchFamily="34" charset="-120"/>
              </a:rPr>
              <a:t>ENTRY PRICE</a:t>
            </a:r>
            <a:endParaRPr lang="en-US" sz="850" dirty="0"/>
          </a:p>
        </p:txBody>
      </p:sp>
      <p:sp>
        <p:nvSpPr>
          <p:cNvPr id="14" name="Text 12"/>
          <p:cNvSpPr/>
          <p:nvPr/>
        </p:nvSpPr>
        <p:spPr>
          <a:xfrm>
            <a:off x="2331720" y="2962656"/>
            <a:ext cx="3352648" cy="384048"/>
          </a:xfrm>
          <a:prstGeom prst="rect">
            <a:avLst/>
          </a:prstGeom>
          <a:noFill/>
          <a:ln/>
        </p:spPr>
        <p:txBody>
          <a:bodyPr wrap="square" lIns="0" tIns="0" rIns="0" bIns="0" rtlCol="0" anchor="t"/>
          <a:lstStyle/>
          <a:p>
            <a:pPr marL="0" indent="0">
              <a:lnSpc>
                <a:spcPct val="100000"/>
              </a:lnSpc>
              <a:buNone/>
            </a:pPr>
            <a:r>
              <a:rPr lang="en-US" sz="1000" dirty="0">
                <a:solidFill>
                  <a:srgbClr val="0B1F3A"/>
                </a:solidFill>
                <a:latin typeface="Calibri" pitchFamily="34" charset="0"/>
                <a:ea typeface="Calibri" pitchFamily="34" charset="-122"/>
                <a:cs typeface="Calibri" pitchFamily="34" charset="-120"/>
              </a:rPr>
              <a:t>AED 950,000 (1-bed)  |  2-bed from AED 1,750,888</a:t>
            </a:r>
            <a:endParaRPr lang="en-US" sz="1000" dirty="0"/>
          </a:p>
        </p:txBody>
      </p:sp>
      <p:sp>
        <p:nvSpPr>
          <p:cNvPr id="15" name="Text 13"/>
          <p:cNvSpPr/>
          <p:nvPr/>
        </p:nvSpPr>
        <p:spPr>
          <a:xfrm>
            <a:off x="758952" y="3360420"/>
            <a:ext cx="1554480" cy="384048"/>
          </a:xfrm>
          <a:prstGeom prst="rect">
            <a:avLst/>
          </a:prstGeom>
          <a:noFill/>
          <a:ln/>
        </p:spPr>
        <p:txBody>
          <a:bodyPr wrap="square" lIns="0" tIns="0" rIns="0" bIns="0" rtlCol="0" anchor="t"/>
          <a:lstStyle/>
          <a:p>
            <a:pPr marL="0" indent="0">
              <a:buNone/>
            </a:pPr>
            <a:r>
              <a:rPr lang="en-US" sz="850" b="1" kern="0" spc="30" dirty="0">
                <a:solidFill>
                  <a:srgbClr val="C9A227"/>
                </a:solidFill>
                <a:latin typeface="Calibri" pitchFamily="34" charset="0"/>
                <a:ea typeface="Calibri" pitchFamily="34" charset="-122"/>
                <a:cs typeface="Calibri" pitchFamily="34" charset="-120"/>
              </a:rPr>
              <a:t>SIZES</a:t>
            </a:r>
            <a:endParaRPr lang="en-US" sz="850" dirty="0"/>
          </a:p>
        </p:txBody>
      </p:sp>
      <p:sp>
        <p:nvSpPr>
          <p:cNvPr id="16" name="Text 14"/>
          <p:cNvSpPr/>
          <p:nvPr/>
        </p:nvSpPr>
        <p:spPr>
          <a:xfrm>
            <a:off x="2331720" y="3360420"/>
            <a:ext cx="3352648" cy="384048"/>
          </a:xfrm>
          <a:prstGeom prst="rect">
            <a:avLst/>
          </a:prstGeom>
          <a:noFill/>
          <a:ln/>
        </p:spPr>
        <p:txBody>
          <a:bodyPr wrap="square" lIns="0" tIns="0" rIns="0" bIns="0" rtlCol="0" anchor="t"/>
          <a:lstStyle/>
          <a:p>
            <a:pPr marL="0" indent="0">
              <a:lnSpc>
                <a:spcPct val="100000"/>
              </a:lnSpc>
              <a:buNone/>
            </a:pPr>
            <a:r>
              <a:rPr lang="en-US" sz="1000" dirty="0">
                <a:solidFill>
                  <a:srgbClr val="0B1F3A"/>
                </a:solidFill>
                <a:latin typeface="Calibri" pitchFamily="34" charset="0"/>
                <a:ea typeface="Calibri" pitchFamily="34" charset="-122"/>
                <a:cs typeface="Calibri" pitchFamily="34" charset="-120"/>
              </a:rPr>
              <a:t>738–2,564 sq.ft across apartment range</a:t>
            </a:r>
            <a:endParaRPr lang="en-US" sz="1000" dirty="0"/>
          </a:p>
        </p:txBody>
      </p:sp>
      <p:sp>
        <p:nvSpPr>
          <p:cNvPr id="17" name="Text 15"/>
          <p:cNvSpPr/>
          <p:nvPr/>
        </p:nvSpPr>
        <p:spPr>
          <a:xfrm>
            <a:off x="758952" y="3758184"/>
            <a:ext cx="1554480" cy="384048"/>
          </a:xfrm>
          <a:prstGeom prst="rect">
            <a:avLst/>
          </a:prstGeom>
          <a:noFill/>
          <a:ln/>
        </p:spPr>
        <p:txBody>
          <a:bodyPr wrap="square" lIns="0" tIns="0" rIns="0" bIns="0" rtlCol="0" anchor="t"/>
          <a:lstStyle/>
          <a:p>
            <a:pPr marL="0" indent="0">
              <a:buNone/>
            </a:pPr>
            <a:r>
              <a:rPr lang="en-US" sz="850" b="1" kern="0" spc="30" dirty="0">
                <a:solidFill>
                  <a:srgbClr val="C9A227"/>
                </a:solidFill>
                <a:latin typeface="Calibri" pitchFamily="34" charset="0"/>
                <a:ea typeface="Calibri" pitchFamily="34" charset="-122"/>
                <a:cs typeface="Calibri" pitchFamily="34" charset="-120"/>
              </a:rPr>
              <a:t>AMENITIES</a:t>
            </a:r>
            <a:endParaRPr lang="en-US" sz="850" dirty="0"/>
          </a:p>
        </p:txBody>
      </p:sp>
      <p:sp>
        <p:nvSpPr>
          <p:cNvPr id="18" name="Text 16"/>
          <p:cNvSpPr/>
          <p:nvPr/>
        </p:nvSpPr>
        <p:spPr>
          <a:xfrm>
            <a:off x="2331720" y="3758184"/>
            <a:ext cx="3352648" cy="384048"/>
          </a:xfrm>
          <a:prstGeom prst="rect">
            <a:avLst/>
          </a:prstGeom>
          <a:noFill/>
          <a:ln/>
        </p:spPr>
        <p:txBody>
          <a:bodyPr wrap="square" lIns="0" tIns="0" rIns="0" bIns="0" rtlCol="0" anchor="t"/>
          <a:lstStyle/>
          <a:p>
            <a:pPr marL="0" indent="0">
              <a:lnSpc>
                <a:spcPct val="100000"/>
              </a:lnSpc>
              <a:buNone/>
            </a:pPr>
            <a:r>
              <a:rPr lang="en-US" sz="1000" dirty="0">
                <a:solidFill>
                  <a:srgbClr val="0B1F3A"/>
                </a:solidFill>
                <a:latin typeface="Calibri" pitchFamily="34" charset="0"/>
                <a:ea typeface="Calibri" pitchFamily="34" charset="-122"/>
                <a:cs typeface="Calibri" pitchFamily="34" charset="-120"/>
              </a:rPr>
              <a:t>Pool, gym, padel, jogging track, golf-course views</a:t>
            </a:r>
            <a:endParaRPr lang="en-US" sz="1000" dirty="0"/>
          </a:p>
        </p:txBody>
      </p:sp>
      <p:sp>
        <p:nvSpPr>
          <p:cNvPr id="19" name="Text 17"/>
          <p:cNvSpPr/>
          <p:nvPr/>
        </p:nvSpPr>
        <p:spPr>
          <a:xfrm>
            <a:off x="758952" y="4155948"/>
            <a:ext cx="1554480" cy="384048"/>
          </a:xfrm>
          <a:prstGeom prst="rect">
            <a:avLst/>
          </a:prstGeom>
          <a:noFill/>
          <a:ln/>
        </p:spPr>
        <p:txBody>
          <a:bodyPr wrap="square" lIns="0" tIns="0" rIns="0" bIns="0" rtlCol="0" anchor="t"/>
          <a:lstStyle/>
          <a:p>
            <a:pPr marL="0" indent="0">
              <a:buNone/>
            </a:pPr>
            <a:r>
              <a:rPr lang="en-US" sz="850" b="1" kern="0" spc="30" dirty="0">
                <a:solidFill>
                  <a:srgbClr val="C9A227"/>
                </a:solidFill>
                <a:latin typeface="Calibri" pitchFamily="34" charset="0"/>
                <a:ea typeface="Calibri" pitchFamily="34" charset="-122"/>
                <a:cs typeface="Calibri" pitchFamily="34" charset="-120"/>
              </a:rPr>
              <a:t>HANDOVER</a:t>
            </a:r>
            <a:endParaRPr lang="en-US" sz="850" dirty="0"/>
          </a:p>
        </p:txBody>
      </p:sp>
      <p:sp>
        <p:nvSpPr>
          <p:cNvPr id="20" name="Text 18"/>
          <p:cNvSpPr/>
          <p:nvPr/>
        </p:nvSpPr>
        <p:spPr>
          <a:xfrm>
            <a:off x="2331720" y="4155948"/>
            <a:ext cx="3352648" cy="384048"/>
          </a:xfrm>
          <a:prstGeom prst="rect">
            <a:avLst/>
          </a:prstGeom>
          <a:noFill/>
          <a:ln/>
        </p:spPr>
        <p:txBody>
          <a:bodyPr wrap="square" lIns="0" tIns="0" rIns="0" bIns="0" rtlCol="0" anchor="t"/>
          <a:lstStyle/>
          <a:p>
            <a:pPr marL="0" indent="0">
              <a:lnSpc>
                <a:spcPct val="100000"/>
              </a:lnSpc>
              <a:buNone/>
            </a:pPr>
            <a:r>
              <a:rPr lang="en-US" sz="1000" dirty="0">
                <a:solidFill>
                  <a:srgbClr val="0B1F3A"/>
                </a:solidFill>
                <a:latin typeface="Calibri" pitchFamily="34" charset="0"/>
                <a:ea typeface="Calibri" pitchFamily="34" charset="-122"/>
                <a:cs typeface="Calibri" pitchFamily="34" charset="-120"/>
              </a:rPr>
              <a:t>December 2028</a:t>
            </a:r>
            <a:endParaRPr lang="en-US" sz="1000" dirty="0"/>
          </a:p>
        </p:txBody>
      </p:sp>
      <p:sp>
        <p:nvSpPr>
          <p:cNvPr id="21" name="Text 19"/>
          <p:cNvSpPr/>
          <p:nvPr/>
        </p:nvSpPr>
        <p:spPr>
          <a:xfrm>
            <a:off x="758952" y="4553712"/>
            <a:ext cx="1554480" cy="384048"/>
          </a:xfrm>
          <a:prstGeom prst="rect">
            <a:avLst/>
          </a:prstGeom>
          <a:noFill/>
          <a:ln/>
        </p:spPr>
        <p:txBody>
          <a:bodyPr wrap="square" lIns="0" tIns="0" rIns="0" bIns="0" rtlCol="0" anchor="t"/>
          <a:lstStyle/>
          <a:p>
            <a:pPr marL="0" indent="0">
              <a:buNone/>
            </a:pPr>
            <a:r>
              <a:rPr lang="en-US" sz="850" b="1" kern="0" spc="30" dirty="0">
                <a:solidFill>
                  <a:srgbClr val="C9A227"/>
                </a:solidFill>
                <a:latin typeface="Calibri" pitchFamily="34" charset="0"/>
                <a:ea typeface="Calibri" pitchFamily="34" charset="-122"/>
                <a:cs typeface="Calibri" pitchFamily="34" charset="-120"/>
              </a:rPr>
              <a:t>DLD TRANSACTIONS</a:t>
            </a:r>
            <a:endParaRPr lang="en-US" sz="850" dirty="0"/>
          </a:p>
        </p:txBody>
      </p:sp>
      <p:sp>
        <p:nvSpPr>
          <p:cNvPr id="22" name="Text 20"/>
          <p:cNvSpPr/>
          <p:nvPr/>
        </p:nvSpPr>
        <p:spPr>
          <a:xfrm>
            <a:off x="2331720" y="4553712"/>
            <a:ext cx="3352648" cy="384048"/>
          </a:xfrm>
          <a:prstGeom prst="rect">
            <a:avLst/>
          </a:prstGeom>
          <a:noFill/>
          <a:ln/>
        </p:spPr>
        <p:txBody>
          <a:bodyPr wrap="square" lIns="0" tIns="0" rIns="0" bIns="0" rtlCol="0" anchor="t"/>
          <a:lstStyle/>
          <a:p>
            <a:pPr marL="0" indent="0">
              <a:lnSpc>
                <a:spcPct val="100000"/>
              </a:lnSpc>
              <a:buNone/>
            </a:pPr>
            <a:r>
              <a:rPr lang="en-US" sz="1000" dirty="0">
                <a:solidFill>
                  <a:srgbClr val="0B1F3A"/>
                </a:solidFill>
                <a:latin typeface="Calibri" pitchFamily="34" charset="0"/>
                <a:ea typeface="Calibri" pitchFamily="34" charset="-122"/>
                <a:cs typeface="Calibri" pitchFamily="34" charset="-120"/>
              </a:rPr>
              <a:t>50 recorded sales (Nov 2024 – Jun 2025)</a:t>
            </a:r>
            <a:endParaRPr lang="en-US" sz="1000" dirty="0"/>
          </a:p>
        </p:txBody>
      </p:sp>
      <p:sp>
        <p:nvSpPr>
          <p:cNvPr id="23" name="Shape 21"/>
          <p:cNvSpPr/>
          <p:nvPr/>
        </p:nvSpPr>
        <p:spPr>
          <a:xfrm>
            <a:off x="6251296" y="1417320"/>
            <a:ext cx="5437480" cy="3429000"/>
          </a:xfrm>
          <a:prstGeom prst="rect">
            <a:avLst/>
          </a:prstGeom>
          <a:solidFill>
            <a:srgbClr val="FFFFFF"/>
          </a:solidFill>
          <a:ln w="12700">
            <a:solidFill>
              <a:srgbClr val="E2E5EA"/>
            </a:solidFill>
            <a:prstDash val="solid"/>
          </a:ln>
          <a:effectLst>
            <a:outerShdw blurRad="88900" dist="25400" dir="5400000" algn="bl" rotWithShape="0">
              <a:srgbClr val="0B1F3A">
                <a:alpha val="10000"/>
              </a:srgbClr>
            </a:outerShdw>
          </a:effectLst>
        </p:spPr>
      </p:sp>
      <p:sp>
        <p:nvSpPr>
          <p:cNvPr id="24" name="Text 22"/>
          <p:cNvSpPr/>
          <p:nvPr/>
        </p:nvSpPr>
        <p:spPr>
          <a:xfrm>
            <a:off x="6507328" y="1600200"/>
            <a:ext cx="3974440" cy="365760"/>
          </a:xfrm>
          <a:prstGeom prst="rect">
            <a:avLst/>
          </a:prstGeom>
          <a:noFill/>
          <a:ln/>
        </p:spPr>
        <p:txBody>
          <a:bodyPr wrap="square" lIns="0" tIns="0" rIns="0" bIns="0" rtlCol="0" anchor="ctr"/>
          <a:lstStyle/>
          <a:p>
            <a:pPr marL="0" indent="0">
              <a:buNone/>
            </a:pPr>
            <a:r>
              <a:rPr lang="en-US" sz="1900" b="1" dirty="0">
                <a:solidFill>
                  <a:srgbClr val="0B1F3A"/>
                </a:solidFill>
                <a:latin typeface="Cambria" pitchFamily="34" charset="0"/>
                <a:ea typeface="Cambria" pitchFamily="34" charset="-122"/>
                <a:cs typeface="Cambria" pitchFamily="34" charset="-120"/>
              </a:rPr>
              <a:t>Greenspoint</a:t>
            </a:r>
            <a:endParaRPr lang="en-US" sz="1900" dirty="0"/>
          </a:p>
        </p:txBody>
      </p:sp>
      <p:sp>
        <p:nvSpPr>
          <p:cNvPr id="25" name="Shape 23"/>
          <p:cNvSpPr/>
          <p:nvPr/>
        </p:nvSpPr>
        <p:spPr>
          <a:xfrm>
            <a:off x="10317175" y="1618488"/>
            <a:ext cx="1115568" cy="310896"/>
          </a:xfrm>
          <a:prstGeom prst="rect">
            <a:avLst/>
          </a:prstGeom>
          <a:solidFill>
            <a:srgbClr val="B22222"/>
          </a:solidFill>
          <a:ln/>
        </p:spPr>
      </p:sp>
      <p:sp>
        <p:nvSpPr>
          <p:cNvPr id="26" name="Text 24"/>
          <p:cNvSpPr/>
          <p:nvPr/>
        </p:nvSpPr>
        <p:spPr>
          <a:xfrm>
            <a:off x="10317175" y="1618488"/>
            <a:ext cx="1115568" cy="31089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OVER BUDGET</a:t>
            </a:r>
            <a:endParaRPr lang="en-US" sz="900" dirty="0"/>
          </a:p>
        </p:txBody>
      </p:sp>
      <p:sp>
        <p:nvSpPr>
          <p:cNvPr id="27" name="Shape 25"/>
          <p:cNvSpPr/>
          <p:nvPr/>
        </p:nvSpPr>
        <p:spPr>
          <a:xfrm>
            <a:off x="6507328" y="2039112"/>
            <a:ext cx="4925416" cy="0"/>
          </a:xfrm>
          <a:prstGeom prst="line">
            <a:avLst/>
          </a:prstGeom>
          <a:noFill/>
          <a:ln w="12700">
            <a:solidFill>
              <a:srgbClr val="E2E5EA"/>
            </a:solidFill>
            <a:prstDash val="solid"/>
          </a:ln>
        </p:spPr>
      </p:sp>
      <p:sp>
        <p:nvSpPr>
          <p:cNvPr id="28" name="Text 26"/>
          <p:cNvSpPr/>
          <p:nvPr/>
        </p:nvSpPr>
        <p:spPr>
          <a:xfrm>
            <a:off x="6507328" y="2167128"/>
            <a:ext cx="1554480" cy="384048"/>
          </a:xfrm>
          <a:prstGeom prst="rect">
            <a:avLst/>
          </a:prstGeom>
          <a:noFill/>
          <a:ln/>
        </p:spPr>
        <p:txBody>
          <a:bodyPr wrap="square" lIns="0" tIns="0" rIns="0" bIns="0" rtlCol="0" anchor="t"/>
          <a:lstStyle/>
          <a:p>
            <a:pPr marL="0" indent="0">
              <a:buNone/>
            </a:pPr>
            <a:r>
              <a:rPr lang="en-US" sz="850" b="1" kern="0" spc="30" dirty="0">
                <a:solidFill>
                  <a:srgbClr val="C9A227"/>
                </a:solidFill>
                <a:latin typeface="Calibri" pitchFamily="34" charset="0"/>
                <a:ea typeface="Calibri" pitchFamily="34" charset="-122"/>
                <a:cs typeface="Calibri" pitchFamily="34" charset="-120"/>
              </a:rPr>
              <a:t>DEVELOPER</a:t>
            </a:r>
            <a:endParaRPr lang="en-US" sz="850" dirty="0"/>
          </a:p>
        </p:txBody>
      </p:sp>
      <p:sp>
        <p:nvSpPr>
          <p:cNvPr id="29" name="Text 27"/>
          <p:cNvSpPr/>
          <p:nvPr/>
        </p:nvSpPr>
        <p:spPr>
          <a:xfrm>
            <a:off x="8080096" y="2167128"/>
            <a:ext cx="3352648" cy="384048"/>
          </a:xfrm>
          <a:prstGeom prst="rect">
            <a:avLst/>
          </a:prstGeom>
          <a:noFill/>
          <a:ln/>
        </p:spPr>
        <p:txBody>
          <a:bodyPr wrap="square" lIns="0" tIns="0" rIns="0" bIns="0" rtlCol="0" anchor="t"/>
          <a:lstStyle/>
          <a:p>
            <a:pPr marL="0" indent="0">
              <a:lnSpc>
                <a:spcPct val="100000"/>
              </a:lnSpc>
              <a:buNone/>
            </a:pPr>
            <a:r>
              <a:rPr lang="en-US" sz="1000" dirty="0">
                <a:solidFill>
                  <a:srgbClr val="0B1F3A"/>
                </a:solidFill>
                <a:latin typeface="Calibri" pitchFamily="34" charset="0"/>
                <a:ea typeface="Calibri" pitchFamily="34" charset="-122"/>
                <a:cs typeface="Calibri" pitchFamily="34" charset="-120"/>
              </a:rPr>
              <a:t>Emaar Properties (Emaar Development PJSC)</a:t>
            </a:r>
            <a:endParaRPr lang="en-US" sz="1000" dirty="0"/>
          </a:p>
        </p:txBody>
      </p:sp>
      <p:sp>
        <p:nvSpPr>
          <p:cNvPr id="30" name="Text 28"/>
          <p:cNvSpPr/>
          <p:nvPr/>
        </p:nvSpPr>
        <p:spPr>
          <a:xfrm>
            <a:off x="6507328" y="2564892"/>
            <a:ext cx="1554480" cy="384048"/>
          </a:xfrm>
          <a:prstGeom prst="rect">
            <a:avLst/>
          </a:prstGeom>
          <a:noFill/>
          <a:ln/>
        </p:spPr>
        <p:txBody>
          <a:bodyPr wrap="square" lIns="0" tIns="0" rIns="0" bIns="0" rtlCol="0" anchor="t"/>
          <a:lstStyle/>
          <a:p>
            <a:pPr marL="0" indent="0">
              <a:buNone/>
            </a:pPr>
            <a:r>
              <a:rPr lang="en-US" sz="850" b="1" kern="0" spc="30" dirty="0">
                <a:solidFill>
                  <a:srgbClr val="C9A227"/>
                </a:solidFill>
                <a:latin typeface="Calibri" pitchFamily="34" charset="0"/>
                <a:ea typeface="Calibri" pitchFamily="34" charset="-122"/>
                <a:cs typeface="Calibri" pitchFamily="34" charset="-120"/>
              </a:rPr>
              <a:t>UNIT MIX</a:t>
            </a:r>
            <a:endParaRPr lang="en-US" sz="850" dirty="0"/>
          </a:p>
        </p:txBody>
      </p:sp>
      <p:sp>
        <p:nvSpPr>
          <p:cNvPr id="31" name="Text 29"/>
          <p:cNvSpPr/>
          <p:nvPr/>
        </p:nvSpPr>
        <p:spPr>
          <a:xfrm>
            <a:off x="8080096" y="2564892"/>
            <a:ext cx="3352648" cy="384048"/>
          </a:xfrm>
          <a:prstGeom prst="rect">
            <a:avLst/>
          </a:prstGeom>
          <a:noFill/>
          <a:ln/>
        </p:spPr>
        <p:txBody>
          <a:bodyPr wrap="square" lIns="0" tIns="0" rIns="0" bIns="0" rtlCol="0" anchor="t"/>
          <a:lstStyle/>
          <a:p>
            <a:pPr marL="0" indent="0">
              <a:lnSpc>
                <a:spcPct val="100000"/>
              </a:lnSpc>
              <a:buNone/>
            </a:pPr>
            <a:r>
              <a:rPr lang="en-US" sz="1000" dirty="0">
                <a:solidFill>
                  <a:srgbClr val="0B1F3A"/>
                </a:solidFill>
                <a:latin typeface="Calibri" pitchFamily="34" charset="0"/>
                <a:ea typeface="Calibri" pitchFamily="34" charset="-122"/>
                <a:cs typeface="Calibri" pitchFamily="34" charset="-120"/>
              </a:rPr>
              <a:t>3 &amp; 4-bed townhouses only — no apartments</a:t>
            </a:r>
            <a:endParaRPr lang="en-US" sz="1000" dirty="0"/>
          </a:p>
        </p:txBody>
      </p:sp>
      <p:sp>
        <p:nvSpPr>
          <p:cNvPr id="32" name="Text 30"/>
          <p:cNvSpPr/>
          <p:nvPr/>
        </p:nvSpPr>
        <p:spPr>
          <a:xfrm>
            <a:off x="6507328" y="2962656"/>
            <a:ext cx="1554480" cy="384048"/>
          </a:xfrm>
          <a:prstGeom prst="rect">
            <a:avLst/>
          </a:prstGeom>
          <a:noFill/>
          <a:ln/>
        </p:spPr>
        <p:txBody>
          <a:bodyPr wrap="square" lIns="0" tIns="0" rIns="0" bIns="0" rtlCol="0" anchor="t"/>
          <a:lstStyle/>
          <a:p>
            <a:pPr marL="0" indent="0">
              <a:buNone/>
            </a:pPr>
            <a:r>
              <a:rPr lang="en-US" sz="850" b="1" kern="0" spc="30" dirty="0">
                <a:solidFill>
                  <a:srgbClr val="C9A227"/>
                </a:solidFill>
                <a:latin typeface="Calibri" pitchFamily="34" charset="0"/>
                <a:ea typeface="Calibri" pitchFamily="34" charset="-122"/>
                <a:cs typeface="Calibri" pitchFamily="34" charset="-120"/>
              </a:rPr>
              <a:t>ENTRY PRICE</a:t>
            </a:r>
            <a:endParaRPr lang="en-US" sz="850" dirty="0"/>
          </a:p>
        </p:txBody>
      </p:sp>
      <p:sp>
        <p:nvSpPr>
          <p:cNvPr id="33" name="Text 31"/>
          <p:cNvSpPr/>
          <p:nvPr/>
        </p:nvSpPr>
        <p:spPr>
          <a:xfrm>
            <a:off x="8080096" y="2962656"/>
            <a:ext cx="3352648" cy="384048"/>
          </a:xfrm>
          <a:prstGeom prst="rect">
            <a:avLst/>
          </a:prstGeom>
          <a:noFill/>
          <a:ln/>
        </p:spPr>
        <p:txBody>
          <a:bodyPr wrap="square" lIns="0" tIns="0" rIns="0" bIns="0" rtlCol="0" anchor="t"/>
          <a:lstStyle/>
          <a:p>
            <a:pPr marL="0" indent="0">
              <a:lnSpc>
                <a:spcPct val="100000"/>
              </a:lnSpc>
              <a:buNone/>
            </a:pPr>
            <a:r>
              <a:rPr lang="en-US" sz="1000" dirty="0">
                <a:solidFill>
                  <a:srgbClr val="0B1F3A"/>
                </a:solidFill>
                <a:latin typeface="Calibri" pitchFamily="34" charset="0"/>
                <a:ea typeface="Calibri" pitchFamily="34" charset="-122"/>
                <a:cs typeface="Calibri" pitchFamily="34" charset="-120"/>
              </a:rPr>
              <a:t>AED 3,360,000–3,532,888 (3-bed)</a:t>
            </a:r>
            <a:endParaRPr lang="en-US" sz="1000" dirty="0"/>
          </a:p>
        </p:txBody>
      </p:sp>
      <p:sp>
        <p:nvSpPr>
          <p:cNvPr id="34" name="Text 32"/>
          <p:cNvSpPr/>
          <p:nvPr/>
        </p:nvSpPr>
        <p:spPr>
          <a:xfrm>
            <a:off x="6507328" y="3360420"/>
            <a:ext cx="1554480" cy="384048"/>
          </a:xfrm>
          <a:prstGeom prst="rect">
            <a:avLst/>
          </a:prstGeom>
          <a:noFill/>
          <a:ln/>
        </p:spPr>
        <p:txBody>
          <a:bodyPr wrap="square" lIns="0" tIns="0" rIns="0" bIns="0" rtlCol="0" anchor="t"/>
          <a:lstStyle/>
          <a:p>
            <a:pPr marL="0" indent="0">
              <a:buNone/>
            </a:pPr>
            <a:r>
              <a:rPr lang="en-US" sz="850" b="1" kern="0" spc="30" dirty="0">
                <a:solidFill>
                  <a:srgbClr val="C9A227"/>
                </a:solidFill>
                <a:latin typeface="Calibri" pitchFamily="34" charset="0"/>
                <a:ea typeface="Calibri" pitchFamily="34" charset="-122"/>
                <a:cs typeface="Calibri" pitchFamily="34" charset="-120"/>
              </a:rPr>
              <a:t>SIZES</a:t>
            </a:r>
            <a:endParaRPr lang="en-US" sz="850" dirty="0"/>
          </a:p>
        </p:txBody>
      </p:sp>
      <p:sp>
        <p:nvSpPr>
          <p:cNvPr id="35" name="Text 33"/>
          <p:cNvSpPr/>
          <p:nvPr/>
        </p:nvSpPr>
        <p:spPr>
          <a:xfrm>
            <a:off x="8080096" y="3360420"/>
            <a:ext cx="3352648" cy="384048"/>
          </a:xfrm>
          <a:prstGeom prst="rect">
            <a:avLst/>
          </a:prstGeom>
          <a:noFill/>
          <a:ln/>
        </p:spPr>
        <p:txBody>
          <a:bodyPr wrap="square" lIns="0" tIns="0" rIns="0" bIns="0" rtlCol="0" anchor="t"/>
          <a:lstStyle/>
          <a:p>
            <a:pPr marL="0" indent="0">
              <a:lnSpc>
                <a:spcPct val="100000"/>
              </a:lnSpc>
              <a:buNone/>
            </a:pPr>
            <a:r>
              <a:rPr lang="en-US" sz="1000" dirty="0">
                <a:solidFill>
                  <a:srgbClr val="0B1F3A"/>
                </a:solidFill>
                <a:latin typeface="Calibri" pitchFamily="34" charset="0"/>
                <a:ea typeface="Calibri" pitchFamily="34" charset="-122"/>
                <a:cs typeface="Calibri" pitchFamily="34" charset="-120"/>
              </a:rPr>
              <a:t>2,418–2,737 sq.ft BUA, private plots to 3,236 sq.ft</a:t>
            </a:r>
            <a:endParaRPr lang="en-US" sz="1000" dirty="0"/>
          </a:p>
        </p:txBody>
      </p:sp>
      <p:sp>
        <p:nvSpPr>
          <p:cNvPr id="36" name="Text 34"/>
          <p:cNvSpPr/>
          <p:nvPr/>
        </p:nvSpPr>
        <p:spPr>
          <a:xfrm>
            <a:off x="6507328" y="3758184"/>
            <a:ext cx="1554480" cy="384048"/>
          </a:xfrm>
          <a:prstGeom prst="rect">
            <a:avLst/>
          </a:prstGeom>
          <a:noFill/>
          <a:ln/>
        </p:spPr>
        <p:txBody>
          <a:bodyPr wrap="square" lIns="0" tIns="0" rIns="0" bIns="0" rtlCol="0" anchor="t"/>
          <a:lstStyle/>
          <a:p>
            <a:pPr marL="0" indent="0">
              <a:buNone/>
            </a:pPr>
            <a:r>
              <a:rPr lang="en-US" sz="850" b="1" kern="0" spc="30" dirty="0">
                <a:solidFill>
                  <a:srgbClr val="C9A227"/>
                </a:solidFill>
                <a:latin typeface="Calibri" pitchFamily="34" charset="0"/>
                <a:ea typeface="Calibri" pitchFamily="34" charset="-122"/>
                <a:cs typeface="Calibri" pitchFamily="34" charset="-120"/>
              </a:rPr>
              <a:t>AMENITIES</a:t>
            </a:r>
            <a:endParaRPr lang="en-US" sz="850" dirty="0"/>
          </a:p>
        </p:txBody>
      </p:sp>
      <p:sp>
        <p:nvSpPr>
          <p:cNvPr id="37" name="Text 35"/>
          <p:cNvSpPr/>
          <p:nvPr/>
        </p:nvSpPr>
        <p:spPr>
          <a:xfrm>
            <a:off x="8080096" y="3758184"/>
            <a:ext cx="3352648" cy="384048"/>
          </a:xfrm>
          <a:prstGeom prst="rect">
            <a:avLst/>
          </a:prstGeom>
          <a:noFill/>
          <a:ln/>
        </p:spPr>
        <p:txBody>
          <a:bodyPr wrap="square" lIns="0" tIns="0" rIns="0" bIns="0" rtlCol="0" anchor="t"/>
          <a:lstStyle/>
          <a:p>
            <a:pPr marL="0" indent="0">
              <a:lnSpc>
                <a:spcPct val="100000"/>
              </a:lnSpc>
              <a:buNone/>
            </a:pPr>
            <a:r>
              <a:rPr lang="en-US" sz="1000" dirty="0">
                <a:solidFill>
                  <a:srgbClr val="0B1F3A"/>
                </a:solidFill>
                <a:latin typeface="Calibri" pitchFamily="34" charset="0"/>
                <a:ea typeface="Calibri" pitchFamily="34" charset="-122"/>
                <a:cs typeface="Calibri" pitchFamily="34" charset="-120"/>
              </a:rPr>
              <a:t>Private pool access, driving range, sports courts</a:t>
            </a:r>
            <a:endParaRPr lang="en-US" sz="1000" dirty="0"/>
          </a:p>
        </p:txBody>
      </p:sp>
      <p:sp>
        <p:nvSpPr>
          <p:cNvPr id="38" name="Text 36"/>
          <p:cNvSpPr/>
          <p:nvPr/>
        </p:nvSpPr>
        <p:spPr>
          <a:xfrm>
            <a:off x="6507328" y="4155948"/>
            <a:ext cx="1554480" cy="384048"/>
          </a:xfrm>
          <a:prstGeom prst="rect">
            <a:avLst/>
          </a:prstGeom>
          <a:noFill/>
          <a:ln/>
        </p:spPr>
        <p:txBody>
          <a:bodyPr wrap="square" lIns="0" tIns="0" rIns="0" bIns="0" rtlCol="0" anchor="t"/>
          <a:lstStyle/>
          <a:p>
            <a:pPr marL="0" indent="0">
              <a:buNone/>
            </a:pPr>
            <a:r>
              <a:rPr lang="en-US" sz="850" b="1" kern="0" spc="30" dirty="0">
                <a:solidFill>
                  <a:srgbClr val="C9A227"/>
                </a:solidFill>
                <a:latin typeface="Calibri" pitchFamily="34" charset="0"/>
                <a:ea typeface="Calibri" pitchFamily="34" charset="-122"/>
                <a:cs typeface="Calibri" pitchFamily="34" charset="-120"/>
              </a:rPr>
              <a:t>HANDOVER</a:t>
            </a:r>
            <a:endParaRPr lang="en-US" sz="850" dirty="0"/>
          </a:p>
        </p:txBody>
      </p:sp>
      <p:sp>
        <p:nvSpPr>
          <p:cNvPr id="39" name="Text 37"/>
          <p:cNvSpPr/>
          <p:nvPr/>
        </p:nvSpPr>
        <p:spPr>
          <a:xfrm>
            <a:off x="8080096" y="4155948"/>
            <a:ext cx="3352648" cy="384048"/>
          </a:xfrm>
          <a:prstGeom prst="rect">
            <a:avLst/>
          </a:prstGeom>
          <a:noFill/>
          <a:ln/>
        </p:spPr>
        <p:txBody>
          <a:bodyPr wrap="square" lIns="0" tIns="0" rIns="0" bIns="0" rtlCol="0" anchor="t"/>
          <a:lstStyle/>
          <a:p>
            <a:pPr marL="0" indent="0">
              <a:lnSpc>
                <a:spcPct val="100000"/>
              </a:lnSpc>
              <a:buNone/>
            </a:pPr>
            <a:r>
              <a:rPr lang="en-US" sz="1000" dirty="0">
                <a:solidFill>
                  <a:srgbClr val="0B1F3A"/>
                </a:solidFill>
                <a:latin typeface="Calibri" pitchFamily="34" charset="0"/>
                <a:ea typeface="Calibri" pitchFamily="34" charset="-122"/>
                <a:cs typeface="Calibri" pitchFamily="34" charset="-120"/>
              </a:rPr>
              <a:t>March 2029 (Greenspoint 2)</a:t>
            </a:r>
            <a:endParaRPr lang="en-US" sz="1000" dirty="0"/>
          </a:p>
        </p:txBody>
      </p:sp>
      <p:sp>
        <p:nvSpPr>
          <p:cNvPr id="40" name="Text 38"/>
          <p:cNvSpPr/>
          <p:nvPr/>
        </p:nvSpPr>
        <p:spPr>
          <a:xfrm>
            <a:off x="6507328" y="4553712"/>
            <a:ext cx="1554480" cy="384048"/>
          </a:xfrm>
          <a:prstGeom prst="rect">
            <a:avLst/>
          </a:prstGeom>
          <a:noFill/>
          <a:ln/>
        </p:spPr>
        <p:txBody>
          <a:bodyPr wrap="square" lIns="0" tIns="0" rIns="0" bIns="0" rtlCol="0" anchor="t"/>
          <a:lstStyle/>
          <a:p>
            <a:pPr marL="0" indent="0">
              <a:buNone/>
            </a:pPr>
            <a:r>
              <a:rPr lang="en-US" sz="850" b="1" kern="0" spc="30" dirty="0">
                <a:solidFill>
                  <a:srgbClr val="C9A227"/>
                </a:solidFill>
                <a:latin typeface="Calibri" pitchFamily="34" charset="0"/>
                <a:ea typeface="Calibri" pitchFamily="34" charset="-122"/>
                <a:cs typeface="Calibri" pitchFamily="34" charset="-120"/>
              </a:rPr>
              <a:t>DLD TRANSACTIONS</a:t>
            </a:r>
            <a:endParaRPr lang="en-US" sz="850" dirty="0"/>
          </a:p>
        </p:txBody>
      </p:sp>
      <p:sp>
        <p:nvSpPr>
          <p:cNvPr id="41" name="Text 39"/>
          <p:cNvSpPr/>
          <p:nvPr/>
        </p:nvSpPr>
        <p:spPr>
          <a:xfrm>
            <a:off x="8080096" y="4553712"/>
            <a:ext cx="3352648" cy="384048"/>
          </a:xfrm>
          <a:prstGeom prst="rect">
            <a:avLst/>
          </a:prstGeom>
          <a:noFill/>
          <a:ln/>
        </p:spPr>
        <p:txBody>
          <a:bodyPr wrap="square" lIns="0" tIns="0" rIns="0" bIns="0" rtlCol="0" anchor="t"/>
          <a:lstStyle/>
          <a:p>
            <a:pPr marL="0" indent="0">
              <a:lnSpc>
                <a:spcPct val="100000"/>
              </a:lnSpc>
              <a:buNone/>
            </a:pPr>
            <a:r>
              <a:rPr lang="en-US" sz="1000" dirty="0">
                <a:solidFill>
                  <a:srgbClr val="0B1F3A"/>
                </a:solidFill>
                <a:latin typeface="Calibri" pitchFamily="34" charset="0"/>
                <a:ea typeface="Calibri" pitchFamily="34" charset="-122"/>
                <a:cs typeface="Calibri" pitchFamily="34" charset="-120"/>
              </a:rPr>
              <a:t>Not Publicly Available at project level</a:t>
            </a:r>
            <a:endParaRPr lang="en-US" sz="1000" dirty="0"/>
          </a:p>
        </p:txBody>
      </p:sp>
      <p:sp>
        <p:nvSpPr>
          <p:cNvPr id="42" name="Shape 40"/>
          <p:cNvSpPr/>
          <p:nvPr/>
        </p:nvSpPr>
        <p:spPr>
          <a:xfrm>
            <a:off x="502920" y="5047488"/>
            <a:ext cx="11185855" cy="566928"/>
          </a:xfrm>
          <a:prstGeom prst="rect">
            <a:avLst/>
          </a:prstGeom>
          <a:solidFill>
            <a:srgbClr val="FBF5E6"/>
          </a:solidFill>
          <a:ln/>
        </p:spPr>
      </p:sp>
      <p:sp>
        <p:nvSpPr>
          <p:cNvPr id="43" name="Text 41"/>
          <p:cNvSpPr/>
          <p:nvPr/>
        </p:nvSpPr>
        <p:spPr>
          <a:xfrm>
            <a:off x="731520" y="5047488"/>
            <a:ext cx="10728655" cy="566928"/>
          </a:xfrm>
          <a:prstGeom prst="rect">
            <a:avLst/>
          </a:prstGeom>
          <a:noFill/>
          <a:ln/>
        </p:spPr>
        <p:txBody>
          <a:bodyPr wrap="square" lIns="0" tIns="0" rIns="0" bIns="0" rtlCol="0" anchor="ctr"/>
          <a:lstStyle/>
          <a:p>
            <a:pPr marL="0" indent="0">
              <a:lnSpc>
                <a:spcPct val="105000"/>
              </a:lnSpc>
              <a:buNone/>
            </a:pPr>
            <a:r>
              <a:rPr lang="en-US" sz="1050" b="1" kern="0" spc="100" dirty="0">
                <a:solidFill>
                  <a:srgbClr val="0B1F3A"/>
                </a:solidFill>
                <a:latin typeface="Calibri" pitchFamily="34" charset="0"/>
                <a:ea typeface="Calibri" pitchFamily="34" charset="-122"/>
                <a:cs typeface="Calibri" pitchFamily="34" charset="-120"/>
              </a:rPr>
              <a:t>EXECUTIVE COMPARISON   </a:t>
            </a:r>
            <a:r>
              <a:rPr lang="en-US" sz="1150" dirty="0">
                <a:solidFill>
                  <a:srgbClr val="0B1F3A"/>
                </a:solidFill>
                <a:latin typeface="Calibri" pitchFamily="34" charset="0"/>
                <a:ea typeface="Calibri" pitchFamily="34" charset="-122"/>
                <a:cs typeface="Calibri" pitchFamily="34" charset="-120"/>
              </a:rPr>
              <a:t>Golf Acres offers 3 budget-compatible unit types; Greenspoint offers zero. Both share identical developer and community infrastructure.</a:t>
            </a:r>
            <a:endParaRPr lang="en-US" sz="1050" dirty="0"/>
          </a:p>
        </p:txBody>
      </p:sp>
      <p:sp>
        <p:nvSpPr>
          <p:cNvPr id="44" name="Text 42"/>
          <p:cNvSpPr/>
          <p:nvPr/>
        </p:nvSpPr>
        <p:spPr>
          <a:xfrm>
            <a:off x="502920" y="6510528"/>
            <a:ext cx="3657600" cy="256032"/>
          </a:xfrm>
          <a:prstGeom prst="rect">
            <a:avLst/>
          </a:prstGeom>
          <a:noFill/>
          <a:ln/>
        </p:spPr>
        <p:txBody>
          <a:bodyPr wrap="square" lIns="0" tIns="0" rIns="0" bIns="0" rtlCol="0" anchor="ctr"/>
          <a:lstStyle/>
          <a:p>
            <a:pPr marL="0" indent="0" algn="l">
              <a:buNone/>
            </a:pPr>
            <a:r>
              <a:rPr lang="en-US" sz="800" kern="0" spc="100" dirty="0">
                <a:solidFill>
                  <a:srgbClr val="9AA1AC"/>
                </a:solidFill>
                <a:latin typeface="Calibri" pitchFamily="34" charset="0"/>
                <a:ea typeface="Calibri" pitchFamily="34" charset="-122"/>
                <a:cs typeface="Calibri" pitchFamily="34" charset="-120"/>
              </a:rPr>
              <a:t>LUXURY REAL ESTATE INVESTMENT ADVISORY</a:t>
            </a:r>
            <a:endParaRPr lang="en-US" sz="800" dirty="0"/>
          </a:p>
        </p:txBody>
      </p:sp>
      <p:sp>
        <p:nvSpPr>
          <p:cNvPr id="45" name="Text 43"/>
          <p:cNvSpPr/>
          <p:nvPr/>
        </p:nvSpPr>
        <p:spPr>
          <a:xfrm>
            <a:off x="3809848" y="6510528"/>
            <a:ext cx="4572000" cy="256032"/>
          </a:xfrm>
          <a:prstGeom prst="rect">
            <a:avLst/>
          </a:prstGeom>
          <a:noFill/>
          <a:ln/>
        </p:spPr>
        <p:txBody>
          <a:bodyPr wrap="square" lIns="0" tIns="0" rIns="0" bIns="0" rtlCol="0" anchor="ctr"/>
          <a:lstStyle/>
          <a:p>
            <a:pPr marL="0" indent="0" algn="ctr">
              <a:buNone/>
            </a:pPr>
            <a:r>
              <a:rPr lang="en-US" sz="800" dirty="0">
                <a:solidFill>
                  <a:srgbClr val="9AA1AC"/>
                </a:solidFill>
                <a:latin typeface="Calibri" pitchFamily="34" charset="0"/>
                <a:ea typeface="Calibri" pitchFamily="34" charset="-122"/>
                <a:cs typeface="Calibri" pitchFamily="34" charset="-120"/>
              </a:rPr>
              <a:t>Property Overview</a:t>
            </a:r>
            <a:endParaRPr lang="en-US" sz="800" dirty="0"/>
          </a:p>
        </p:txBody>
      </p:sp>
      <p:sp>
        <p:nvSpPr>
          <p:cNvPr id="46" name="Text 44"/>
          <p:cNvSpPr/>
          <p:nvPr/>
        </p:nvSpPr>
        <p:spPr>
          <a:xfrm>
            <a:off x="8031175" y="6510528"/>
            <a:ext cx="3657600" cy="256032"/>
          </a:xfrm>
          <a:prstGeom prst="rect">
            <a:avLst/>
          </a:prstGeom>
          <a:noFill/>
          <a:ln/>
        </p:spPr>
        <p:txBody>
          <a:bodyPr wrap="square" lIns="0" tIns="0" rIns="0" bIns="0" rtlCol="0" anchor="ctr"/>
          <a:lstStyle/>
          <a:p>
            <a:pPr marL="0" indent="0" algn="r">
              <a:buNone/>
            </a:pPr>
            <a:r>
              <a:rPr lang="en-US" sz="800" dirty="0">
                <a:solidFill>
                  <a:srgbClr val="9AA1AC"/>
                </a:solidFill>
                <a:latin typeface="Calibri" pitchFamily="34" charset="0"/>
                <a:ea typeface="Calibri" pitchFamily="34" charset="-122"/>
                <a:cs typeface="Calibri" pitchFamily="34" charset="-120"/>
              </a:rPr>
              <a:t>05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lgn="l">
              <a:buNone/>
            </a:pPr>
            <a:r>
              <a:rPr lang="en-US" sz="1150" b="1" kern="0" spc="200" dirty="0">
                <a:solidFill>
                  <a:srgbClr val="C9A227"/>
                </a:solidFill>
                <a:latin typeface="Calibri" pitchFamily="34" charset="0"/>
                <a:ea typeface="Calibri" pitchFamily="34" charset="-122"/>
                <a:cs typeface="Calibri" pitchFamily="34" charset="-120"/>
              </a:rPr>
              <a:t>SECTION 05 · INVESTMENT DASHBOARD</a:t>
            </a:r>
            <a:endParaRPr lang="en-US" sz="1150" dirty="0"/>
          </a:p>
        </p:txBody>
      </p:sp>
      <p:sp>
        <p:nvSpPr>
          <p:cNvPr id="3" name="Text 1"/>
          <p:cNvSpPr/>
          <p:nvPr/>
        </p:nvSpPr>
        <p:spPr>
          <a:xfrm>
            <a:off x="502920" y="658368"/>
            <a:ext cx="10607040" cy="566928"/>
          </a:xfrm>
          <a:prstGeom prst="rect">
            <a:avLst/>
          </a:prstGeom>
          <a:noFill/>
          <a:ln/>
        </p:spPr>
        <p:txBody>
          <a:bodyPr wrap="square" lIns="0" tIns="0" rIns="0" bIns="0" rtlCol="0" anchor="ctr"/>
          <a:lstStyle/>
          <a:p>
            <a:pPr marL="0" indent="0" algn="l">
              <a:buNone/>
            </a:pPr>
            <a:r>
              <a:rPr lang="en-US" sz="2600" b="1" dirty="0">
                <a:solidFill>
                  <a:srgbClr val="0B1F3A"/>
                </a:solidFill>
                <a:latin typeface="Cambria" pitchFamily="34" charset="0"/>
                <a:ea typeface="Cambria" pitchFamily="34" charset="-122"/>
                <a:cs typeface="Cambria" pitchFamily="34" charset="-120"/>
              </a:rPr>
              <a:t>Executive KPI Scorecard</a:t>
            </a:r>
            <a:endParaRPr lang="en-US" sz="2600" dirty="0"/>
          </a:p>
        </p:txBody>
      </p:sp>
      <p:sp>
        <p:nvSpPr>
          <p:cNvPr id="4" name="Shape 2"/>
          <p:cNvSpPr/>
          <p:nvPr/>
        </p:nvSpPr>
        <p:spPr>
          <a:xfrm>
            <a:off x="502920" y="1417320"/>
            <a:ext cx="2054291" cy="1207008"/>
          </a:xfrm>
          <a:prstGeom prst="rect">
            <a:avLst/>
          </a:prstGeom>
          <a:solidFill>
            <a:srgbClr val="0B1F3A"/>
          </a:solidFill>
          <a:ln/>
          <a:effectLst>
            <a:outerShdw blurRad="88900" dist="25400" dir="5400000" algn="bl" rotWithShape="0">
              <a:srgbClr val="0B1F3A">
                <a:alpha val="10000"/>
              </a:srgbClr>
            </a:outerShdw>
          </a:effectLst>
        </p:spPr>
      </p:sp>
      <p:pic>
        <p:nvPicPr>
          <p:cNvPr id="5" name="Image 0" descr="icons/star_gold.png"/>
          <p:cNvPicPr>
            <a:picLocks noChangeAspect="1"/>
          </p:cNvPicPr>
          <p:nvPr/>
        </p:nvPicPr>
        <p:blipFill>
          <a:blip r:embed="rId3"/>
          <a:stretch>
            <a:fillRect/>
          </a:stretch>
        </p:blipFill>
        <p:spPr>
          <a:xfrm>
            <a:off x="667512" y="1563624"/>
            <a:ext cx="237744" cy="237744"/>
          </a:xfrm>
          <a:prstGeom prst="rect">
            <a:avLst/>
          </a:prstGeom>
        </p:spPr>
      </p:pic>
      <p:sp>
        <p:nvSpPr>
          <p:cNvPr id="6" name="Text 3"/>
          <p:cNvSpPr/>
          <p:nvPr/>
        </p:nvSpPr>
        <p:spPr>
          <a:xfrm>
            <a:off x="667512" y="1837944"/>
            <a:ext cx="1725107" cy="384048"/>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95/100</a:t>
            </a:r>
            <a:endParaRPr lang="en-US" sz="1900" dirty="0"/>
          </a:p>
        </p:txBody>
      </p:sp>
      <p:sp>
        <p:nvSpPr>
          <p:cNvPr id="7" name="Text 4"/>
          <p:cNvSpPr/>
          <p:nvPr/>
        </p:nvSpPr>
        <p:spPr>
          <a:xfrm>
            <a:off x="667512" y="2258568"/>
            <a:ext cx="1725107" cy="310896"/>
          </a:xfrm>
          <a:prstGeom prst="rect">
            <a:avLst/>
          </a:prstGeom>
          <a:noFill/>
          <a:ln/>
        </p:spPr>
        <p:txBody>
          <a:bodyPr wrap="square" lIns="0" tIns="0" rIns="0" bIns="0" rtlCol="0" anchor="ctr"/>
          <a:lstStyle/>
          <a:p>
            <a:pPr marL="0" indent="0">
              <a:lnSpc>
                <a:spcPct val="100000"/>
              </a:lnSpc>
              <a:buNone/>
            </a:pPr>
            <a:r>
              <a:rPr lang="en-US" sz="850" dirty="0">
                <a:solidFill>
                  <a:srgbClr val="AEB9CC"/>
                </a:solidFill>
                <a:latin typeface="Calibri" pitchFamily="34" charset="0"/>
                <a:ea typeface="Calibri" pitchFamily="34" charset="-122"/>
                <a:cs typeface="Calibri" pitchFamily="34" charset="-120"/>
              </a:rPr>
              <a:t>Investment Score</a:t>
            </a:r>
            <a:endParaRPr lang="en-US" sz="850" dirty="0"/>
          </a:p>
        </p:txBody>
      </p:sp>
      <p:sp>
        <p:nvSpPr>
          <p:cNvPr id="8" name="Shape 5"/>
          <p:cNvSpPr/>
          <p:nvPr/>
        </p:nvSpPr>
        <p:spPr>
          <a:xfrm>
            <a:off x="2785811" y="1417320"/>
            <a:ext cx="2054291" cy="1207008"/>
          </a:xfrm>
          <a:prstGeom prst="rect">
            <a:avLst/>
          </a:prstGeom>
          <a:solidFill>
            <a:srgbClr val="0B1F3A"/>
          </a:solidFill>
          <a:ln/>
          <a:effectLst>
            <a:outerShdw blurRad="88900" dist="25400" dir="5400000" algn="bl" rotWithShape="0">
              <a:srgbClr val="0B1F3A">
                <a:alpha val="10000"/>
              </a:srgbClr>
            </a:outerShdw>
          </a:effectLst>
        </p:spPr>
      </p:sp>
      <p:pic>
        <p:nvPicPr>
          <p:cNvPr id="9" name="Image 1" descr="icons/wallet_gold.png"/>
          <p:cNvPicPr>
            <a:picLocks noChangeAspect="1"/>
          </p:cNvPicPr>
          <p:nvPr/>
        </p:nvPicPr>
        <p:blipFill>
          <a:blip r:embed="rId4"/>
          <a:stretch>
            <a:fillRect/>
          </a:stretch>
        </p:blipFill>
        <p:spPr>
          <a:xfrm>
            <a:off x="2950403" y="1563624"/>
            <a:ext cx="237744" cy="237744"/>
          </a:xfrm>
          <a:prstGeom prst="rect">
            <a:avLst/>
          </a:prstGeom>
        </p:spPr>
      </p:pic>
      <p:sp>
        <p:nvSpPr>
          <p:cNvPr id="10" name="Text 6"/>
          <p:cNvSpPr/>
          <p:nvPr/>
        </p:nvSpPr>
        <p:spPr>
          <a:xfrm>
            <a:off x="2950403" y="1837944"/>
            <a:ext cx="1725107" cy="384048"/>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AED 1.05M</a:t>
            </a:r>
            <a:endParaRPr lang="en-US" sz="1900" dirty="0"/>
          </a:p>
        </p:txBody>
      </p:sp>
      <p:sp>
        <p:nvSpPr>
          <p:cNvPr id="11" name="Text 7"/>
          <p:cNvSpPr/>
          <p:nvPr/>
        </p:nvSpPr>
        <p:spPr>
          <a:xfrm>
            <a:off x="2950403" y="2258568"/>
            <a:ext cx="1725107" cy="310896"/>
          </a:xfrm>
          <a:prstGeom prst="rect">
            <a:avLst/>
          </a:prstGeom>
          <a:noFill/>
          <a:ln/>
        </p:spPr>
        <p:txBody>
          <a:bodyPr wrap="square" lIns="0" tIns="0" rIns="0" bIns="0" rtlCol="0" anchor="ctr"/>
          <a:lstStyle/>
          <a:p>
            <a:pPr marL="0" indent="0">
              <a:lnSpc>
                <a:spcPct val="100000"/>
              </a:lnSpc>
              <a:buNone/>
            </a:pPr>
            <a:r>
              <a:rPr lang="en-US" sz="850" dirty="0">
                <a:solidFill>
                  <a:srgbClr val="AEB9CC"/>
                </a:solidFill>
                <a:latin typeface="Calibri" pitchFamily="34" charset="0"/>
                <a:ea typeface="Calibri" pitchFamily="34" charset="-122"/>
                <a:cs typeface="Calibri" pitchFamily="34" charset="-120"/>
              </a:rPr>
              <a:t>Budget Headroom</a:t>
            </a:r>
            <a:endParaRPr lang="en-US" sz="850" dirty="0"/>
          </a:p>
        </p:txBody>
      </p:sp>
      <p:sp>
        <p:nvSpPr>
          <p:cNvPr id="12" name="Shape 8"/>
          <p:cNvSpPr/>
          <p:nvPr/>
        </p:nvSpPr>
        <p:spPr>
          <a:xfrm>
            <a:off x="5068702" y="1417320"/>
            <a:ext cx="2054291" cy="1207008"/>
          </a:xfrm>
          <a:prstGeom prst="rect">
            <a:avLst/>
          </a:prstGeom>
          <a:solidFill>
            <a:srgbClr val="0B1F3A"/>
          </a:solidFill>
          <a:ln/>
          <a:effectLst>
            <a:outerShdw blurRad="88900" dist="25400" dir="5400000" algn="bl" rotWithShape="0">
              <a:srgbClr val="0B1F3A">
                <a:alpha val="10000"/>
              </a:srgbClr>
            </a:outerShdw>
          </a:effectLst>
        </p:spPr>
      </p:sp>
      <p:pic>
        <p:nvPicPr>
          <p:cNvPr id="13" name="Image 2" descr="icons/shield_gold.png"/>
          <p:cNvPicPr>
            <a:picLocks noChangeAspect="1"/>
          </p:cNvPicPr>
          <p:nvPr/>
        </p:nvPicPr>
        <p:blipFill>
          <a:blip r:embed="rId5"/>
          <a:stretch>
            <a:fillRect/>
          </a:stretch>
        </p:blipFill>
        <p:spPr>
          <a:xfrm>
            <a:off x="5233294" y="1563624"/>
            <a:ext cx="237744" cy="237744"/>
          </a:xfrm>
          <a:prstGeom prst="rect">
            <a:avLst/>
          </a:prstGeom>
        </p:spPr>
      </p:pic>
      <p:sp>
        <p:nvSpPr>
          <p:cNvPr id="14" name="Text 9"/>
          <p:cNvSpPr/>
          <p:nvPr/>
        </p:nvSpPr>
        <p:spPr>
          <a:xfrm>
            <a:off x="5233294" y="1837944"/>
            <a:ext cx="1725107" cy="384048"/>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LOW–MED</a:t>
            </a:r>
            <a:endParaRPr lang="en-US" sz="1900" dirty="0"/>
          </a:p>
        </p:txBody>
      </p:sp>
      <p:sp>
        <p:nvSpPr>
          <p:cNvPr id="15" name="Text 10"/>
          <p:cNvSpPr/>
          <p:nvPr/>
        </p:nvSpPr>
        <p:spPr>
          <a:xfrm>
            <a:off x="5233294" y="2258568"/>
            <a:ext cx="1725107" cy="310896"/>
          </a:xfrm>
          <a:prstGeom prst="rect">
            <a:avLst/>
          </a:prstGeom>
          <a:noFill/>
          <a:ln/>
        </p:spPr>
        <p:txBody>
          <a:bodyPr wrap="square" lIns="0" tIns="0" rIns="0" bIns="0" rtlCol="0" anchor="ctr"/>
          <a:lstStyle/>
          <a:p>
            <a:pPr marL="0" indent="0">
              <a:lnSpc>
                <a:spcPct val="100000"/>
              </a:lnSpc>
              <a:buNone/>
            </a:pPr>
            <a:r>
              <a:rPr lang="en-US" sz="850" dirty="0">
                <a:solidFill>
                  <a:srgbClr val="AEB9CC"/>
                </a:solidFill>
                <a:latin typeface="Calibri" pitchFamily="34" charset="0"/>
                <a:ea typeface="Calibri" pitchFamily="34" charset="-122"/>
                <a:cs typeface="Calibri" pitchFamily="34" charset="-120"/>
              </a:rPr>
              <a:t>Composite Risk</a:t>
            </a:r>
            <a:endParaRPr lang="en-US" sz="850" dirty="0"/>
          </a:p>
        </p:txBody>
      </p:sp>
      <p:sp>
        <p:nvSpPr>
          <p:cNvPr id="16" name="Shape 11"/>
          <p:cNvSpPr/>
          <p:nvPr/>
        </p:nvSpPr>
        <p:spPr>
          <a:xfrm>
            <a:off x="7351593" y="1417320"/>
            <a:ext cx="2054291" cy="1207008"/>
          </a:xfrm>
          <a:prstGeom prst="rect">
            <a:avLst/>
          </a:prstGeom>
          <a:solidFill>
            <a:srgbClr val="0B1F3A"/>
          </a:solidFill>
          <a:ln/>
          <a:effectLst>
            <a:outerShdw blurRad="88900" dist="25400" dir="5400000" algn="bl" rotWithShape="0">
              <a:srgbClr val="0B1F3A">
                <a:alpha val="10000"/>
              </a:srgbClr>
            </a:outerShdw>
          </a:effectLst>
        </p:spPr>
      </p:sp>
      <p:pic>
        <p:nvPicPr>
          <p:cNvPr id="17" name="Image 3" descr="icons/plane_gold.png"/>
          <p:cNvPicPr>
            <a:picLocks noChangeAspect="1"/>
          </p:cNvPicPr>
          <p:nvPr/>
        </p:nvPicPr>
        <p:blipFill>
          <a:blip r:embed="rId6"/>
          <a:stretch>
            <a:fillRect/>
          </a:stretch>
        </p:blipFill>
        <p:spPr>
          <a:xfrm>
            <a:off x="7516185" y="1563624"/>
            <a:ext cx="237744" cy="237744"/>
          </a:xfrm>
          <a:prstGeom prst="rect">
            <a:avLst/>
          </a:prstGeom>
        </p:spPr>
      </p:pic>
      <p:sp>
        <p:nvSpPr>
          <p:cNvPr id="18" name="Text 12"/>
          <p:cNvSpPr/>
          <p:nvPr/>
        </p:nvSpPr>
        <p:spPr>
          <a:xfrm>
            <a:off x="7516185" y="1837944"/>
            <a:ext cx="1725107" cy="384048"/>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7 MIN</a:t>
            </a:r>
            <a:endParaRPr lang="en-US" sz="1900" dirty="0"/>
          </a:p>
        </p:txBody>
      </p:sp>
      <p:sp>
        <p:nvSpPr>
          <p:cNvPr id="19" name="Text 13"/>
          <p:cNvSpPr/>
          <p:nvPr/>
        </p:nvSpPr>
        <p:spPr>
          <a:xfrm>
            <a:off x="7516185" y="2258568"/>
            <a:ext cx="1725107" cy="310896"/>
          </a:xfrm>
          <a:prstGeom prst="rect">
            <a:avLst/>
          </a:prstGeom>
          <a:noFill/>
          <a:ln/>
        </p:spPr>
        <p:txBody>
          <a:bodyPr wrap="square" lIns="0" tIns="0" rIns="0" bIns="0" rtlCol="0" anchor="ctr"/>
          <a:lstStyle/>
          <a:p>
            <a:pPr marL="0" indent="0">
              <a:lnSpc>
                <a:spcPct val="100000"/>
              </a:lnSpc>
              <a:buNone/>
            </a:pPr>
            <a:r>
              <a:rPr lang="en-US" sz="850" dirty="0">
                <a:solidFill>
                  <a:srgbClr val="AEB9CC"/>
                </a:solidFill>
                <a:latin typeface="Calibri" pitchFamily="34" charset="0"/>
                <a:ea typeface="Calibri" pitchFamily="34" charset="-122"/>
                <a:cs typeface="Calibri" pitchFamily="34" charset="-120"/>
              </a:rPr>
              <a:t>To Al Maktoum Apt.</a:t>
            </a:r>
            <a:endParaRPr lang="en-US" sz="850" dirty="0"/>
          </a:p>
        </p:txBody>
      </p:sp>
      <p:sp>
        <p:nvSpPr>
          <p:cNvPr id="20" name="Shape 14"/>
          <p:cNvSpPr/>
          <p:nvPr/>
        </p:nvSpPr>
        <p:spPr>
          <a:xfrm>
            <a:off x="9634484" y="1417320"/>
            <a:ext cx="2054291" cy="1207008"/>
          </a:xfrm>
          <a:prstGeom prst="rect">
            <a:avLst/>
          </a:prstGeom>
          <a:solidFill>
            <a:srgbClr val="0B1F3A"/>
          </a:solidFill>
          <a:ln/>
          <a:effectLst>
            <a:outerShdw blurRad="88900" dist="25400" dir="5400000" algn="bl" rotWithShape="0">
              <a:srgbClr val="0B1F3A">
                <a:alpha val="10000"/>
              </a:srgbClr>
            </a:outerShdw>
          </a:effectLst>
        </p:spPr>
      </p:sp>
      <p:pic>
        <p:nvPicPr>
          <p:cNvPr id="21" name="Image 4" descr="icons/percent_gold.png"/>
          <p:cNvPicPr>
            <a:picLocks noChangeAspect="1"/>
          </p:cNvPicPr>
          <p:nvPr/>
        </p:nvPicPr>
        <p:blipFill>
          <a:blip r:embed="rId7"/>
          <a:stretch>
            <a:fillRect/>
          </a:stretch>
        </p:blipFill>
        <p:spPr>
          <a:xfrm>
            <a:off x="9799076" y="1563624"/>
            <a:ext cx="237744" cy="237744"/>
          </a:xfrm>
          <a:prstGeom prst="rect">
            <a:avLst/>
          </a:prstGeom>
        </p:spPr>
      </p:pic>
      <p:sp>
        <p:nvSpPr>
          <p:cNvPr id="22" name="Text 15"/>
          <p:cNvSpPr/>
          <p:nvPr/>
        </p:nvSpPr>
        <p:spPr>
          <a:xfrm>
            <a:off x="9799076" y="1837944"/>
            <a:ext cx="1725107" cy="384048"/>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~5.1%</a:t>
            </a:r>
            <a:endParaRPr lang="en-US" sz="1900" dirty="0"/>
          </a:p>
        </p:txBody>
      </p:sp>
      <p:sp>
        <p:nvSpPr>
          <p:cNvPr id="23" name="Text 16"/>
          <p:cNvSpPr/>
          <p:nvPr/>
        </p:nvSpPr>
        <p:spPr>
          <a:xfrm>
            <a:off x="9799076" y="2258568"/>
            <a:ext cx="1725107" cy="310896"/>
          </a:xfrm>
          <a:prstGeom prst="rect">
            <a:avLst/>
          </a:prstGeom>
          <a:noFill/>
          <a:ln/>
        </p:spPr>
        <p:txBody>
          <a:bodyPr wrap="square" lIns="0" tIns="0" rIns="0" bIns="0" rtlCol="0" anchor="ctr"/>
          <a:lstStyle/>
          <a:p>
            <a:pPr marL="0" indent="0">
              <a:lnSpc>
                <a:spcPct val="100000"/>
              </a:lnSpc>
              <a:buNone/>
            </a:pPr>
            <a:r>
              <a:rPr lang="en-US" sz="850" dirty="0">
                <a:solidFill>
                  <a:srgbClr val="AEB9CC"/>
                </a:solidFill>
                <a:latin typeface="Calibri" pitchFamily="34" charset="0"/>
                <a:ea typeface="Calibri" pitchFamily="34" charset="-122"/>
                <a:cs typeface="Calibri" pitchFamily="34" charset="-120"/>
              </a:rPr>
              <a:t>Est. Gross Yield (1-bed)</a:t>
            </a:r>
            <a:endParaRPr lang="en-US" sz="850" dirty="0"/>
          </a:p>
        </p:txBody>
      </p:sp>
      <p:sp>
        <p:nvSpPr>
          <p:cNvPr id="24" name="Text 17"/>
          <p:cNvSpPr/>
          <p:nvPr/>
        </p:nvSpPr>
        <p:spPr>
          <a:xfrm>
            <a:off x="502920" y="2898648"/>
            <a:ext cx="6492240" cy="237744"/>
          </a:xfrm>
          <a:prstGeom prst="rect">
            <a:avLst/>
          </a:prstGeom>
          <a:noFill/>
          <a:ln/>
        </p:spPr>
        <p:txBody>
          <a:bodyPr wrap="square" lIns="0" tIns="0" rIns="0" bIns="0" rtlCol="0" anchor="ctr"/>
          <a:lstStyle/>
          <a:p>
            <a:pPr marL="0" indent="0">
              <a:buNone/>
            </a:pPr>
            <a:r>
              <a:rPr lang="en-US" sz="1000" b="1" kern="0" spc="50" dirty="0">
                <a:solidFill>
                  <a:srgbClr val="0B1F3A"/>
                </a:solidFill>
                <a:latin typeface="Calibri" pitchFamily="34" charset="0"/>
                <a:ea typeface="Calibri" pitchFamily="34" charset="-122"/>
                <a:cs typeface="Calibri" pitchFamily="34" charset="-120"/>
              </a:rPr>
              <a:t>WEIGHTED SCORE BY CRITERION (OF MAX POINTS)</a:t>
            </a:r>
            <a:endParaRPr lang="en-US" sz="1000" dirty="0"/>
          </a:p>
        </p:txBody>
      </p:sp>
      <p:graphicFrame>
        <p:nvGraphicFramePr>
          <p:cNvPr id="25" name="Chart 0"/>
          <p:cNvGraphicFramePr/>
          <p:nvPr/>
        </p:nvGraphicFramePr>
        <p:xfrm>
          <a:off x="502920" y="3172968"/>
          <a:ext cx="6492240" cy="2468880"/>
        </p:xfrm>
        <a:graphic>
          <a:graphicData uri="http://schemas.openxmlformats.org/drawingml/2006/chart">
            <c:chart xmlns:c="http://schemas.openxmlformats.org/drawingml/2006/chart" xmlns:r="http://schemas.openxmlformats.org/officeDocument/2006/relationships" r:id="rId8"/>
          </a:graphicData>
        </a:graphic>
      </p:graphicFrame>
      <p:sp>
        <p:nvSpPr>
          <p:cNvPr id="26" name="Text 18"/>
          <p:cNvSpPr/>
          <p:nvPr/>
        </p:nvSpPr>
        <p:spPr>
          <a:xfrm>
            <a:off x="7315200" y="2898648"/>
            <a:ext cx="4373575" cy="237744"/>
          </a:xfrm>
          <a:prstGeom prst="rect">
            <a:avLst/>
          </a:prstGeom>
          <a:noFill/>
          <a:ln/>
        </p:spPr>
        <p:txBody>
          <a:bodyPr wrap="square" lIns="0" tIns="0" rIns="0" bIns="0" rtlCol="0" anchor="ctr"/>
          <a:lstStyle/>
          <a:p>
            <a:pPr marL="0" indent="0">
              <a:buNone/>
            </a:pPr>
            <a:r>
              <a:rPr lang="en-US" sz="1000" b="1" kern="0" spc="50" dirty="0">
                <a:solidFill>
                  <a:srgbClr val="0B1F3A"/>
                </a:solidFill>
                <a:latin typeface="Calibri" pitchFamily="34" charset="0"/>
                <a:ea typeface="Calibri" pitchFamily="34" charset="-122"/>
                <a:cs typeface="Calibri" pitchFamily="34" charset="-120"/>
              </a:rPr>
              <a:t>COMPOSITE RISK SIGNAL</a:t>
            </a:r>
            <a:endParaRPr lang="en-US" sz="1000" dirty="0"/>
          </a:p>
        </p:txBody>
      </p:sp>
      <p:sp>
        <p:nvSpPr>
          <p:cNvPr id="27" name="Text 19"/>
          <p:cNvSpPr/>
          <p:nvPr/>
        </p:nvSpPr>
        <p:spPr>
          <a:xfrm>
            <a:off x="7315200" y="3209544"/>
            <a:ext cx="3367735" cy="310896"/>
          </a:xfrm>
          <a:prstGeom prst="rect">
            <a:avLst/>
          </a:prstGeom>
          <a:noFill/>
          <a:ln/>
        </p:spPr>
        <p:txBody>
          <a:bodyPr wrap="square" lIns="0" tIns="0" rIns="0" bIns="0" rtlCol="0" anchor="ctr"/>
          <a:lstStyle/>
          <a:p>
            <a:pPr marL="0" indent="0">
              <a:buNone/>
            </a:pPr>
            <a:r>
              <a:rPr lang="en-US" sz="1050" dirty="0">
                <a:solidFill>
                  <a:srgbClr val="0B1F3A"/>
                </a:solidFill>
                <a:latin typeface="Calibri" pitchFamily="34" charset="0"/>
                <a:ea typeface="Calibri" pitchFamily="34" charset="-122"/>
                <a:cs typeface="Calibri" pitchFamily="34" charset="-120"/>
              </a:rPr>
              <a:t>Developer Risk</a:t>
            </a:r>
            <a:endParaRPr lang="en-US" sz="1050" dirty="0"/>
          </a:p>
        </p:txBody>
      </p:sp>
      <p:sp>
        <p:nvSpPr>
          <p:cNvPr id="28" name="Shape 20"/>
          <p:cNvSpPr/>
          <p:nvPr/>
        </p:nvSpPr>
        <p:spPr>
          <a:xfrm>
            <a:off x="10774375" y="3264408"/>
            <a:ext cx="182880" cy="182880"/>
          </a:xfrm>
          <a:prstGeom prst="ellipse">
            <a:avLst/>
          </a:prstGeom>
          <a:solidFill>
            <a:srgbClr val="1E7B45"/>
          </a:solidFill>
          <a:ln/>
        </p:spPr>
      </p:sp>
      <p:sp>
        <p:nvSpPr>
          <p:cNvPr id="29" name="Text 21"/>
          <p:cNvSpPr/>
          <p:nvPr/>
        </p:nvSpPr>
        <p:spPr>
          <a:xfrm>
            <a:off x="11002975" y="3209544"/>
            <a:ext cx="685800" cy="310896"/>
          </a:xfrm>
          <a:prstGeom prst="rect">
            <a:avLst/>
          </a:prstGeom>
          <a:noFill/>
          <a:ln/>
        </p:spPr>
        <p:txBody>
          <a:bodyPr wrap="square" lIns="0" tIns="0" rIns="0" bIns="0" rtlCol="0" anchor="ctr"/>
          <a:lstStyle/>
          <a:p>
            <a:pPr marL="0" indent="0">
              <a:buNone/>
            </a:pPr>
            <a:r>
              <a:rPr lang="en-US" sz="850" b="1" dirty="0">
                <a:solidFill>
                  <a:srgbClr val="1E7B45"/>
                </a:solidFill>
                <a:latin typeface="Calibri" pitchFamily="34" charset="0"/>
                <a:ea typeface="Calibri" pitchFamily="34" charset="-122"/>
                <a:cs typeface="Calibri" pitchFamily="34" charset="-120"/>
              </a:rPr>
              <a:t>LOW</a:t>
            </a:r>
            <a:endParaRPr lang="en-US" sz="850" dirty="0"/>
          </a:p>
        </p:txBody>
      </p:sp>
      <p:sp>
        <p:nvSpPr>
          <p:cNvPr id="30" name="Text 22"/>
          <p:cNvSpPr/>
          <p:nvPr/>
        </p:nvSpPr>
        <p:spPr>
          <a:xfrm>
            <a:off x="7315200" y="3630168"/>
            <a:ext cx="3367735" cy="310896"/>
          </a:xfrm>
          <a:prstGeom prst="rect">
            <a:avLst/>
          </a:prstGeom>
          <a:noFill/>
          <a:ln/>
        </p:spPr>
        <p:txBody>
          <a:bodyPr wrap="square" lIns="0" tIns="0" rIns="0" bIns="0" rtlCol="0" anchor="ctr"/>
          <a:lstStyle/>
          <a:p>
            <a:pPr marL="0" indent="0">
              <a:buNone/>
            </a:pPr>
            <a:r>
              <a:rPr lang="en-US" sz="1050" dirty="0">
                <a:solidFill>
                  <a:srgbClr val="0B1F3A"/>
                </a:solidFill>
                <a:latin typeface="Calibri" pitchFamily="34" charset="0"/>
                <a:ea typeface="Calibri" pitchFamily="34" charset="-122"/>
                <a:cs typeface="Calibri" pitchFamily="34" charset="-120"/>
              </a:rPr>
              <a:t>Regulatory Risk</a:t>
            </a:r>
            <a:endParaRPr lang="en-US" sz="1050" dirty="0"/>
          </a:p>
        </p:txBody>
      </p:sp>
      <p:sp>
        <p:nvSpPr>
          <p:cNvPr id="31" name="Shape 23"/>
          <p:cNvSpPr/>
          <p:nvPr/>
        </p:nvSpPr>
        <p:spPr>
          <a:xfrm>
            <a:off x="10774375" y="3685032"/>
            <a:ext cx="182880" cy="182880"/>
          </a:xfrm>
          <a:prstGeom prst="ellipse">
            <a:avLst/>
          </a:prstGeom>
          <a:solidFill>
            <a:srgbClr val="1E7B45"/>
          </a:solidFill>
          <a:ln/>
        </p:spPr>
      </p:sp>
      <p:sp>
        <p:nvSpPr>
          <p:cNvPr id="32" name="Text 24"/>
          <p:cNvSpPr/>
          <p:nvPr/>
        </p:nvSpPr>
        <p:spPr>
          <a:xfrm>
            <a:off x="11002975" y="3630168"/>
            <a:ext cx="685800" cy="310896"/>
          </a:xfrm>
          <a:prstGeom prst="rect">
            <a:avLst/>
          </a:prstGeom>
          <a:noFill/>
          <a:ln/>
        </p:spPr>
        <p:txBody>
          <a:bodyPr wrap="square" lIns="0" tIns="0" rIns="0" bIns="0" rtlCol="0" anchor="ctr"/>
          <a:lstStyle/>
          <a:p>
            <a:pPr marL="0" indent="0">
              <a:buNone/>
            </a:pPr>
            <a:r>
              <a:rPr lang="en-US" sz="850" b="1" dirty="0">
                <a:solidFill>
                  <a:srgbClr val="1E7B45"/>
                </a:solidFill>
                <a:latin typeface="Calibri" pitchFamily="34" charset="0"/>
                <a:ea typeface="Calibri" pitchFamily="34" charset="-122"/>
                <a:cs typeface="Calibri" pitchFamily="34" charset="-120"/>
              </a:rPr>
              <a:t>LOW</a:t>
            </a:r>
            <a:endParaRPr lang="en-US" sz="850" dirty="0"/>
          </a:p>
        </p:txBody>
      </p:sp>
      <p:sp>
        <p:nvSpPr>
          <p:cNvPr id="33" name="Text 25"/>
          <p:cNvSpPr/>
          <p:nvPr/>
        </p:nvSpPr>
        <p:spPr>
          <a:xfrm>
            <a:off x="7315200" y="4050792"/>
            <a:ext cx="3367735" cy="310896"/>
          </a:xfrm>
          <a:prstGeom prst="rect">
            <a:avLst/>
          </a:prstGeom>
          <a:noFill/>
          <a:ln/>
        </p:spPr>
        <p:txBody>
          <a:bodyPr wrap="square" lIns="0" tIns="0" rIns="0" bIns="0" rtlCol="0" anchor="ctr"/>
          <a:lstStyle/>
          <a:p>
            <a:pPr marL="0" indent="0">
              <a:buNone/>
            </a:pPr>
            <a:r>
              <a:rPr lang="en-US" sz="1050" dirty="0">
                <a:solidFill>
                  <a:srgbClr val="0B1F3A"/>
                </a:solidFill>
                <a:latin typeface="Calibri" pitchFamily="34" charset="0"/>
                <a:ea typeface="Calibri" pitchFamily="34" charset="-122"/>
                <a:cs typeface="Calibri" pitchFamily="34" charset="-120"/>
              </a:rPr>
              <a:t>Market Risk</a:t>
            </a:r>
            <a:endParaRPr lang="en-US" sz="1050" dirty="0"/>
          </a:p>
        </p:txBody>
      </p:sp>
      <p:sp>
        <p:nvSpPr>
          <p:cNvPr id="34" name="Shape 26"/>
          <p:cNvSpPr/>
          <p:nvPr/>
        </p:nvSpPr>
        <p:spPr>
          <a:xfrm>
            <a:off x="10774375" y="4105656"/>
            <a:ext cx="182880" cy="182880"/>
          </a:xfrm>
          <a:prstGeom prst="ellipse">
            <a:avLst/>
          </a:prstGeom>
          <a:solidFill>
            <a:srgbClr val="B8860B"/>
          </a:solidFill>
          <a:ln/>
        </p:spPr>
      </p:sp>
      <p:sp>
        <p:nvSpPr>
          <p:cNvPr id="35" name="Text 27"/>
          <p:cNvSpPr/>
          <p:nvPr/>
        </p:nvSpPr>
        <p:spPr>
          <a:xfrm>
            <a:off x="11002975" y="4050792"/>
            <a:ext cx="685800" cy="310896"/>
          </a:xfrm>
          <a:prstGeom prst="rect">
            <a:avLst/>
          </a:prstGeom>
          <a:noFill/>
          <a:ln/>
        </p:spPr>
        <p:txBody>
          <a:bodyPr wrap="square" lIns="0" tIns="0" rIns="0" bIns="0" rtlCol="0" anchor="ctr"/>
          <a:lstStyle/>
          <a:p>
            <a:pPr marL="0" indent="0">
              <a:buNone/>
            </a:pPr>
            <a:r>
              <a:rPr lang="en-US" sz="850" b="1" dirty="0">
                <a:solidFill>
                  <a:srgbClr val="B8860B"/>
                </a:solidFill>
                <a:latin typeface="Calibri" pitchFamily="34" charset="0"/>
                <a:ea typeface="Calibri" pitchFamily="34" charset="-122"/>
                <a:cs typeface="Calibri" pitchFamily="34" charset="-120"/>
              </a:rPr>
              <a:t>MEDIUM</a:t>
            </a:r>
            <a:endParaRPr lang="en-US" sz="850" dirty="0"/>
          </a:p>
        </p:txBody>
      </p:sp>
      <p:sp>
        <p:nvSpPr>
          <p:cNvPr id="36" name="Text 28"/>
          <p:cNvSpPr/>
          <p:nvPr/>
        </p:nvSpPr>
        <p:spPr>
          <a:xfrm>
            <a:off x="7315200" y="4471416"/>
            <a:ext cx="3367735" cy="310896"/>
          </a:xfrm>
          <a:prstGeom prst="rect">
            <a:avLst/>
          </a:prstGeom>
          <a:noFill/>
          <a:ln/>
        </p:spPr>
        <p:txBody>
          <a:bodyPr wrap="square" lIns="0" tIns="0" rIns="0" bIns="0" rtlCol="0" anchor="ctr"/>
          <a:lstStyle/>
          <a:p>
            <a:pPr marL="0" indent="0">
              <a:buNone/>
            </a:pPr>
            <a:r>
              <a:rPr lang="en-US" sz="1050" dirty="0">
                <a:solidFill>
                  <a:srgbClr val="0B1F3A"/>
                </a:solidFill>
                <a:latin typeface="Calibri" pitchFamily="34" charset="0"/>
                <a:ea typeface="Calibri" pitchFamily="34" charset="-122"/>
                <a:cs typeface="Calibri" pitchFamily="34" charset="-120"/>
              </a:rPr>
              <a:t>Liquidity Risk</a:t>
            </a:r>
            <a:endParaRPr lang="en-US" sz="1050" dirty="0"/>
          </a:p>
        </p:txBody>
      </p:sp>
      <p:sp>
        <p:nvSpPr>
          <p:cNvPr id="37" name="Shape 29"/>
          <p:cNvSpPr/>
          <p:nvPr/>
        </p:nvSpPr>
        <p:spPr>
          <a:xfrm>
            <a:off x="10774375" y="4526280"/>
            <a:ext cx="182880" cy="182880"/>
          </a:xfrm>
          <a:prstGeom prst="ellipse">
            <a:avLst/>
          </a:prstGeom>
          <a:solidFill>
            <a:srgbClr val="B8860B"/>
          </a:solidFill>
          <a:ln/>
        </p:spPr>
      </p:sp>
      <p:sp>
        <p:nvSpPr>
          <p:cNvPr id="38" name="Text 30"/>
          <p:cNvSpPr/>
          <p:nvPr/>
        </p:nvSpPr>
        <p:spPr>
          <a:xfrm>
            <a:off x="11002975" y="4471416"/>
            <a:ext cx="685800" cy="310896"/>
          </a:xfrm>
          <a:prstGeom prst="rect">
            <a:avLst/>
          </a:prstGeom>
          <a:noFill/>
          <a:ln/>
        </p:spPr>
        <p:txBody>
          <a:bodyPr wrap="square" lIns="0" tIns="0" rIns="0" bIns="0" rtlCol="0" anchor="ctr"/>
          <a:lstStyle/>
          <a:p>
            <a:pPr marL="0" indent="0">
              <a:buNone/>
            </a:pPr>
            <a:r>
              <a:rPr lang="en-US" sz="850" b="1" dirty="0">
                <a:solidFill>
                  <a:srgbClr val="B8860B"/>
                </a:solidFill>
                <a:latin typeface="Calibri" pitchFamily="34" charset="0"/>
                <a:ea typeface="Calibri" pitchFamily="34" charset="-122"/>
                <a:cs typeface="Calibri" pitchFamily="34" charset="-120"/>
              </a:rPr>
              <a:t>LOW–MED</a:t>
            </a:r>
            <a:endParaRPr lang="en-US" sz="850" dirty="0"/>
          </a:p>
        </p:txBody>
      </p:sp>
      <p:sp>
        <p:nvSpPr>
          <p:cNvPr id="39" name="Text 31"/>
          <p:cNvSpPr/>
          <p:nvPr/>
        </p:nvSpPr>
        <p:spPr>
          <a:xfrm>
            <a:off x="7315200" y="4892040"/>
            <a:ext cx="3367735" cy="310896"/>
          </a:xfrm>
          <a:prstGeom prst="rect">
            <a:avLst/>
          </a:prstGeom>
          <a:noFill/>
          <a:ln/>
        </p:spPr>
        <p:txBody>
          <a:bodyPr wrap="square" lIns="0" tIns="0" rIns="0" bIns="0" rtlCol="0" anchor="ctr"/>
          <a:lstStyle/>
          <a:p>
            <a:pPr marL="0" indent="0">
              <a:buNone/>
            </a:pPr>
            <a:r>
              <a:rPr lang="en-US" sz="1050" dirty="0">
                <a:solidFill>
                  <a:srgbClr val="0B1F3A"/>
                </a:solidFill>
                <a:latin typeface="Calibri" pitchFamily="34" charset="0"/>
                <a:ea typeface="Calibri" pitchFamily="34" charset="-122"/>
                <a:cs typeface="Calibri" pitchFamily="34" charset="-120"/>
              </a:rPr>
              <a:t>Supply Risk</a:t>
            </a:r>
            <a:endParaRPr lang="en-US" sz="1050" dirty="0"/>
          </a:p>
        </p:txBody>
      </p:sp>
      <p:sp>
        <p:nvSpPr>
          <p:cNvPr id="40" name="Shape 32"/>
          <p:cNvSpPr/>
          <p:nvPr/>
        </p:nvSpPr>
        <p:spPr>
          <a:xfrm>
            <a:off x="10774375" y="4946904"/>
            <a:ext cx="182880" cy="182880"/>
          </a:xfrm>
          <a:prstGeom prst="ellipse">
            <a:avLst/>
          </a:prstGeom>
          <a:solidFill>
            <a:srgbClr val="B22222"/>
          </a:solidFill>
          <a:ln/>
        </p:spPr>
      </p:sp>
      <p:sp>
        <p:nvSpPr>
          <p:cNvPr id="41" name="Text 33"/>
          <p:cNvSpPr/>
          <p:nvPr/>
        </p:nvSpPr>
        <p:spPr>
          <a:xfrm>
            <a:off x="11002975" y="4892040"/>
            <a:ext cx="685800" cy="310896"/>
          </a:xfrm>
          <a:prstGeom prst="rect">
            <a:avLst/>
          </a:prstGeom>
          <a:noFill/>
          <a:ln/>
        </p:spPr>
        <p:txBody>
          <a:bodyPr wrap="square" lIns="0" tIns="0" rIns="0" bIns="0" rtlCol="0" anchor="ctr"/>
          <a:lstStyle/>
          <a:p>
            <a:pPr marL="0" indent="0">
              <a:buNone/>
            </a:pPr>
            <a:r>
              <a:rPr lang="en-US" sz="850" b="1" dirty="0">
                <a:solidFill>
                  <a:srgbClr val="B22222"/>
                </a:solidFill>
                <a:latin typeface="Calibri" pitchFamily="34" charset="0"/>
                <a:ea typeface="Calibri" pitchFamily="34" charset="-122"/>
                <a:cs typeface="Calibri" pitchFamily="34" charset="-120"/>
              </a:rPr>
              <a:t>MED–HIGH</a:t>
            </a:r>
            <a:endParaRPr lang="en-US" sz="850" dirty="0"/>
          </a:p>
        </p:txBody>
      </p:sp>
      <p:sp>
        <p:nvSpPr>
          <p:cNvPr id="42" name="Text 34"/>
          <p:cNvSpPr/>
          <p:nvPr/>
        </p:nvSpPr>
        <p:spPr>
          <a:xfrm>
            <a:off x="7315200" y="5358384"/>
            <a:ext cx="4373575" cy="274320"/>
          </a:xfrm>
          <a:prstGeom prst="rect">
            <a:avLst/>
          </a:prstGeom>
          <a:noFill/>
          <a:ln/>
        </p:spPr>
        <p:txBody>
          <a:bodyPr wrap="square" lIns="0" tIns="0" rIns="0" bIns="0" rtlCol="0" anchor="ctr"/>
          <a:lstStyle/>
          <a:p>
            <a:pPr marL="0" indent="0">
              <a:buNone/>
            </a:pPr>
            <a:r>
              <a:rPr lang="en-US" sz="850" i="1" dirty="0">
                <a:solidFill>
                  <a:srgbClr val="9AA1AC"/>
                </a:solidFill>
                <a:latin typeface="Calibri" pitchFamily="34" charset="0"/>
                <a:ea typeface="Calibri" pitchFamily="34" charset="-122"/>
                <a:cs typeface="Calibri" pitchFamily="34" charset="-120"/>
              </a:rPr>
              <a:t>Full risk matrix in Section 12.</a:t>
            </a:r>
            <a:endParaRPr lang="en-US" sz="850" dirty="0"/>
          </a:p>
        </p:txBody>
      </p:sp>
      <p:sp>
        <p:nvSpPr>
          <p:cNvPr id="43" name="Shape 35"/>
          <p:cNvSpPr/>
          <p:nvPr/>
        </p:nvSpPr>
        <p:spPr>
          <a:xfrm>
            <a:off x="502920" y="5806440"/>
            <a:ext cx="11185855" cy="566928"/>
          </a:xfrm>
          <a:prstGeom prst="rect">
            <a:avLst/>
          </a:prstGeom>
          <a:solidFill>
            <a:srgbClr val="EEF1F6"/>
          </a:solidFill>
          <a:ln/>
        </p:spPr>
      </p:sp>
      <p:pic>
        <p:nvPicPr>
          <p:cNvPr id="44" name="Image 5" descr="icons/star_gold.png"/>
          <p:cNvPicPr>
            <a:picLocks noChangeAspect="1"/>
          </p:cNvPicPr>
          <p:nvPr/>
        </p:nvPicPr>
        <p:blipFill>
          <a:blip r:embed="rId3"/>
          <a:stretch>
            <a:fillRect/>
          </a:stretch>
        </p:blipFill>
        <p:spPr>
          <a:xfrm>
            <a:off x="667512" y="5952744"/>
            <a:ext cx="274320" cy="274320"/>
          </a:xfrm>
          <a:prstGeom prst="rect">
            <a:avLst/>
          </a:prstGeom>
        </p:spPr>
      </p:pic>
      <p:sp>
        <p:nvSpPr>
          <p:cNvPr id="45" name="Text 36"/>
          <p:cNvSpPr/>
          <p:nvPr/>
        </p:nvSpPr>
        <p:spPr>
          <a:xfrm>
            <a:off x="1069848" y="5806440"/>
            <a:ext cx="10454335" cy="566928"/>
          </a:xfrm>
          <a:prstGeom prst="rect">
            <a:avLst/>
          </a:prstGeom>
          <a:noFill/>
          <a:ln/>
        </p:spPr>
        <p:txBody>
          <a:bodyPr wrap="square" lIns="0" tIns="0" rIns="0" bIns="0" rtlCol="0" anchor="ctr"/>
          <a:lstStyle/>
          <a:p>
            <a:pPr marL="0" indent="0" algn="l">
              <a:lnSpc>
                <a:spcPct val="105000"/>
              </a:lnSpc>
              <a:buNone/>
            </a:pPr>
            <a:r>
              <a:rPr lang="en-US" sz="1050" b="1" kern="0" spc="100" dirty="0">
                <a:solidFill>
                  <a:srgbClr val="0B1F3A"/>
                </a:solidFill>
                <a:latin typeface="Calibri" pitchFamily="34" charset="0"/>
                <a:ea typeface="Calibri" pitchFamily="34" charset="-122"/>
                <a:cs typeface="Calibri" pitchFamily="34" charset="-120"/>
              </a:rPr>
              <a:t>EXECUTIVE INSIGHT   </a:t>
            </a:r>
            <a:r>
              <a:rPr lang="en-US" sz="1150" dirty="0">
                <a:solidFill>
                  <a:srgbClr val="0B1F3A"/>
                </a:solidFill>
                <a:latin typeface="Calibri" pitchFamily="34" charset="0"/>
                <a:ea typeface="Calibri" pitchFamily="34" charset="-122"/>
                <a:cs typeface="Calibri" pitchFamily="34" charset="-120"/>
              </a:rPr>
              <a:t>Golf Acres leads on budget fit and liquidity — the two dimensions that matter most for this specific client mandate.</a:t>
            </a:r>
            <a:endParaRPr lang="en-US" sz="1050" dirty="0"/>
          </a:p>
        </p:txBody>
      </p:sp>
      <p:sp>
        <p:nvSpPr>
          <p:cNvPr id="46" name="Text 37"/>
          <p:cNvSpPr/>
          <p:nvPr/>
        </p:nvSpPr>
        <p:spPr>
          <a:xfrm>
            <a:off x="502920" y="6510528"/>
            <a:ext cx="3657600" cy="256032"/>
          </a:xfrm>
          <a:prstGeom prst="rect">
            <a:avLst/>
          </a:prstGeom>
          <a:noFill/>
          <a:ln/>
        </p:spPr>
        <p:txBody>
          <a:bodyPr wrap="square" lIns="0" tIns="0" rIns="0" bIns="0" rtlCol="0" anchor="ctr"/>
          <a:lstStyle/>
          <a:p>
            <a:pPr marL="0" indent="0" algn="l">
              <a:buNone/>
            </a:pPr>
            <a:r>
              <a:rPr lang="en-US" sz="800" kern="0" spc="100" dirty="0">
                <a:solidFill>
                  <a:srgbClr val="9AA1AC"/>
                </a:solidFill>
                <a:latin typeface="Calibri" pitchFamily="34" charset="0"/>
                <a:ea typeface="Calibri" pitchFamily="34" charset="-122"/>
                <a:cs typeface="Calibri" pitchFamily="34" charset="-120"/>
              </a:rPr>
              <a:t>LUXURY REAL ESTATE INVESTMENT ADVISORY</a:t>
            </a:r>
            <a:endParaRPr lang="en-US" sz="800" dirty="0"/>
          </a:p>
        </p:txBody>
      </p:sp>
      <p:sp>
        <p:nvSpPr>
          <p:cNvPr id="47" name="Text 38"/>
          <p:cNvSpPr/>
          <p:nvPr/>
        </p:nvSpPr>
        <p:spPr>
          <a:xfrm>
            <a:off x="3809848" y="6510528"/>
            <a:ext cx="4572000" cy="256032"/>
          </a:xfrm>
          <a:prstGeom prst="rect">
            <a:avLst/>
          </a:prstGeom>
          <a:noFill/>
          <a:ln/>
        </p:spPr>
        <p:txBody>
          <a:bodyPr wrap="square" lIns="0" tIns="0" rIns="0" bIns="0" rtlCol="0" anchor="ctr"/>
          <a:lstStyle/>
          <a:p>
            <a:pPr marL="0" indent="0" algn="ctr">
              <a:buNone/>
            </a:pPr>
            <a:r>
              <a:rPr lang="en-US" sz="800" dirty="0">
                <a:solidFill>
                  <a:srgbClr val="9AA1AC"/>
                </a:solidFill>
                <a:latin typeface="Calibri" pitchFamily="34" charset="0"/>
                <a:ea typeface="Calibri" pitchFamily="34" charset="-122"/>
                <a:cs typeface="Calibri" pitchFamily="34" charset="-120"/>
              </a:rPr>
              <a:t>Investment Dashboard</a:t>
            </a:r>
            <a:endParaRPr lang="en-US" sz="800" dirty="0"/>
          </a:p>
        </p:txBody>
      </p:sp>
      <p:sp>
        <p:nvSpPr>
          <p:cNvPr id="48" name="Text 39"/>
          <p:cNvSpPr/>
          <p:nvPr/>
        </p:nvSpPr>
        <p:spPr>
          <a:xfrm>
            <a:off x="8031175" y="6510528"/>
            <a:ext cx="3657600" cy="256032"/>
          </a:xfrm>
          <a:prstGeom prst="rect">
            <a:avLst/>
          </a:prstGeom>
          <a:noFill/>
          <a:ln/>
        </p:spPr>
        <p:txBody>
          <a:bodyPr wrap="square" lIns="0" tIns="0" rIns="0" bIns="0" rtlCol="0" anchor="ctr"/>
          <a:lstStyle/>
          <a:p>
            <a:pPr marL="0" indent="0" algn="r">
              <a:buNone/>
            </a:pPr>
            <a:r>
              <a:rPr lang="en-US" sz="800" dirty="0">
                <a:solidFill>
                  <a:srgbClr val="9AA1AC"/>
                </a:solidFill>
                <a:latin typeface="Calibri" pitchFamily="34" charset="0"/>
                <a:ea typeface="Calibri" pitchFamily="34" charset="-122"/>
                <a:cs typeface="Calibri" pitchFamily="34" charset="-120"/>
              </a:rPr>
              <a:t>  06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lgn="l">
              <a:buNone/>
            </a:pPr>
            <a:r>
              <a:rPr lang="en-US" sz="1150" b="1" kern="0" spc="200" dirty="0">
                <a:solidFill>
                  <a:srgbClr val="C9A227"/>
                </a:solidFill>
                <a:latin typeface="Calibri" pitchFamily="34" charset="0"/>
                <a:ea typeface="Calibri" pitchFamily="34" charset="-122"/>
                <a:cs typeface="Calibri" pitchFamily="34" charset="-120"/>
              </a:rPr>
              <a:t>SECTION 06 · MARKET PRICING</a:t>
            </a:r>
            <a:endParaRPr lang="en-US" sz="1150" dirty="0"/>
          </a:p>
        </p:txBody>
      </p:sp>
      <p:sp>
        <p:nvSpPr>
          <p:cNvPr id="3" name="Text 1"/>
          <p:cNvSpPr/>
          <p:nvPr/>
        </p:nvSpPr>
        <p:spPr>
          <a:xfrm>
            <a:off x="502920" y="658368"/>
            <a:ext cx="10607040" cy="566928"/>
          </a:xfrm>
          <a:prstGeom prst="rect">
            <a:avLst/>
          </a:prstGeom>
          <a:noFill/>
          <a:ln/>
        </p:spPr>
        <p:txBody>
          <a:bodyPr wrap="square" lIns="0" tIns="0" rIns="0" bIns="0" rtlCol="0" anchor="ctr"/>
          <a:lstStyle/>
          <a:p>
            <a:pPr marL="0" indent="0" algn="l">
              <a:buNone/>
            </a:pPr>
            <a:r>
              <a:rPr lang="en-US" sz="2600" b="1" dirty="0">
                <a:solidFill>
                  <a:srgbClr val="0B1F3A"/>
                </a:solidFill>
                <a:latin typeface="Cambria" pitchFamily="34" charset="0"/>
                <a:ea typeface="Cambria" pitchFamily="34" charset="-122"/>
                <a:cs typeface="Cambria" pitchFamily="34" charset="-120"/>
              </a:rPr>
              <a:t>Pricing Analysis &amp; Value Positioning</a:t>
            </a:r>
            <a:endParaRPr lang="en-US" sz="2600" dirty="0"/>
          </a:p>
        </p:txBody>
      </p:sp>
      <p:sp>
        <p:nvSpPr>
          <p:cNvPr id="4" name="Text 2"/>
          <p:cNvSpPr/>
          <p:nvPr/>
        </p:nvSpPr>
        <p:spPr>
          <a:xfrm>
            <a:off x="502920" y="1417320"/>
            <a:ext cx="6035040" cy="237744"/>
          </a:xfrm>
          <a:prstGeom prst="rect">
            <a:avLst/>
          </a:prstGeom>
          <a:noFill/>
          <a:ln/>
        </p:spPr>
        <p:txBody>
          <a:bodyPr wrap="square" lIns="0" tIns="0" rIns="0" bIns="0" rtlCol="0" anchor="ctr"/>
          <a:lstStyle/>
          <a:p>
            <a:pPr marL="0" indent="0">
              <a:buNone/>
            </a:pPr>
            <a:r>
              <a:rPr lang="en-US" sz="1000" b="1" kern="0" spc="50" dirty="0">
                <a:solidFill>
                  <a:srgbClr val="0B1F3A"/>
                </a:solidFill>
                <a:latin typeface="Calibri" pitchFamily="34" charset="0"/>
                <a:ea typeface="Calibri" pitchFamily="34" charset="-122"/>
                <a:cs typeface="Calibri" pitchFamily="34" charset="-120"/>
              </a:rPr>
              <a:t>LAUNCH ENTRY PRICE BY UNIT TYPE (AED)</a:t>
            </a:r>
            <a:endParaRPr lang="en-US" sz="1000" dirty="0"/>
          </a:p>
        </p:txBody>
      </p:sp>
      <p:graphicFrame>
        <p:nvGraphicFramePr>
          <p:cNvPr id="5" name="Chart 0"/>
          <p:cNvGraphicFramePr/>
          <p:nvPr/>
        </p:nvGraphicFramePr>
        <p:xfrm>
          <a:off x="502920" y="1691640"/>
          <a:ext cx="6035040" cy="25146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502920" y="4251960"/>
            <a:ext cx="6035040" cy="219456"/>
          </a:xfrm>
          <a:prstGeom prst="rect">
            <a:avLst/>
          </a:prstGeom>
          <a:noFill/>
          <a:ln/>
        </p:spPr>
        <p:txBody>
          <a:bodyPr wrap="square" lIns="0" tIns="0" rIns="0" bIns="0" rtlCol="0" anchor="ctr"/>
          <a:lstStyle/>
          <a:p>
            <a:pPr marL="0" indent="0">
              <a:buNone/>
            </a:pPr>
            <a:r>
              <a:rPr lang="en-US" sz="800" i="1" dirty="0">
                <a:solidFill>
                  <a:srgbClr val="9AA1AC"/>
                </a:solidFill>
                <a:latin typeface="Calibri" pitchFamily="34" charset="0"/>
                <a:ea typeface="Calibri" pitchFamily="34" charset="-122"/>
                <a:cs typeface="Calibri" pitchFamily="34" charset="-120"/>
              </a:rPr>
              <a:t>Source: Emaar Properties; Property Finder; Propsearch.ae/DLD (Part 2–3).</a:t>
            </a:r>
            <a:endParaRPr lang="en-US" sz="800" dirty="0"/>
          </a:p>
        </p:txBody>
      </p:sp>
      <p:sp>
        <p:nvSpPr>
          <p:cNvPr id="7" name="Text 4"/>
          <p:cNvSpPr/>
          <p:nvPr/>
        </p:nvSpPr>
        <p:spPr>
          <a:xfrm>
            <a:off x="6858000" y="1417320"/>
            <a:ext cx="4830775" cy="237744"/>
          </a:xfrm>
          <a:prstGeom prst="rect">
            <a:avLst/>
          </a:prstGeom>
          <a:noFill/>
          <a:ln/>
        </p:spPr>
        <p:txBody>
          <a:bodyPr wrap="square" lIns="0" tIns="0" rIns="0" bIns="0" rtlCol="0" anchor="ctr"/>
          <a:lstStyle/>
          <a:p>
            <a:pPr marL="0" indent="0">
              <a:buNone/>
            </a:pPr>
            <a:r>
              <a:rPr lang="en-US" sz="1000" b="1" kern="0" spc="50" dirty="0">
                <a:solidFill>
                  <a:srgbClr val="0B1F3A"/>
                </a:solidFill>
                <a:latin typeface="Calibri" pitchFamily="34" charset="0"/>
                <a:ea typeface="Calibri" pitchFamily="34" charset="-122"/>
                <a:cs typeface="Calibri" pitchFamily="34" charset="-120"/>
              </a:rPr>
              <a:t>PRICE PER SQ.FT BENCHMARK</a:t>
            </a:r>
            <a:endParaRPr lang="en-US" sz="1000" dirty="0"/>
          </a:p>
        </p:txBody>
      </p:sp>
      <p:sp>
        <p:nvSpPr>
          <p:cNvPr id="8" name="Shape 5"/>
          <p:cNvSpPr/>
          <p:nvPr/>
        </p:nvSpPr>
        <p:spPr>
          <a:xfrm>
            <a:off x="6858000" y="1728216"/>
            <a:ext cx="4830775" cy="530352"/>
          </a:xfrm>
          <a:prstGeom prst="rect">
            <a:avLst/>
          </a:prstGeom>
          <a:solidFill>
            <a:srgbClr val="EEF1F6"/>
          </a:solidFill>
          <a:ln/>
        </p:spPr>
      </p:sp>
      <p:sp>
        <p:nvSpPr>
          <p:cNvPr id="9" name="Text 6"/>
          <p:cNvSpPr/>
          <p:nvPr/>
        </p:nvSpPr>
        <p:spPr>
          <a:xfrm>
            <a:off x="6995160" y="1728216"/>
            <a:ext cx="4556455" cy="274320"/>
          </a:xfrm>
          <a:prstGeom prst="rect">
            <a:avLst/>
          </a:prstGeom>
          <a:noFill/>
          <a:ln/>
        </p:spPr>
        <p:txBody>
          <a:bodyPr wrap="square" lIns="0" tIns="0" rIns="0" bIns="0" rtlCol="0" anchor="b"/>
          <a:lstStyle/>
          <a:p>
            <a:pPr marL="0" indent="0">
              <a:buNone/>
            </a:pPr>
            <a:r>
              <a:rPr lang="en-US" sz="950" dirty="0">
                <a:solidFill>
                  <a:srgbClr val="0B1F3A"/>
                </a:solidFill>
                <a:latin typeface="Calibri" pitchFamily="34" charset="0"/>
                <a:ea typeface="Calibri" pitchFamily="34" charset="-122"/>
                <a:cs typeface="Calibri" pitchFamily="34" charset="-120"/>
              </a:rPr>
              <a:t>Golf Acres (DLD transacted)</a:t>
            </a:r>
            <a:endParaRPr lang="en-US" sz="950" dirty="0"/>
          </a:p>
        </p:txBody>
      </p:sp>
      <p:sp>
        <p:nvSpPr>
          <p:cNvPr id="10" name="Text 7"/>
          <p:cNvSpPr/>
          <p:nvPr/>
        </p:nvSpPr>
        <p:spPr>
          <a:xfrm>
            <a:off x="6995160" y="1975104"/>
            <a:ext cx="4556455" cy="256032"/>
          </a:xfrm>
          <a:prstGeom prst="rect">
            <a:avLst/>
          </a:prstGeom>
          <a:noFill/>
          <a:ln/>
        </p:spPr>
        <p:txBody>
          <a:bodyPr wrap="square" lIns="0" tIns="0" rIns="0" bIns="0" rtlCol="0" anchor="t"/>
          <a:lstStyle/>
          <a:p>
            <a:pPr marL="0" indent="0">
              <a:buNone/>
            </a:pPr>
            <a:r>
              <a:rPr lang="en-US" sz="1150" b="1" dirty="0">
                <a:solidFill>
                  <a:srgbClr val="C9A227"/>
                </a:solidFill>
                <a:latin typeface="Calibri" pitchFamily="34" charset="0"/>
                <a:ea typeface="Calibri" pitchFamily="34" charset="-122"/>
                <a:cs typeface="Calibri" pitchFamily="34" charset="-120"/>
              </a:rPr>
              <a:t>AED 1,100–1,800/sq.ft</a:t>
            </a:r>
            <a:endParaRPr lang="en-US" sz="1150" dirty="0"/>
          </a:p>
        </p:txBody>
      </p:sp>
      <p:sp>
        <p:nvSpPr>
          <p:cNvPr id="11" name="Shape 8"/>
          <p:cNvSpPr/>
          <p:nvPr/>
        </p:nvSpPr>
        <p:spPr>
          <a:xfrm>
            <a:off x="6858000" y="2313432"/>
            <a:ext cx="4830775" cy="530352"/>
          </a:xfrm>
          <a:prstGeom prst="rect">
            <a:avLst/>
          </a:prstGeom>
          <a:solidFill>
            <a:srgbClr val="FFFFFF"/>
          </a:solidFill>
          <a:ln/>
        </p:spPr>
      </p:sp>
      <p:sp>
        <p:nvSpPr>
          <p:cNvPr id="12" name="Text 9"/>
          <p:cNvSpPr/>
          <p:nvPr/>
        </p:nvSpPr>
        <p:spPr>
          <a:xfrm>
            <a:off x="6995160" y="2313432"/>
            <a:ext cx="4556455" cy="274320"/>
          </a:xfrm>
          <a:prstGeom prst="rect">
            <a:avLst/>
          </a:prstGeom>
          <a:noFill/>
          <a:ln/>
        </p:spPr>
        <p:txBody>
          <a:bodyPr wrap="square" lIns="0" tIns="0" rIns="0" bIns="0" rtlCol="0" anchor="b"/>
          <a:lstStyle/>
          <a:p>
            <a:pPr marL="0" indent="0">
              <a:buNone/>
            </a:pPr>
            <a:r>
              <a:rPr lang="en-US" sz="950" dirty="0">
                <a:solidFill>
                  <a:srgbClr val="0B1F3A"/>
                </a:solidFill>
                <a:latin typeface="Calibri" pitchFamily="34" charset="0"/>
                <a:ea typeface="Calibri" pitchFamily="34" charset="-122"/>
                <a:cs typeface="Calibri" pitchFamily="34" charset="-120"/>
              </a:rPr>
              <a:t>Greenspoint (derived)</a:t>
            </a:r>
            <a:endParaRPr lang="en-US" sz="950" dirty="0"/>
          </a:p>
        </p:txBody>
      </p:sp>
      <p:sp>
        <p:nvSpPr>
          <p:cNvPr id="13" name="Text 10"/>
          <p:cNvSpPr/>
          <p:nvPr/>
        </p:nvSpPr>
        <p:spPr>
          <a:xfrm>
            <a:off x="6995160" y="2560320"/>
            <a:ext cx="4556455" cy="256032"/>
          </a:xfrm>
          <a:prstGeom prst="rect">
            <a:avLst/>
          </a:prstGeom>
          <a:noFill/>
          <a:ln/>
        </p:spPr>
        <p:txBody>
          <a:bodyPr wrap="square" lIns="0" tIns="0" rIns="0" bIns="0" rtlCol="0" anchor="t"/>
          <a:lstStyle/>
          <a:p>
            <a:pPr marL="0" indent="0">
              <a:buNone/>
            </a:pPr>
            <a:r>
              <a:rPr lang="en-US" sz="1150" b="1" dirty="0">
                <a:solidFill>
                  <a:srgbClr val="C9A227"/>
                </a:solidFill>
                <a:latin typeface="Calibri" pitchFamily="34" charset="0"/>
                <a:ea typeface="Calibri" pitchFamily="34" charset="-122"/>
                <a:cs typeface="Calibri" pitchFamily="34" charset="-120"/>
              </a:rPr>
              <a:t>AED 1,400–1,560/sq.ft</a:t>
            </a:r>
            <a:endParaRPr lang="en-US" sz="1150" dirty="0"/>
          </a:p>
        </p:txBody>
      </p:sp>
      <p:sp>
        <p:nvSpPr>
          <p:cNvPr id="14" name="Shape 11"/>
          <p:cNvSpPr/>
          <p:nvPr/>
        </p:nvSpPr>
        <p:spPr>
          <a:xfrm>
            <a:off x="6858000" y="2898648"/>
            <a:ext cx="4830775" cy="530352"/>
          </a:xfrm>
          <a:prstGeom prst="rect">
            <a:avLst/>
          </a:prstGeom>
          <a:solidFill>
            <a:srgbClr val="EEF1F6"/>
          </a:solidFill>
          <a:ln/>
        </p:spPr>
      </p:sp>
      <p:sp>
        <p:nvSpPr>
          <p:cNvPr id="15" name="Text 12"/>
          <p:cNvSpPr/>
          <p:nvPr/>
        </p:nvSpPr>
        <p:spPr>
          <a:xfrm>
            <a:off x="6995160" y="2898648"/>
            <a:ext cx="4556455" cy="274320"/>
          </a:xfrm>
          <a:prstGeom prst="rect">
            <a:avLst/>
          </a:prstGeom>
          <a:noFill/>
          <a:ln/>
        </p:spPr>
        <p:txBody>
          <a:bodyPr wrap="square" lIns="0" tIns="0" rIns="0" bIns="0" rtlCol="0" anchor="b"/>
          <a:lstStyle/>
          <a:p>
            <a:pPr marL="0" indent="0">
              <a:buNone/>
            </a:pPr>
            <a:r>
              <a:rPr lang="en-US" sz="950" dirty="0">
                <a:solidFill>
                  <a:srgbClr val="0B1F3A"/>
                </a:solidFill>
                <a:latin typeface="Calibri" pitchFamily="34" charset="0"/>
                <a:ea typeface="Calibri" pitchFamily="34" charset="-122"/>
                <a:cs typeface="Calibri" pitchFamily="34" charset="-120"/>
              </a:rPr>
              <a:t>Emaar South community avg.</a:t>
            </a:r>
            <a:endParaRPr lang="en-US" sz="950" dirty="0"/>
          </a:p>
        </p:txBody>
      </p:sp>
      <p:sp>
        <p:nvSpPr>
          <p:cNvPr id="16" name="Text 13"/>
          <p:cNvSpPr/>
          <p:nvPr/>
        </p:nvSpPr>
        <p:spPr>
          <a:xfrm>
            <a:off x="6995160" y="3145536"/>
            <a:ext cx="4556455" cy="256032"/>
          </a:xfrm>
          <a:prstGeom prst="rect">
            <a:avLst/>
          </a:prstGeom>
          <a:noFill/>
          <a:ln/>
        </p:spPr>
        <p:txBody>
          <a:bodyPr wrap="square" lIns="0" tIns="0" rIns="0" bIns="0" rtlCol="0" anchor="t"/>
          <a:lstStyle/>
          <a:p>
            <a:pPr marL="0" indent="0">
              <a:buNone/>
            </a:pPr>
            <a:r>
              <a:rPr lang="en-US" sz="1150" b="1" dirty="0">
                <a:solidFill>
                  <a:srgbClr val="C9A227"/>
                </a:solidFill>
                <a:latin typeface="Calibri" pitchFamily="34" charset="0"/>
                <a:ea typeface="Calibri" pitchFamily="34" charset="-122"/>
                <a:cs typeface="Calibri" pitchFamily="34" charset="-120"/>
              </a:rPr>
              <a:t>AED 1,605/sq.ft</a:t>
            </a:r>
            <a:endParaRPr lang="en-US" sz="1150" dirty="0"/>
          </a:p>
        </p:txBody>
      </p:sp>
      <p:sp>
        <p:nvSpPr>
          <p:cNvPr id="17" name="Shape 14"/>
          <p:cNvSpPr/>
          <p:nvPr/>
        </p:nvSpPr>
        <p:spPr>
          <a:xfrm>
            <a:off x="6858000" y="3483864"/>
            <a:ext cx="4830775" cy="530352"/>
          </a:xfrm>
          <a:prstGeom prst="rect">
            <a:avLst/>
          </a:prstGeom>
          <a:solidFill>
            <a:srgbClr val="FFFFFF"/>
          </a:solidFill>
          <a:ln/>
        </p:spPr>
      </p:sp>
      <p:sp>
        <p:nvSpPr>
          <p:cNvPr id="18" name="Text 15"/>
          <p:cNvSpPr/>
          <p:nvPr/>
        </p:nvSpPr>
        <p:spPr>
          <a:xfrm>
            <a:off x="6995160" y="3483864"/>
            <a:ext cx="4556455" cy="274320"/>
          </a:xfrm>
          <a:prstGeom prst="rect">
            <a:avLst/>
          </a:prstGeom>
          <a:noFill/>
          <a:ln/>
        </p:spPr>
        <p:txBody>
          <a:bodyPr wrap="square" lIns="0" tIns="0" rIns="0" bIns="0" rtlCol="0" anchor="b"/>
          <a:lstStyle/>
          <a:p>
            <a:pPr marL="0" indent="0">
              <a:buNone/>
            </a:pPr>
            <a:r>
              <a:rPr lang="en-US" sz="950" dirty="0">
                <a:solidFill>
                  <a:srgbClr val="0B1F3A"/>
                </a:solidFill>
                <a:latin typeface="Calibri" pitchFamily="34" charset="0"/>
                <a:ea typeface="Calibri" pitchFamily="34" charset="-122"/>
                <a:cs typeface="Calibri" pitchFamily="34" charset="-120"/>
              </a:rPr>
              <a:t>Dubai citywide average</a:t>
            </a:r>
            <a:endParaRPr lang="en-US" sz="950" dirty="0"/>
          </a:p>
        </p:txBody>
      </p:sp>
      <p:sp>
        <p:nvSpPr>
          <p:cNvPr id="19" name="Text 16"/>
          <p:cNvSpPr/>
          <p:nvPr/>
        </p:nvSpPr>
        <p:spPr>
          <a:xfrm>
            <a:off x="6995160" y="3730752"/>
            <a:ext cx="4556455" cy="256032"/>
          </a:xfrm>
          <a:prstGeom prst="rect">
            <a:avLst/>
          </a:prstGeom>
          <a:noFill/>
          <a:ln/>
        </p:spPr>
        <p:txBody>
          <a:bodyPr wrap="square" lIns="0" tIns="0" rIns="0" bIns="0" rtlCol="0" anchor="t"/>
          <a:lstStyle/>
          <a:p>
            <a:pPr marL="0" indent="0">
              <a:buNone/>
            </a:pPr>
            <a:r>
              <a:rPr lang="en-US" sz="1150" b="1" dirty="0">
                <a:solidFill>
                  <a:srgbClr val="C9A227"/>
                </a:solidFill>
                <a:latin typeface="Calibri" pitchFamily="34" charset="0"/>
                <a:ea typeface="Calibri" pitchFamily="34" charset="-122"/>
                <a:cs typeface="Calibri" pitchFamily="34" charset="-120"/>
              </a:rPr>
              <a:t>AED 1,916–1,976/sq.ft</a:t>
            </a:r>
            <a:endParaRPr lang="en-US" sz="1150" dirty="0"/>
          </a:p>
        </p:txBody>
      </p:sp>
      <p:sp>
        <p:nvSpPr>
          <p:cNvPr id="20" name="Shape 17"/>
          <p:cNvSpPr/>
          <p:nvPr/>
        </p:nvSpPr>
        <p:spPr>
          <a:xfrm>
            <a:off x="502920" y="4617720"/>
            <a:ext cx="11185855" cy="868680"/>
          </a:xfrm>
          <a:prstGeom prst="rect">
            <a:avLst/>
          </a:prstGeom>
          <a:solidFill>
            <a:srgbClr val="EEF1F6"/>
          </a:solidFill>
          <a:ln/>
        </p:spPr>
      </p:sp>
      <p:sp>
        <p:nvSpPr>
          <p:cNvPr id="21" name="Text 18"/>
          <p:cNvSpPr/>
          <p:nvPr/>
        </p:nvSpPr>
        <p:spPr>
          <a:xfrm>
            <a:off x="731520" y="4727448"/>
            <a:ext cx="10728655" cy="219456"/>
          </a:xfrm>
          <a:prstGeom prst="rect">
            <a:avLst/>
          </a:prstGeom>
          <a:noFill/>
          <a:ln/>
        </p:spPr>
        <p:txBody>
          <a:bodyPr wrap="square" lIns="0" tIns="0" rIns="0" bIns="0" rtlCol="0" anchor="ctr"/>
          <a:lstStyle/>
          <a:p>
            <a:pPr marL="0" indent="0">
              <a:buNone/>
            </a:pPr>
            <a:r>
              <a:rPr lang="en-US" sz="1000" b="1" kern="0" spc="100" dirty="0">
                <a:solidFill>
                  <a:srgbClr val="0B1F3A"/>
                </a:solidFill>
                <a:latin typeface="Calibri" pitchFamily="34" charset="0"/>
                <a:ea typeface="Calibri" pitchFamily="34" charset="-122"/>
                <a:cs typeface="Calibri" pitchFamily="34" charset="-120"/>
              </a:rPr>
              <a:t>VALUE POSITIONING   </a:t>
            </a:r>
            <a:endParaRPr lang="en-US" sz="1000" dirty="0"/>
          </a:p>
        </p:txBody>
      </p:sp>
      <p:sp>
        <p:nvSpPr>
          <p:cNvPr id="22" name="Text 19"/>
          <p:cNvSpPr/>
          <p:nvPr/>
        </p:nvSpPr>
        <p:spPr>
          <a:xfrm>
            <a:off x="731520" y="4946904"/>
            <a:ext cx="10728655" cy="475488"/>
          </a:xfrm>
          <a:prstGeom prst="rect">
            <a:avLst/>
          </a:prstGeom>
          <a:noFill/>
          <a:ln/>
        </p:spPr>
        <p:txBody>
          <a:bodyPr wrap="square" lIns="0" tIns="0" rIns="0" bIns="0" rtlCol="0" anchor="ctr"/>
          <a:lstStyle/>
          <a:p>
            <a:pPr marL="0" indent="0">
              <a:lnSpc>
                <a:spcPct val="110000"/>
              </a:lnSpc>
              <a:buNone/>
            </a:pPr>
            <a:r>
              <a:rPr lang="en-US" sz="1100" dirty="0">
                <a:solidFill>
                  <a:srgbClr val="666666"/>
                </a:solidFill>
                <a:latin typeface="Calibri" pitchFamily="34" charset="0"/>
                <a:ea typeface="Calibri" pitchFamily="34" charset="-122"/>
                <a:cs typeface="Calibri" pitchFamily="34" charset="-120"/>
              </a:rPr>
              <a:t>Golf Acres sits 19–43% below the Dubai citywide PSF average, while Emaar South community PSF has grown +19.3% to +22.8% YoY (Property Finder; Real Estate Club Dubai). This combination — below-market entry, above-market growth — is the affordability thesis for Golf Acres.</a:t>
            </a:r>
            <a:endParaRPr lang="en-US" sz="1100" dirty="0"/>
          </a:p>
        </p:txBody>
      </p:sp>
      <p:sp>
        <p:nvSpPr>
          <p:cNvPr id="23" name="Text 20"/>
          <p:cNvSpPr/>
          <p:nvPr/>
        </p:nvSpPr>
        <p:spPr>
          <a:xfrm>
            <a:off x="502920" y="6510528"/>
            <a:ext cx="3657600" cy="256032"/>
          </a:xfrm>
          <a:prstGeom prst="rect">
            <a:avLst/>
          </a:prstGeom>
          <a:noFill/>
          <a:ln/>
        </p:spPr>
        <p:txBody>
          <a:bodyPr wrap="square" lIns="0" tIns="0" rIns="0" bIns="0" rtlCol="0" anchor="ctr"/>
          <a:lstStyle/>
          <a:p>
            <a:pPr marL="0" indent="0" algn="l">
              <a:buNone/>
            </a:pPr>
            <a:r>
              <a:rPr lang="en-US" sz="800" kern="0" spc="100" dirty="0">
                <a:solidFill>
                  <a:srgbClr val="9AA1AC"/>
                </a:solidFill>
                <a:latin typeface="Calibri" pitchFamily="34" charset="0"/>
                <a:ea typeface="Calibri" pitchFamily="34" charset="-122"/>
                <a:cs typeface="Calibri" pitchFamily="34" charset="-120"/>
              </a:rPr>
              <a:t>LUXURY REAL ESTATE INVESTMENT ADVISORY</a:t>
            </a:r>
            <a:endParaRPr lang="en-US" sz="800" dirty="0"/>
          </a:p>
        </p:txBody>
      </p:sp>
      <p:sp>
        <p:nvSpPr>
          <p:cNvPr id="24" name="Text 21"/>
          <p:cNvSpPr/>
          <p:nvPr/>
        </p:nvSpPr>
        <p:spPr>
          <a:xfrm>
            <a:off x="3809848" y="6510528"/>
            <a:ext cx="4572000" cy="256032"/>
          </a:xfrm>
          <a:prstGeom prst="rect">
            <a:avLst/>
          </a:prstGeom>
          <a:noFill/>
          <a:ln/>
        </p:spPr>
        <p:txBody>
          <a:bodyPr wrap="square" lIns="0" tIns="0" rIns="0" bIns="0" rtlCol="0" anchor="ctr"/>
          <a:lstStyle/>
          <a:p>
            <a:pPr marL="0" indent="0" algn="ctr">
              <a:buNone/>
            </a:pPr>
            <a:r>
              <a:rPr lang="en-US" sz="800" dirty="0">
                <a:solidFill>
                  <a:srgbClr val="9AA1AC"/>
                </a:solidFill>
                <a:latin typeface="Calibri" pitchFamily="34" charset="0"/>
                <a:ea typeface="Calibri" pitchFamily="34" charset="-122"/>
                <a:cs typeface="Calibri" pitchFamily="34" charset="-120"/>
              </a:rPr>
              <a:t>Pricing Analysis</a:t>
            </a:r>
            <a:endParaRPr lang="en-US" sz="800" dirty="0"/>
          </a:p>
        </p:txBody>
      </p:sp>
      <p:sp>
        <p:nvSpPr>
          <p:cNvPr id="25" name="Text 22"/>
          <p:cNvSpPr/>
          <p:nvPr/>
        </p:nvSpPr>
        <p:spPr>
          <a:xfrm>
            <a:off x="8031175" y="6510528"/>
            <a:ext cx="3657600" cy="256032"/>
          </a:xfrm>
          <a:prstGeom prst="rect">
            <a:avLst/>
          </a:prstGeom>
          <a:noFill/>
          <a:ln/>
        </p:spPr>
        <p:txBody>
          <a:bodyPr wrap="square" lIns="0" tIns="0" rIns="0" bIns="0" rtlCol="0" anchor="ctr"/>
          <a:lstStyle/>
          <a:p>
            <a:pPr marL="0" indent="0" algn="r">
              <a:buNone/>
            </a:pPr>
            <a:r>
              <a:rPr lang="en-US" sz="800" dirty="0">
                <a:solidFill>
                  <a:srgbClr val="9AA1AC"/>
                </a:solidFill>
                <a:latin typeface="Calibri" pitchFamily="34" charset="0"/>
                <a:ea typeface="Calibri" pitchFamily="34" charset="-122"/>
                <a:cs typeface="Calibri" pitchFamily="34" charset="-120"/>
              </a:rPr>
              <a:t>07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lgn="l">
              <a:buNone/>
            </a:pPr>
            <a:r>
              <a:rPr lang="en-US" sz="1150" b="1" kern="0" spc="200" dirty="0">
                <a:solidFill>
                  <a:srgbClr val="C9A227"/>
                </a:solidFill>
                <a:latin typeface="Calibri" pitchFamily="34" charset="0"/>
                <a:ea typeface="Calibri" pitchFamily="34" charset="-122"/>
                <a:cs typeface="Calibri" pitchFamily="34" charset="-120"/>
              </a:rPr>
              <a:t>SECTION 07 · RETURN ANALYSIS</a:t>
            </a:r>
            <a:endParaRPr lang="en-US" sz="1150" dirty="0"/>
          </a:p>
        </p:txBody>
      </p:sp>
      <p:sp>
        <p:nvSpPr>
          <p:cNvPr id="3" name="Text 1"/>
          <p:cNvSpPr/>
          <p:nvPr/>
        </p:nvSpPr>
        <p:spPr>
          <a:xfrm>
            <a:off x="502920" y="658368"/>
            <a:ext cx="10607040" cy="566928"/>
          </a:xfrm>
          <a:prstGeom prst="rect">
            <a:avLst/>
          </a:prstGeom>
          <a:noFill/>
          <a:ln/>
        </p:spPr>
        <p:txBody>
          <a:bodyPr wrap="square" lIns="0" tIns="0" rIns="0" bIns="0" rtlCol="0" anchor="ctr"/>
          <a:lstStyle/>
          <a:p>
            <a:pPr marL="0" indent="0" algn="l">
              <a:buNone/>
            </a:pPr>
            <a:r>
              <a:rPr lang="en-US" sz="2600" b="1" dirty="0">
                <a:solidFill>
                  <a:srgbClr val="0B1F3A"/>
                </a:solidFill>
                <a:latin typeface="Cambria" pitchFamily="34" charset="0"/>
                <a:ea typeface="Cambria" pitchFamily="34" charset="-122"/>
                <a:cs typeface="Cambria" pitchFamily="34" charset="-120"/>
              </a:rPr>
              <a:t>ROI Analysis: Yield, Appreciation &amp; Holding Period</a:t>
            </a:r>
            <a:endParaRPr lang="en-US" sz="2600" dirty="0"/>
          </a:p>
        </p:txBody>
      </p:sp>
      <p:sp>
        <p:nvSpPr>
          <p:cNvPr id="4" name="Text 2"/>
          <p:cNvSpPr/>
          <p:nvPr/>
        </p:nvSpPr>
        <p:spPr>
          <a:xfrm>
            <a:off x="502920" y="1417320"/>
            <a:ext cx="5943600" cy="237744"/>
          </a:xfrm>
          <a:prstGeom prst="rect">
            <a:avLst/>
          </a:prstGeom>
          <a:noFill/>
          <a:ln/>
        </p:spPr>
        <p:txBody>
          <a:bodyPr wrap="square" lIns="0" tIns="0" rIns="0" bIns="0" rtlCol="0" anchor="ctr"/>
          <a:lstStyle/>
          <a:p>
            <a:pPr marL="0" indent="0">
              <a:buNone/>
            </a:pPr>
            <a:r>
              <a:rPr lang="en-US" sz="950" b="1" kern="0" spc="30" dirty="0">
                <a:solidFill>
                  <a:srgbClr val="0B1F3A"/>
                </a:solidFill>
                <a:latin typeface="Calibri" pitchFamily="34" charset="0"/>
                <a:ea typeface="Calibri" pitchFamily="34" charset="-122"/>
                <a:cs typeface="Calibri" pitchFamily="34" charset="-120"/>
              </a:rPr>
              <a:t>ILLUSTRATIVE ANNUAL CASH RETURN — GOLF ACRES 1-BED (AED)</a:t>
            </a:r>
            <a:endParaRPr lang="en-US" sz="950" dirty="0"/>
          </a:p>
        </p:txBody>
      </p:sp>
      <p:graphicFrame>
        <p:nvGraphicFramePr>
          <p:cNvPr id="5" name="Chart 0"/>
          <p:cNvGraphicFramePr/>
          <p:nvPr/>
        </p:nvGraphicFramePr>
        <p:xfrm>
          <a:off x="502920" y="1691640"/>
          <a:ext cx="5943600" cy="246888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502920" y="4206240"/>
            <a:ext cx="5943600" cy="310896"/>
          </a:xfrm>
          <a:prstGeom prst="rect">
            <a:avLst/>
          </a:prstGeom>
          <a:noFill/>
          <a:ln/>
        </p:spPr>
        <p:txBody>
          <a:bodyPr wrap="square" lIns="0" tIns="0" rIns="0" bIns="0" rtlCol="0" anchor="ctr"/>
          <a:lstStyle/>
          <a:p>
            <a:pPr marL="0" indent="0">
              <a:lnSpc>
                <a:spcPct val="105000"/>
              </a:lnSpc>
              <a:buNone/>
            </a:pPr>
            <a:r>
              <a:rPr lang="en-US" sz="800" i="1" dirty="0">
                <a:solidFill>
                  <a:srgbClr val="9AA1AC"/>
                </a:solidFill>
                <a:latin typeface="Calibri" pitchFamily="34" charset="0"/>
                <a:ea typeface="Calibri" pitchFamily="34" charset="-122"/>
                <a:cs typeface="Calibri" pitchFamily="34" charset="-120"/>
              </a:rPr>
              <a:t>Illustrative calculation by this report using community-level yield assumptions — not a project-specific guarantee. Source: Property Finder Emaar South yield data (Part 5).</a:t>
            </a:r>
            <a:endParaRPr lang="en-US" sz="800" dirty="0"/>
          </a:p>
        </p:txBody>
      </p:sp>
      <p:sp>
        <p:nvSpPr>
          <p:cNvPr id="7" name="Shape 4"/>
          <p:cNvSpPr/>
          <p:nvPr/>
        </p:nvSpPr>
        <p:spPr>
          <a:xfrm>
            <a:off x="6766560" y="1417320"/>
            <a:ext cx="4922215" cy="841248"/>
          </a:xfrm>
          <a:prstGeom prst="rect">
            <a:avLst/>
          </a:prstGeom>
          <a:solidFill>
            <a:srgbClr val="0B1F3A"/>
          </a:solidFill>
          <a:ln/>
          <a:effectLst>
            <a:outerShdw blurRad="88900" dist="25400" dir="5400000" algn="bl" rotWithShape="0">
              <a:srgbClr val="0B1F3A">
                <a:alpha val="10000"/>
              </a:srgbClr>
            </a:outerShdw>
          </a:effectLst>
        </p:spPr>
      </p:sp>
      <p:sp>
        <p:nvSpPr>
          <p:cNvPr id="8" name="Text 5"/>
          <p:cNvSpPr/>
          <p:nvPr/>
        </p:nvSpPr>
        <p:spPr>
          <a:xfrm>
            <a:off x="6949440" y="1508760"/>
            <a:ext cx="4556455" cy="384048"/>
          </a:xfrm>
          <a:prstGeom prst="rect">
            <a:avLst/>
          </a:prstGeom>
          <a:noFill/>
          <a:ln/>
        </p:spPr>
        <p:txBody>
          <a:bodyPr wrap="square" lIns="0" tIns="0" rIns="0" bIns="0" rtlCol="0" anchor="ctr"/>
          <a:lstStyle/>
          <a:p>
            <a:pPr marL="0" indent="0">
              <a:buNone/>
            </a:pPr>
            <a:r>
              <a:rPr lang="en-US" sz="1900" b="1" dirty="0">
                <a:solidFill>
                  <a:srgbClr val="C9A227"/>
                </a:solidFill>
                <a:latin typeface="Cambria" pitchFamily="34" charset="0"/>
                <a:ea typeface="Cambria" pitchFamily="34" charset="-122"/>
                <a:cs typeface="Cambria" pitchFamily="34" charset="-120"/>
              </a:rPr>
              <a:t>~4.2%–6.2%</a:t>
            </a:r>
            <a:endParaRPr lang="en-US" sz="1900" dirty="0"/>
          </a:p>
        </p:txBody>
      </p:sp>
      <p:sp>
        <p:nvSpPr>
          <p:cNvPr id="9" name="Text 6"/>
          <p:cNvSpPr/>
          <p:nvPr/>
        </p:nvSpPr>
        <p:spPr>
          <a:xfrm>
            <a:off x="6949440" y="1892808"/>
            <a:ext cx="4556455" cy="329184"/>
          </a:xfrm>
          <a:prstGeom prst="rect">
            <a:avLst/>
          </a:prstGeom>
          <a:noFill/>
          <a:ln/>
        </p:spPr>
        <p:txBody>
          <a:bodyPr wrap="square" lIns="0" tIns="0" rIns="0" bIns="0" rtlCol="0" anchor="ctr"/>
          <a:lstStyle/>
          <a:p>
            <a:pPr marL="0" indent="0">
              <a:lnSpc>
                <a:spcPct val="100000"/>
              </a:lnSpc>
              <a:buNone/>
            </a:pPr>
            <a:r>
              <a:rPr lang="en-US" sz="850" dirty="0">
                <a:solidFill>
                  <a:srgbClr val="AEB9CC"/>
                </a:solidFill>
                <a:latin typeface="Calibri" pitchFamily="34" charset="0"/>
                <a:ea typeface="Calibri" pitchFamily="34" charset="-122"/>
                <a:cs typeface="Calibri" pitchFamily="34" charset="-120"/>
              </a:rPr>
              <a:t>Est. Gross Rental Yield (Emaar South apts.)</a:t>
            </a:r>
            <a:endParaRPr lang="en-US" sz="850" dirty="0"/>
          </a:p>
        </p:txBody>
      </p:sp>
      <p:sp>
        <p:nvSpPr>
          <p:cNvPr id="10" name="Shape 7"/>
          <p:cNvSpPr/>
          <p:nvPr/>
        </p:nvSpPr>
        <p:spPr>
          <a:xfrm>
            <a:off x="6766560" y="2377440"/>
            <a:ext cx="4922215" cy="841248"/>
          </a:xfrm>
          <a:prstGeom prst="rect">
            <a:avLst/>
          </a:prstGeom>
          <a:solidFill>
            <a:srgbClr val="0B1F3A"/>
          </a:solidFill>
          <a:ln/>
          <a:effectLst>
            <a:outerShdw blurRad="88900" dist="25400" dir="5400000" algn="bl" rotWithShape="0">
              <a:srgbClr val="0B1F3A">
                <a:alpha val="10000"/>
              </a:srgbClr>
            </a:outerShdw>
          </a:effectLst>
        </p:spPr>
      </p:sp>
      <p:sp>
        <p:nvSpPr>
          <p:cNvPr id="11" name="Text 8"/>
          <p:cNvSpPr/>
          <p:nvPr/>
        </p:nvSpPr>
        <p:spPr>
          <a:xfrm>
            <a:off x="6949440" y="2468880"/>
            <a:ext cx="4556455" cy="384048"/>
          </a:xfrm>
          <a:prstGeom prst="rect">
            <a:avLst/>
          </a:prstGeom>
          <a:noFill/>
          <a:ln/>
        </p:spPr>
        <p:txBody>
          <a:bodyPr wrap="square" lIns="0" tIns="0" rIns="0" bIns="0" rtlCol="0" anchor="ctr"/>
          <a:lstStyle/>
          <a:p>
            <a:pPr marL="0" indent="0">
              <a:buNone/>
            </a:pPr>
            <a:r>
              <a:rPr lang="en-US" sz="1900" b="1" dirty="0">
                <a:solidFill>
                  <a:srgbClr val="C9A227"/>
                </a:solidFill>
                <a:latin typeface="Cambria" pitchFamily="34" charset="0"/>
                <a:ea typeface="Cambria" pitchFamily="34" charset="-122"/>
                <a:cs typeface="Cambria" pitchFamily="34" charset="-120"/>
              </a:rPr>
              <a:t>+19.3%–22.8%</a:t>
            </a:r>
            <a:endParaRPr lang="en-US" sz="1900" dirty="0"/>
          </a:p>
        </p:txBody>
      </p:sp>
      <p:sp>
        <p:nvSpPr>
          <p:cNvPr id="12" name="Text 9"/>
          <p:cNvSpPr/>
          <p:nvPr/>
        </p:nvSpPr>
        <p:spPr>
          <a:xfrm>
            <a:off x="6949440" y="2852928"/>
            <a:ext cx="4556455" cy="329184"/>
          </a:xfrm>
          <a:prstGeom prst="rect">
            <a:avLst/>
          </a:prstGeom>
          <a:noFill/>
          <a:ln/>
        </p:spPr>
        <p:txBody>
          <a:bodyPr wrap="square" lIns="0" tIns="0" rIns="0" bIns="0" rtlCol="0" anchor="ctr"/>
          <a:lstStyle/>
          <a:p>
            <a:pPr marL="0" indent="0">
              <a:lnSpc>
                <a:spcPct val="100000"/>
              </a:lnSpc>
              <a:buNone/>
            </a:pPr>
            <a:r>
              <a:rPr lang="en-US" sz="850" dirty="0">
                <a:solidFill>
                  <a:srgbClr val="AEB9CC"/>
                </a:solidFill>
                <a:latin typeface="Calibri" pitchFamily="34" charset="0"/>
                <a:ea typeface="Calibri" pitchFamily="34" charset="-122"/>
                <a:cs typeface="Calibri" pitchFamily="34" charset="-120"/>
              </a:rPr>
              <a:t>Community PSF Growth, YoY</a:t>
            </a:r>
            <a:endParaRPr lang="en-US" sz="850" dirty="0"/>
          </a:p>
        </p:txBody>
      </p:sp>
      <p:sp>
        <p:nvSpPr>
          <p:cNvPr id="13" name="Shape 10"/>
          <p:cNvSpPr/>
          <p:nvPr/>
        </p:nvSpPr>
        <p:spPr>
          <a:xfrm>
            <a:off x="6766560" y="3337560"/>
            <a:ext cx="4922215" cy="841248"/>
          </a:xfrm>
          <a:prstGeom prst="rect">
            <a:avLst/>
          </a:prstGeom>
          <a:solidFill>
            <a:srgbClr val="0B1F3A"/>
          </a:solidFill>
          <a:ln/>
          <a:effectLst>
            <a:outerShdw blurRad="88900" dist="25400" dir="5400000" algn="bl" rotWithShape="0">
              <a:srgbClr val="0B1F3A">
                <a:alpha val="10000"/>
              </a:srgbClr>
            </a:outerShdw>
          </a:effectLst>
        </p:spPr>
      </p:sp>
      <p:sp>
        <p:nvSpPr>
          <p:cNvPr id="14" name="Text 11"/>
          <p:cNvSpPr/>
          <p:nvPr/>
        </p:nvSpPr>
        <p:spPr>
          <a:xfrm>
            <a:off x="6949440" y="3429000"/>
            <a:ext cx="4556455" cy="384048"/>
          </a:xfrm>
          <a:prstGeom prst="rect">
            <a:avLst/>
          </a:prstGeom>
          <a:noFill/>
          <a:ln/>
        </p:spPr>
        <p:txBody>
          <a:bodyPr wrap="square" lIns="0" tIns="0" rIns="0" bIns="0" rtlCol="0" anchor="ctr"/>
          <a:lstStyle/>
          <a:p>
            <a:pPr marL="0" indent="0">
              <a:buNone/>
            </a:pPr>
            <a:r>
              <a:rPr lang="en-US" sz="1900" b="1" dirty="0">
                <a:solidFill>
                  <a:srgbClr val="C9A227"/>
                </a:solidFill>
                <a:latin typeface="Cambria" pitchFamily="34" charset="0"/>
                <a:ea typeface="Cambria" pitchFamily="34" charset="-122"/>
                <a:cs typeface="Cambria" pitchFamily="34" charset="-120"/>
              </a:rPr>
              <a:t>6–8 Years</a:t>
            </a:r>
            <a:endParaRPr lang="en-US" sz="1900" dirty="0"/>
          </a:p>
        </p:txBody>
      </p:sp>
      <p:sp>
        <p:nvSpPr>
          <p:cNvPr id="15" name="Text 12"/>
          <p:cNvSpPr/>
          <p:nvPr/>
        </p:nvSpPr>
        <p:spPr>
          <a:xfrm>
            <a:off x="6949440" y="3813048"/>
            <a:ext cx="4556455" cy="329184"/>
          </a:xfrm>
          <a:prstGeom prst="rect">
            <a:avLst/>
          </a:prstGeom>
          <a:noFill/>
          <a:ln/>
        </p:spPr>
        <p:txBody>
          <a:bodyPr wrap="square" lIns="0" tIns="0" rIns="0" bIns="0" rtlCol="0" anchor="ctr"/>
          <a:lstStyle/>
          <a:p>
            <a:pPr marL="0" indent="0">
              <a:lnSpc>
                <a:spcPct val="100000"/>
              </a:lnSpc>
              <a:buNone/>
            </a:pPr>
            <a:r>
              <a:rPr lang="en-US" sz="850" dirty="0">
                <a:solidFill>
                  <a:srgbClr val="AEB9CC"/>
                </a:solidFill>
                <a:latin typeface="Calibri" pitchFamily="34" charset="0"/>
                <a:ea typeface="Calibri" pitchFamily="34" charset="-122"/>
                <a:cs typeface="Calibri" pitchFamily="34" charset="-120"/>
              </a:rPr>
              <a:t>Recommended Holding Period</a:t>
            </a:r>
            <a:endParaRPr lang="en-US" sz="850" dirty="0"/>
          </a:p>
        </p:txBody>
      </p:sp>
      <p:sp>
        <p:nvSpPr>
          <p:cNvPr id="16" name="Shape 13"/>
          <p:cNvSpPr/>
          <p:nvPr/>
        </p:nvSpPr>
        <p:spPr>
          <a:xfrm>
            <a:off x="502920" y="4617720"/>
            <a:ext cx="11185855" cy="822960"/>
          </a:xfrm>
          <a:prstGeom prst="rect">
            <a:avLst/>
          </a:prstGeom>
          <a:solidFill>
            <a:srgbClr val="FBF5E6"/>
          </a:solidFill>
          <a:ln/>
        </p:spPr>
      </p:sp>
      <p:sp>
        <p:nvSpPr>
          <p:cNvPr id="17" name="Text 14"/>
          <p:cNvSpPr/>
          <p:nvPr/>
        </p:nvSpPr>
        <p:spPr>
          <a:xfrm>
            <a:off x="731520" y="4709160"/>
            <a:ext cx="10728655" cy="219456"/>
          </a:xfrm>
          <a:prstGeom prst="rect">
            <a:avLst/>
          </a:prstGeom>
          <a:noFill/>
          <a:ln/>
        </p:spPr>
        <p:txBody>
          <a:bodyPr wrap="square" lIns="0" tIns="0" rIns="0" bIns="0" rtlCol="0" anchor="ctr"/>
          <a:lstStyle/>
          <a:p>
            <a:pPr marL="0" indent="0">
              <a:buNone/>
            </a:pPr>
            <a:r>
              <a:rPr lang="en-US" sz="1000" b="1" kern="0" spc="100" dirty="0">
                <a:solidFill>
                  <a:srgbClr val="0B1F3A"/>
                </a:solidFill>
                <a:latin typeface="Calibri" pitchFamily="34" charset="0"/>
                <a:ea typeface="Calibri" pitchFamily="34" charset="-122"/>
                <a:cs typeface="Calibri" pitchFamily="34" charset="-120"/>
              </a:rPr>
              <a:t>INVESTMENT RECOMMENDATION   </a:t>
            </a:r>
            <a:endParaRPr lang="en-US" sz="1000" dirty="0"/>
          </a:p>
        </p:txBody>
      </p:sp>
      <p:sp>
        <p:nvSpPr>
          <p:cNvPr id="18" name="Text 15"/>
          <p:cNvSpPr/>
          <p:nvPr/>
        </p:nvSpPr>
        <p:spPr>
          <a:xfrm>
            <a:off x="731520" y="4928616"/>
            <a:ext cx="10728655" cy="457200"/>
          </a:xfrm>
          <a:prstGeom prst="rect">
            <a:avLst/>
          </a:prstGeom>
          <a:noFill/>
          <a:ln/>
        </p:spPr>
        <p:txBody>
          <a:bodyPr wrap="square" lIns="0" tIns="0" rIns="0" bIns="0" rtlCol="0" anchor="ctr"/>
          <a:lstStyle/>
          <a:p>
            <a:pPr marL="0" indent="0">
              <a:lnSpc>
                <a:spcPct val="108000"/>
              </a:lnSpc>
              <a:buNone/>
            </a:pPr>
            <a:r>
              <a:rPr lang="en-US" sz="1050" dirty="0">
                <a:solidFill>
                  <a:srgbClr val="0B1F3A"/>
                </a:solidFill>
                <a:latin typeface="Calibri" pitchFamily="34" charset="0"/>
                <a:ea typeface="Calibri" pitchFamily="34" charset="-122"/>
                <a:cs typeface="Calibri" pitchFamily="34" charset="-120"/>
              </a:rPr>
              <a:t>Neither project has a post-handover resale track record. Based on the Al Maktoum Airport Phase 1 timeline (2032), a 6–8 year hold aligns exit timing with the area's principal demand catalyst rather than anticipation of it.</a:t>
            </a:r>
            <a:endParaRPr lang="en-US" sz="1050" dirty="0"/>
          </a:p>
        </p:txBody>
      </p:sp>
      <p:sp>
        <p:nvSpPr>
          <p:cNvPr id="19" name="Text 16"/>
          <p:cNvSpPr/>
          <p:nvPr/>
        </p:nvSpPr>
        <p:spPr>
          <a:xfrm>
            <a:off x="502920" y="6510528"/>
            <a:ext cx="3657600" cy="256032"/>
          </a:xfrm>
          <a:prstGeom prst="rect">
            <a:avLst/>
          </a:prstGeom>
          <a:noFill/>
          <a:ln/>
        </p:spPr>
        <p:txBody>
          <a:bodyPr wrap="square" lIns="0" tIns="0" rIns="0" bIns="0" rtlCol="0" anchor="ctr"/>
          <a:lstStyle/>
          <a:p>
            <a:pPr marL="0" indent="0" algn="l">
              <a:buNone/>
            </a:pPr>
            <a:r>
              <a:rPr lang="en-US" sz="800" kern="0" spc="100" dirty="0">
                <a:solidFill>
                  <a:srgbClr val="9AA1AC"/>
                </a:solidFill>
                <a:latin typeface="Calibri" pitchFamily="34" charset="0"/>
                <a:ea typeface="Calibri" pitchFamily="34" charset="-122"/>
                <a:cs typeface="Calibri" pitchFamily="34" charset="-120"/>
              </a:rPr>
              <a:t>LUXURY REAL ESTATE INVESTMENT ADVISORY</a:t>
            </a:r>
            <a:endParaRPr lang="en-US" sz="800" dirty="0"/>
          </a:p>
        </p:txBody>
      </p:sp>
      <p:sp>
        <p:nvSpPr>
          <p:cNvPr id="20" name="Text 17"/>
          <p:cNvSpPr/>
          <p:nvPr/>
        </p:nvSpPr>
        <p:spPr>
          <a:xfrm>
            <a:off x="3809848" y="6510528"/>
            <a:ext cx="4572000" cy="256032"/>
          </a:xfrm>
          <a:prstGeom prst="rect">
            <a:avLst/>
          </a:prstGeom>
          <a:noFill/>
          <a:ln/>
        </p:spPr>
        <p:txBody>
          <a:bodyPr wrap="square" lIns="0" tIns="0" rIns="0" bIns="0" rtlCol="0" anchor="ctr"/>
          <a:lstStyle/>
          <a:p>
            <a:pPr marL="0" indent="0" algn="ctr">
              <a:buNone/>
            </a:pPr>
            <a:r>
              <a:rPr lang="en-US" sz="800" dirty="0">
                <a:solidFill>
                  <a:srgbClr val="9AA1AC"/>
                </a:solidFill>
                <a:latin typeface="Calibri" pitchFamily="34" charset="0"/>
                <a:ea typeface="Calibri" pitchFamily="34" charset="-122"/>
                <a:cs typeface="Calibri" pitchFamily="34" charset="-120"/>
              </a:rPr>
              <a:t>ROI Analysis</a:t>
            </a:r>
            <a:endParaRPr lang="en-US" sz="800" dirty="0"/>
          </a:p>
        </p:txBody>
      </p:sp>
      <p:sp>
        <p:nvSpPr>
          <p:cNvPr id="21" name="Text 18"/>
          <p:cNvSpPr/>
          <p:nvPr/>
        </p:nvSpPr>
        <p:spPr>
          <a:xfrm>
            <a:off x="8031175" y="6510528"/>
            <a:ext cx="3657600" cy="256032"/>
          </a:xfrm>
          <a:prstGeom prst="rect">
            <a:avLst/>
          </a:prstGeom>
          <a:noFill/>
          <a:ln/>
        </p:spPr>
        <p:txBody>
          <a:bodyPr wrap="square" lIns="0" tIns="0" rIns="0" bIns="0" rtlCol="0" anchor="ctr"/>
          <a:lstStyle/>
          <a:p>
            <a:pPr marL="0" indent="0" algn="r">
              <a:buNone/>
            </a:pPr>
            <a:r>
              <a:rPr lang="en-US" sz="800" dirty="0">
                <a:solidFill>
                  <a:srgbClr val="9AA1AC"/>
                </a:solidFill>
                <a:latin typeface="Calibri" pitchFamily="34" charset="0"/>
                <a:ea typeface="Calibri" pitchFamily="34" charset="-122"/>
                <a:cs typeface="Calibri" pitchFamily="34" charset="-120"/>
              </a:rPr>
              <a:t>08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lgn="l">
              <a:buNone/>
            </a:pPr>
            <a:r>
              <a:rPr lang="en-US" sz="1150" b="1" kern="0" spc="200" dirty="0">
                <a:solidFill>
                  <a:srgbClr val="C9A227"/>
                </a:solidFill>
                <a:latin typeface="Calibri" pitchFamily="34" charset="0"/>
                <a:ea typeface="Calibri" pitchFamily="34" charset="-122"/>
                <a:cs typeface="Calibri" pitchFamily="34" charset="-120"/>
              </a:rPr>
              <a:t>SECTION 08 · TRANSACTION VALIDATION</a:t>
            </a:r>
            <a:endParaRPr lang="en-US" sz="1150" dirty="0"/>
          </a:p>
        </p:txBody>
      </p:sp>
      <p:sp>
        <p:nvSpPr>
          <p:cNvPr id="3" name="Text 1"/>
          <p:cNvSpPr/>
          <p:nvPr/>
        </p:nvSpPr>
        <p:spPr>
          <a:xfrm>
            <a:off x="502920" y="658368"/>
            <a:ext cx="10607040" cy="566928"/>
          </a:xfrm>
          <a:prstGeom prst="rect">
            <a:avLst/>
          </a:prstGeom>
          <a:noFill/>
          <a:ln/>
        </p:spPr>
        <p:txBody>
          <a:bodyPr wrap="square" lIns="0" tIns="0" rIns="0" bIns="0" rtlCol="0" anchor="ctr"/>
          <a:lstStyle/>
          <a:p>
            <a:pPr marL="0" indent="0" algn="l">
              <a:buNone/>
            </a:pPr>
            <a:r>
              <a:rPr lang="en-US" sz="2600" b="1" dirty="0">
                <a:solidFill>
                  <a:srgbClr val="0B1F3A"/>
                </a:solidFill>
                <a:latin typeface="Cambria" pitchFamily="34" charset="0"/>
                <a:ea typeface="Cambria" pitchFamily="34" charset="-122"/>
                <a:cs typeface="Cambria" pitchFamily="34" charset="-120"/>
              </a:rPr>
              <a:t>Dubai Land Department (DLD) Validation</a:t>
            </a:r>
            <a:endParaRPr lang="en-US" sz="2600" dirty="0"/>
          </a:p>
        </p:txBody>
      </p:sp>
      <p:sp>
        <p:nvSpPr>
          <p:cNvPr id="4" name="Shape 2"/>
          <p:cNvSpPr/>
          <p:nvPr/>
        </p:nvSpPr>
        <p:spPr>
          <a:xfrm>
            <a:off x="502920" y="1417320"/>
            <a:ext cx="2625014" cy="914400"/>
          </a:xfrm>
          <a:prstGeom prst="rect">
            <a:avLst/>
          </a:prstGeom>
          <a:solidFill>
            <a:srgbClr val="EEF1F6"/>
          </a:solidFill>
          <a:ln/>
        </p:spPr>
      </p:sp>
      <p:sp>
        <p:nvSpPr>
          <p:cNvPr id="5" name="Text 3"/>
          <p:cNvSpPr/>
          <p:nvPr/>
        </p:nvSpPr>
        <p:spPr>
          <a:xfrm>
            <a:off x="667512" y="1508760"/>
            <a:ext cx="2295830" cy="384048"/>
          </a:xfrm>
          <a:prstGeom prst="rect">
            <a:avLst/>
          </a:prstGeom>
          <a:noFill/>
          <a:ln/>
        </p:spPr>
        <p:txBody>
          <a:bodyPr wrap="square" lIns="0" tIns="0" rIns="0" bIns="0" rtlCol="0" anchor="ctr"/>
          <a:lstStyle/>
          <a:p>
            <a:pPr marL="0" indent="0">
              <a:buNone/>
            </a:pPr>
            <a:r>
              <a:rPr lang="en-US" sz="1700" b="1" dirty="0">
                <a:solidFill>
                  <a:srgbClr val="0B1F3A"/>
                </a:solidFill>
                <a:latin typeface="Cambria" pitchFamily="34" charset="0"/>
                <a:ea typeface="Cambria" pitchFamily="34" charset="-122"/>
                <a:cs typeface="Cambria" pitchFamily="34" charset="-120"/>
              </a:rPr>
              <a:t>50</a:t>
            </a:r>
            <a:endParaRPr lang="en-US" sz="1700" dirty="0"/>
          </a:p>
        </p:txBody>
      </p:sp>
      <p:sp>
        <p:nvSpPr>
          <p:cNvPr id="6" name="Text 4"/>
          <p:cNvSpPr/>
          <p:nvPr/>
        </p:nvSpPr>
        <p:spPr>
          <a:xfrm>
            <a:off x="667512" y="1920240"/>
            <a:ext cx="2295830" cy="347472"/>
          </a:xfrm>
          <a:prstGeom prst="rect">
            <a:avLst/>
          </a:prstGeom>
          <a:noFill/>
          <a:ln/>
        </p:spPr>
        <p:txBody>
          <a:bodyPr wrap="square" lIns="0" tIns="0" rIns="0" bIns="0" rtlCol="0" anchor="ctr"/>
          <a:lstStyle/>
          <a:p>
            <a:pPr marL="0" indent="0">
              <a:lnSpc>
                <a:spcPct val="100000"/>
              </a:lnSpc>
              <a:buNone/>
            </a:pPr>
            <a:r>
              <a:rPr lang="en-US" sz="850" dirty="0">
                <a:solidFill>
                  <a:srgbClr val="666666"/>
                </a:solidFill>
                <a:latin typeface="Calibri" pitchFamily="34" charset="0"/>
                <a:ea typeface="Calibri" pitchFamily="34" charset="-122"/>
                <a:cs typeface="Calibri" pitchFamily="34" charset="-120"/>
              </a:rPr>
              <a:t>Golf Acres Recorded Sales</a:t>
            </a:r>
            <a:endParaRPr lang="en-US" sz="850" dirty="0"/>
          </a:p>
        </p:txBody>
      </p:sp>
      <p:sp>
        <p:nvSpPr>
          <p:cNvPr id="7" name="Shape 5"/>
          <p:cNvSpPr/>
          <p:nvPr/>
        </p:nvSpPr>
        <p:spPr>
          <a:xfrm>
            <a:off x="3356534" y="1417320"/>
            <a:ext cx="2625014" cy="914400"/>
          </a:xfrm>
          <a:prstGeom prst="rect">
            <a:avLst/>
          </a:prstGeom>
          <a:solidFill>
            <a:srgbClr val="EEF1F6"/>
          </a:solidFill>
          <a:ln/>
        </p:spPr>
      </p:sp>
      <p:sp>
        <p:nvSpPr>
          <p:cNvPr id="8" name="Text 6"/>
          <p:cNvSpPr/>
          <p:nvPr/>
        </p:nvSpPr>
        <p:spPr>
          <a:xfrm>
            <a:off x="3521126" y="1508760"/>
            <a:ext cx="2295830" cy="384048"/>
          </a:xfrm>
          <a:prstGeom prst="rect">
            <a:avLst/>
          </a:prstGeom>
          <a:noFill/>
          <a:ln/>
        </p:spPr>
        <p:txBody>
          <a:bodyPr wrap="square" lIns="0" tIns="0" rIns="0" bIns="0" rtlCol="0" anchor="ctr"/>
          <a:lstStyle/>
          <a:p>
            <a:pPr marL="0" indent="0">
              <a:buNone/>
            </a:pPr>
            <a:r>
              <a:rPr lang="en-US" sz="1700" b="1" dirty="0">
                <a:solidFill>
                  <a:srgbClr val="0B1F3A"/>
                </a:solidFill>
                <a:latin typeface="Cambria" pitchFamily="34" charset="0"/>
                <a:ea typeface="Cambria" pitchFamily="34" charset="-122"/>
                <a:cs typeface="Cambria" pitchFamily="34" charset="-120"/>
              </a:rPr>
              <a:t>AED 1,295–1,777</a:t>
            </a:r>
            <a:endParaRPr lang="en-US" sz="1700" dirty="0"/>
          </a:p>
        </p:txBody>
      </p:sp>
      <p:sp>
        <p:nvSpPr>
          <p:cNvPr id="9" name="Text 7"/>
          <p:cNvSpPr/>
          <p:nvPr/>
        </p:nvSpPr>
        <p:spPr>
          <a:xfrm>
            <a:off x="3521126" y="1920240"/>
            <a:ext cx="2295830" cy="347472"/>
          </a:xfrm>
          <a:prstGeom prst="rect">
            <a:avLst/>
          </a:prstGeom>
          <a:noFill/>
          <a:ln/>
        </p:spPr>
        <p:txBody>
          <a:bodyPr wrap="square" lIns="0" tIns="0" rIns="0" bIns="0" rtlCol="0" anchor="ctr"/>
          <a:lstStyle/>
          <a:p>
            <a:pPr marL="0" indent="0">
              <a:lnSpc>
                <a:spcPct val="100000"/>
              </a:lnSpc>
              <a:buNone/>
            </a:pPr>
            <a:r>
              <a:rPr lang="en-US" sz="850" dirty="0">
                <a:solidFill>
                  <a:srgbClr val="666666"/>
                </a:solidFill>
                <a:latin typeface="Calibri" pitchFamily="34" charset="0"/>
                <a:ea typeface="Calibri" pitchFamily="34" charset="-122"/>
                <a:cs typeface="Calibri" pitchFamily="34" charset="-120"/>
              </a:rPr>
              <a:t>PSF Range Across Transactions</a:t>
            </a:r>
            <a:endParaRPr lang="en-US" sz="850" dirty="0"/>
          </a:p>
        </p:txBody>
      </p:sp>
      <p:sp>
        <p:nvSpPr>
          <p:cNvPr id="10" name="Shape 8"/>
          <p:cNvSpPr/>
          <p:nvPr/>
        </p:nvSpPr>
        <p:spPr>
          <a:xfrm>
            <a:off x="6210148" y="1417320"/>
            <a:ext cx="2625014" cy="914400"/>
          </a:xfrm>
          <a:prstGeom prst="rect">
            <a:avLst/>
          </a:prstGeom>
          <a:solidFill>
            <a:srgbClr val="EEF1F6"/>
          </a:solidFill>
          <a:ln/>
        </p:spPr>
      </p:sp>
      <p:sp>
        <p:nvSpPr>
          <p:cNvPr id="11" name="Text 9"/>
          <p:cNvSpPr/>
          <p:nvPr/>
        </p:nvSpPr>
        <p:spPr>
          <a:xfrm>
            <a:off x="6374740" y="1508760"/>
            <a:ext cx="2295830" cy="384048"/>
          </a:xfrm>
          <a:prstGeom prst="rect">
            <a:avLst/>
          </a:prstGeom>
          <a:noFill/>
          <a:ln/>
        </p:spPr>
        <p:txBody>
          <a:bodyPr wrap="square" lIns="0" tIns="0" rIns="0" bIns="0" rtlCol="0" anchor="ctr"/>
          <a:lstStyle/>
          <a:p>
            <a:pPr marL="0" indent="0">
              <a:buNone/>
            </a:pPr>
            <a:r>
              <a:rPr lang="en-US" sz="1700" b="1" dirty="0">
                <a:solidFill>
                  <a:srgbClr val="0B1F3A"/>
                </a:solidFill>
                <a:latin typeface="Cambria" pitchFamily="34" charset="0"/>
                <a:ea typeface="Cambria" pitchFamily="34" charset="-122"/>
                <a:cs typeface="Cambria" pitchFamily="34" charset="-120"/>
              </a:rPr>
              <a:t>AED 252bn</a:t>
            </a:r>
            <a:endParaRPr lang="en-US" sz="1700" dirty="0"/>
          </a:p>
        </p:txBody>
      </p:sp>
      <p:sp>
        <p:nvSpPr>
          <p:cNvPr id="12" name="Text 10"/>
          <p:cNvSpPr/>
          <p:nvPr/>
        </p:nvSpPr>
        <p:spPr>
          <a:xfrm>
            <a:off x="6374740" y="1920240"/>
            <a:ext cx="2295830" cy="347472"/>
          </a:xfrm>
          <a:prstGeom prst="rect">
            <a:avLst/>
          </a:prstGeom>
          <a:noFill/>
          <a:ln/>
        </p:spPr>
        <p:txBody>
          <a:bodyPr wrap="square" lIns="0" tIns="0" rIns="0" bIns="0" rtlCol="0" anchor="ctr"/>
          <a:lstStyle/>
          <a:p>
            <a:pPr marL="0" indent="0">
              <a:lnSpc>
                <a:spcPct val="100000"/>
              </a:lnSpc>
              <a:buNone/>
            </a:pPr>
            <a:r>
              <a:rPr lang="en-US" sz="850" dirty="0">
                <a:solidFill>
                  <a:srgbClr val="666666"/>
                </a:solidFill>
                <a:latin typeface="Calibri" pitchFamily="34" charset="0"/>
                <a:ea typeface="Calibri" pitchFamily="34" charset="-122"/>
                <a:cs typeface="Calibri" pitchFamily="34" charset="-120"/>
              </a:rPr>
              <a:t>Dubai Q1 2026 Transaction Value</a:t>
            </a:r>
            <a:endParaRPr lang="en-US" sz="850" dirty="0"/>
          </a:p>
        </p:txBody>
      </p:sp>
      <p:sp>
        <p:nvSpPr>
          <p:cNvPr id="13" name="Shape 11"/>
          <p:cNvSpPr/>
          <p:nvPr/>
        </p:nvSpPr>
        <p:spPr>
          <a:xfrm>
            <a:off x="9063761" y="1417320"/>
            <a:ext cx="2625014" cy="914400"/>
          </a:xfrm>
          <a:prstGeom prst="rect">
            <a:avLst/>
          </a:prstGeom>
          <a:solidFill>
            <a:srgbClr val="EEF1F6"/>
          </a:solidFill>
          <a:ln/>
        </p:spPr>
      </p:sp>
      <p:sp>
        <p:nvSpPr>
          <p:cNvPr id="14" name="Text 12"/>
          <p:cNvSpPr/>
          <p:nvPr/>
        </p:nvSpPr>
        <p:spPr>
          <a:xfrm>
            <a:off x="9228353" y="1508760"/>
            <a:ext cx="2295830" cy="384048"/>
          </a:xfrm>
          <a:prstGeom prst="rect">
            <a:avLst/>
          </a:prstGeom>
          <a:noFill/>
          <a:ln/>
        </p:spPr>
        <p:txBody>
          <a:bodyPr wrap="square" lIns="0" tIns="0" rIns="0" bIns="0" rtlCol="0" anchor="ctr"/>
          <a:lstStyle/>
          <a:p>
            <a:pPr marL="0" indent="0">
              <a:buNone/>
            </a:pPr>
            <a:r>
              <a:rPr lang="en-US" sz="1700" b="1" dirty="0">
                <a:solidFill>
                  <a:srgbClr val="0B1F3A"/>
                </a:solidFill>
                <a:latin typeface="Cambria" pitchFamily="34" charset="0"/>
                <a:ea typeface="Cambria" pitchFamily="34" charset="-122"/>
                <a:cs typeface="Cambria" pitchFamily="34" charset="-120"/>
              </a:rPr>
              <a:t>+31%</a:t>
            </a:r>
            <a:endParaRPr lang="en-US" sz="1700" dirty="0"/>
          </a:p>
        </p:txBody>
      </p:sp>
      <p:sp>
        <p:nvSpPr>
          <p:cNvPr id="15" name="Text 13"/>
          <p:cNvSpPr/>
          <p:nvPr/>
        </p:nvSpPr>
        <p:spPr>
          <a:xfrm>
            <a:off x="9228353" y="1920240"/>
            <a:ext cx="2295830" cy="347472"/>
          </a:xfrm>
          <a:prstGeom prst="rect">
            <a:avLst/>
          </a:prstGeom>
          <a:noFill/>
          <a:ln/>
        </p:spPr>
        <p:txBody>
          <a:bodyPr wrap="square" lIns="0" tIns="0" rIns="0" bIns="0" rtlCol="0" anchor="ctr"/>
          <a:lstStyle/>
          <a:p>
            <a:pPr marL="0" indent="0">
              <a:lnSpc>
                <a:spcPct val="100000"/>
              </a:lnSpc>
              <a:buNone/>
            </a:pPr>
            <a:r>
              <a:rPr lang="en-US" sz="850" dirty="0">
                <a:solidFill>
                  <a:srgbClr val="666666"/>
                </a:solidFill>
                <a:latin typeface="Calibri" pitchFamily="34" charset="0"/>
                <a:ea typeface="Calibri" pitchFamily="34" charset="-122"/>
                <a:cs typeface="Calibri" pitchFamily="34" charset="-120"/>
              </a:rPr>
              <a:t>YoY Value Growth, Q1 2026</a:t>
            </a:r>
            <a:endParaRPr lang="en-US" sz="850" dirty="0"/>
          </a:p>
        </p:txBody>
      </p:sp>
      <p:sp>
        <p:nvSpPr>
          <p:cNvPr id="16" name="Text 14"/>
          <p:cNvSpPr/>
          <p:nvPr/>
        </p:nvSpPr>
        <p:spPr>
          <a:xfrm>
            <a:off x="502920" y="2606040"/>
            <a:ext cx="7315200" cy="237744"/>
          </a:xfrm>
          <a:prstGeom prst="rect">
            <a:avLst/>
          </a:prstGeom>
          <a:noFill/>
          <a:ln/>
        </p:spPr>
        <p:txBody>
          <a:bodyPr wrap="square" lIns="0" tIns="0" rIns="0" bIns="0" rtlCol="0" anchor="ctr"/>
          <a:lstStyle/>
          <a:p>
            <a:pPr marL="0" indent="0">
              <a:buNone/>
            </a:pPr>
            <a:r>
              <a:rPr lang="en-US" sz="1000" b="1" kern="0" spc="50" dirty="0">
                <a:solidFill>
                  <a:srgbClr val="0B1F3A"/>
                </a:solidFill>
                <a:latin typeface="Calibri" pitchFamily="34" charset="0"/>
                <a:ea typeface="Calibri" pitchFamily="34" charset="-122"/>
                <a:cs typeface="Calibri" pitchFamily="34" charset="-120"/>
              </a:rPr>
              <a:t>GOLF ACRES — REPRESENTATIVE DLD TRANSACTION SAMPLE</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02920" y="2880360"/>
          <a:ext cx="6949440" cy="2048256"/>
        </p:xfrm>
        <a:graphic>
          <a:graphicData uri="http://schemas.openxmlformats.org/drawingml/2006/table">
            <a:tbl>
              <a:tblPr/>
              <a:tblGrid>
                <a:gridCol w="123444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169164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tblGrid>
              <a:tr h="292608">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Date</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0B1F3A"/>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Unit Type</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0B1F3A"/>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Size (sq.ft)</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0B1F3A"/>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Price (AED)</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0B1F3A"/>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AED/sq.ft</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292608">
                <a:tc>
                  <a:txBody>
                    <a:bodyPr/>
                    <a:lstStyle/>
                    <a:p>
                      <a:pPr marL="0" indent="0">
                        <a:buNone/>
                      </a:pPr>
                      <a:r>
                        <a:rPr lang="en-US" sz="950" dirty="0">
                          <a:solidFill>
                            <a:srgbClr val="0B1F3A"/>
                          </a:solidFill>
                          <a:latin typeface="Calibri" pitchFamily="34" charset="0"/>
                          <a:ea typeface="Calibri" pitchFamily="34" charset="-122"/>
                          <a:cs typeface="Calibri" pitchFamily="34" charset="-120"/>
                        </a:rPr>
                        <a:t>30 Jun 2025</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marL="0" indent="0">
                        <a:buNone/>
                      </a:pPr>
                      <a:r>
                        <a:rPr lang="en-US" sz="950" dirty="0">
                          <a:solidFill>
                            <a:srgbClr val="0B1F3A"/>
                          </a:solidFill>
                          <a:latin typeface="Calibri" pitchFamily="34" charset="0"/>
                          <a:ea typeface="Calibri" pitchFamily="34" charset="-122"/>
                          <a:cs typeface="Calibri" pitchFamily="34" charset="-120"/>
                        </a:rPr>
                        <a:t>3-bed flat</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marL="0" indent="0">
                        <a:buNone/>
                      </a:pPr>
                      <a:r>
                        <a:rPr lang="en-US" sz="950" dirty="0">
                          <a:solidFill>
                            <a:srgbClr val="0B1F3A"/>
                          </a:solidFill>
                          <a:latin typeface="Calibri" pitchFamily="34" charset="0"/>
                          <a:ea typeface="Calibri" pitchFamily="34" charset="-122"/>
                          <a:cs typeface="Calibri" pitchFamily="34" charset="-120"/>
                        </a:rPr>
                        <a:t>2,255</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marL="0" indent="0">
                        <a:buNone/>
                      </a:pPr>
                      <a:r>
                        <a:rPr lang="en-US" sz="950" dirty="0">
                          <a:solidFill>
                            <a:srgbClr val="0B1F3A"/>
                          </a:solidFill>
                          <a:latin typeface="Calibri" pitchFamily="34" charset="0"/>
                          <a:ea typeface="Calibri" pitchFamily="34" charset="-122"/>
                          <a:cs typeface="Calibri" pitchFamily="34" charset="-120"/>
                        </a:rPr>
                        <a:t>2,485,888</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marL="0" indent="0">
                        <a:buNone/>
                      </a:pPr>
                      <a:r>
                        <a:rPr lang="en-US" sz="950" dirty="0">
                          <a:solidFill>
                            <a:srgbClr val="0B1F3A"/>
                          </a:solidFill>
                          <a:latin typeface="Calibri" pitchFamily="34" charset="0"/>
                          <a:ea typeface="Calibri" pitchFamily="34" charset="-122"/>
                          <a:cs typeface="Calibri" pitchFamily="34" charset="-120"/>
                        </a:rPr>
                        <a:t>1,102</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buNone/>
                      </a:pPr>
                      <a:r>
                        <a:rPr lang="en-US" sz="950" dirty="0">
                          <a:solidFill>
                            <a:srgbClr val="0B1F3A"/>
                          </a:solidFill>
                          <a:latin typeface="Calibri" pitchFamily="34" charset="0"/>
                          <a:ea typeface="Calibri" pitchFamily="34" charset="-122"/>
                          <a:cs typeface="Calibri" pitchFamily="34" charset="-120"/>
                        </a:rPr>
                        <a:t>05 May 2025</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EEF1F6"/>
                    </a:solidFill>
                  </a:tcPr>
                </a:tc>
                <a:tc>
                  <a:txBody>
                    <a:bodyPr/>
                    <a:lstStyle/>
                    <a:p>
                      <a:pPr marL="0" indent="0">
                        <a:buNone/>
                      </a:pPr>
                      <a:r>
                        <a:rPr lang="en-US" sz="950" dirty="0">
                          <a:solidFill>
                            <a:srgbClr val="0B1F3A"/>
                          </a:solidFill>
                          <a:latin typeface="Calibri" pitchFamily="34" charset="0"/>
                          <a:ea typeface="Calibri" pitchFamily="34" charset="-122"/>
                          <a:cs typeface="Calibri" pitchFamily="34" charset="-120"/>
                        </a:rPr>
                        <a:t>1-bed flat</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EEF1F6"/>
                    </a:solidFill>
                  </a:tcPr>
                </a:tc>
                <a:tc>
                  <a:txBody>
                    <a:bodyPr/>
                    <a:lstStyle/>
                    <a:p>
                      <a:pPr marL="0" indent="0">
                        <a:buNone/>
                      </a:pPr>
                      <a:r>
                        <a:rPr lang="en-US" sz="950" dirty="0">
                          <a:solidFill>
                            <a:srgbClr val="0B1F3A"/>
                          </a:solidFill>
                          <a:latin typeface="Calibri" pitchFamily="34" charset="0"/>
                          <a:ea typeface="Calibri" pitchFamily="34" charset="-122"/>
                          <a:cs typeface="Calibri" pitchFamily="34" charset="-120"/>
                        </a:rPr>
                        <a:t>812</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EEF1F6"/>
                    </a:solidFill>
                  </a:tcPr>
                </a:tc>
                <a:tc>
                  <a:txBody>
                    <a:bodyPr/>
                    <a:lstStyle/>
                    <a:p>
                      <a:pPr marL="0" indent="0">
                        <a:buNone/>
                      </a:pPr>
                      <a:r>
                        <a:rPr lang="en-US" sz="950" dirty="0">
                          <a:solidFill>
                            <a:srgbClr val="0B1F3A"/>
                          </a:solidFill>
                          <a:latin typeface="Calibri" pitchFamily="34" charset="0"/>
                          <a:ea typeface="Calibri" pitchFamily="34" charset="-122"/>
                          <a:cs typeface="Calibri" pitchFamily="34" charset="-120"/>
                        </a:rPr>
                        <a:t>1,087,888</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EEF1F6"/>
                    </a:solidFill>
                  </a:tcPr>
                </a:tc>
                <a:tc>
                  <a:txBody>
                    <a:bodyPr/>
                    <a:lstStyle/>
                    <a:p>
                      <a:pPr marL="0" indent="0">
                        <a:buNone/>
                      </a:pPr>
                      <a:r>
                        <a:rPr lang="en-US" sz="950" dirty="0">
                          <a:solidFill>
                            <a:srgbClr val="0B1F3A"/>
                          </a:solidFill>
                          <a:latin typeface="Calibri" pitchFamily="34" charset="0"/>
                          <a:ea typeface="Calibri" pitchFamily="34" charset="-122"/>
                          <a:cs typeface="Calibri" pitchFamily="34" charset="-120"/>
                        </a:rPr>
                        <a:t>1,339</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EEF1F6"/>
                    </a:solidFill>
                  </a:tcPr>
                </a:tc>
                <a:extLst>
                  <a:ext uri="{0D108BD9-81ED-4DB2-BD59-A6C34878D82A}">
                    <a16:rowId xmlns:a16="http://schemas.microsoft.com/office/drawing/2014/main" val="10002"/>
                  </a:ext>
                </a:extLst>
              </a:tr>
              <a:tr h="292608">
                <a:tc>
                  <a:txBody>
                    <a:bodyPr/>
                    <a:lstStyle/>
                    <a:p>
                      <a:pPr marL="0" indent="0">
                        <a:buNone/>
                      </a:pPr>
                      <a:r>
                        <a:rPr lang="en-US" sz="950" dirty="0">
                          <a:solidFill>
                            <a:srgbClr val="0B1F3A"/>
                          </a:solidFill>
                          <a:latin typeface="Calibri" pitchFamily="34" charset="0"/>
                          <a:ea typeface="Calibri" pitchFamily="34" charset="-122"/>
                          <a:cs typeface="Calibri" pitchFamily="34" charset="-120"/>
                        </a:rPr>
                        <a:t>10 Apr 2025</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marL="0" indent="0">
                        <a:buNone/>
                      </a:pPr>
                      <a:r>
                        <a:rPr lang="en-US" sz="950" dirty="0">
                          <a:solidFill>
                            <a:srgbClr val="0B1F3A"/>
                          </a:solidFill>
                          <a:latin typeface="Calibri" pitchFamily="34" charset="0"/>
                          <a:ea typeface="Calibri" pitchFamily="34" charset="-122"/>
                          <a:cs typeface="Calibri" pitchFamily="34" charset="-120"/>
                        </a:rPr>
                        <a:t>1-bed flat</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marL="0" indent="0">
                        <a:buNone/>
                      </a:pPr>
                      <a:r>
                        <a:rPr lang="en-US" sz="950" dirty="0">
                          <a:solidFill>
                            <a:srgbClr val="0B1F3A"/>
                          </a:solidFill>
                          <a:latin typeface="Calibri" pitchFamily="34" charset="0"/>
                          <a:ea typeface="Calibri" pitchFamily="34" charset="-122"/>
                          <a:cs typeface="Calibri" pitchFamily="34" charset="-120"/>
                        </a:rPr>
                        <a:t>738</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marL="0" indent="0">
                        <a:buNone/>
                      </a:pPr>
                      <a:r>
                        <a:rPr lang="en-US" sz="950" dirty="0">
                          <a:solidFill>
                            <a:srgbClr val="0B1F3A"/>
                          </a:solidFill>
                          <a:latin typeface="Calibri" pitchFamily="34" charset="0"/>
                          <a:ea typeface="Calibri" pitchFamily="34" charset="-122"/>
                          <a:cs typeface="Calibri" pitchFamily="34" charset="-120"/>
                        </a:rPr>
                        <a:t>973,888</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marL="0" indent="0">
                        <a:buNone/>
                      </a:pPr>
                      <a:r>
                        <a:rPr lang="en-US" sz="950" dirty="0">
                          <a:solidFill>
                            <a:srgbClr val="0B1F3A"/>
                          </a:solidFill>
                          <a:latin typeface="Calibri" pitchFamily="34" charset="0"/>
                          <a:ea typeface="Calibri" pitchFamily="34" charset="-122"/>
                          <a:cs typeface="Calibri" pitchFamily="34" charset="-120"/>
                        </a:rPr>
                        <a:t>1,319</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marL="0" indent="0">
                        <a:buNone/>
                      </a:pPr>
                      <a:r>
                        <a:rPr lang="en-US" sz="950" dirty="0">
                          <a:solidFill>
                            <a:srgbClr val="0B1F3A"/>
                          </a:solidFill>
                          <a:latin typeface="Calibri" pitchFamily="34" charset="0"/>
                          <a:ea typeface="Calibri" pitchFamily="34" charset="-122"/>
                          <a:cs typeface="Calibri" pitchFamily="34" charset="-120"/>
                        </a:rPr>
                        <a:t>18 Mar 2025</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EEF1F6"/>
                    </a:solidFill>
                  </a:tcPr>
                </a:tc>
                <a:tc>
                  <a:txBody>
                    <a:bodyPr/>
                    <a:lstStyle/>
                    <a:p>
                      <a:pPr marL="0" indent="0">
                        <a:buNone/>
                      </a:pPr>
                      <a:r>
                        <a:rPr lang="en-US" sz="950" dirty="0">
                          <a:solidFill>
                            <a:srgbClr val="0B1F3A"/>
                          </a:solidFill>
                          <a:latin typeface="Calibri" pitchFamily="34" charset="0"/>
                          <a:ea typeface="Calibri" pitchFamily="34" charset="-122"/>
                          <a:cs typeface="Calibri" pitchFamily="34" charset="-120"/>
                        </a:rPr>
                        <a:t>3-bed flat</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EEF1F6"/>
                    </a:solidFill>
                  </a:tcPr>
                </a:tc>
                <a:tc>
                  <a:txBody>
                    <a:bodyPr/>
                    <a:lstStyle/>
                    <a:p>
                      <a:pPr marL="0" indent="0">
                        <a:buNone/>
                      </a:pPr>
                      <a:r>
                        <a:rPr lang="en-US" sz="950" dirty="0">
                          <a:solidFill>
                            <a:srgbClr val="0B1F3A"/>
                          </a:solidFill>
                          <a:latin typeface="Calibri" pitchFamily="34" charset="0"/>
                          <a:ea typeface="Calibri" pitchFamily="34" charset="-122"/>
                          <a:cs typeface="Calibri" pitchFamily="34" charset="-120"/>
                        </a:rPr>
                        <a:t>1,812</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EEF1F6"/>
                    </a:solidFill>
                  </a:tcPr>
                </a:tc>
                <a:tc>
                  <a:txBody>
                    <a:bodyPr/>
                    <a:lstStyle/>
                    <a:p>
                      <a:pPr marL="0" indent="0">
                        <a:buNone/>
                      </a:pPr>
                      <a:r>
                        <a:rPr lang="en-US" sz="950" dirty="0">
                          <a:solidFill>
                            <a:srgbClr val="0B1F3A"/>
                          </a:solidFill>
                          <a:latin typeface="Calibri" pitchFamily="34" charset="0"/>
                          <a:ea typeface="Calibri" pitchFamily="34" charset="-122"/>
                          <a:cs typeface="Calibri" pitchFamily="34" charset="-120"/>
                        </a:rPr>
                        <a:t>2,799,888</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EEF1F6"/>
                    </a:solidFill>
                  </a:tcPr>
                </a:tc>
                <a:tc>
                  <a:txBody>
                    <a:bodyPr/>
                    <a:lstStyle/>
                    <a:p>
                      <a:pPr marL="0" indent="0">
                        <a:buNone/>
                      </a:pPr>
                      <a:r>
                        <a:rPr lang="en-US" sz="950" dirty="0">
                          <a:solidFill>
                            <a:srgbClr val="0B1F3A"/>
                          </a:solidFill>
                          <a:latin typeface="Calibri" pitchFamily="34" charset="0"/>
                          <a:ea typeface="Calibri" pitchFamily="34" charset="-122"/>
                          <a:cs typeface="Calibri" pitchFamily="34" charset="-120"/>
                        </a:rPr>
                        <a:t>1,545</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EEF1F6"/>
                    </a:solidFill>
                  </a:tcPr>
                </a:tc>
                <a:extLst>
                  <a:ext uri="{0D108BD9-81ED-4DB2-BD59-A6C34878D82A}">
                    <a16:rowId xmlns:a16="http://schemas.microsoft.com/office/drawing/2014/main" val="10004"/>
                  </a:ext>
                </a:extLst>
              </a:tr>
              <a:tr h="292608">
                <a:tc>
                  <a:txBody>
                    <a:bodyPr/>
                    <a:lstStyle/>
                    <a:p>
                      <a:pPr marL="0" indent="0">
                        <a:buNone/>
                      </a:pPr>
                      <a:r>
                        <a:rPr lang="en-US" sz="950" dirty="0">
                          <a:solidFill>
                            <a:srgbClr val="0B1F3A"/>
                          </a:solidFill>
                          <a:latin typeface="Calibri" pitchFamily="34" charset="0"/>
                          <a:ea typeface="Calibri" pitchFamily="34" charset="-122"/>
                          <a:cs typeface="Calibri" pitchFamily="34" charset="-120"/>
                        </a:rPr>
                        <a:t>06 Mar 2025</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marL="0" indent="0">
                        <a:buNone/>
                      </a:pPr>
                      <a:r>
                        <a:rPr lang="en-US" sz="950" dirty="0">
                          <a:solidFill>
                            <a:srgbClr val="0B1F3A"/>
                          </a:solidFill>
                          <a:latin typeface="Calibri" pitchFamily="34" charset="0"/>
                          <a:ea typeface="Calibri" pitchFamily="34" charset="-122"/>
                          <a:cs typeface="Calibri" pitchFamily="34" charset="-120"/>
                        </a:rPr>
                        <a:t>1-bed flat</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marL="0" indent="0">
                        <a:buNone/>
                      </a:pPr>
                      <a:r>
                        <a:rPr lang="en-US" sz="950" dirty="0">
                          <a:solidFill>
                            <a:srgbClr val="0B1F3A"/>
                          </a:solidFill>
                          <a:latin typeface="Calibri" pitchFamily="34" charset="0"/>
                          <a:ea typeface="Calibri" pitchFamily="34" charset="-122"/>
                          <a:cs typeface="Calibri" pitchFamily="34" charset="-120"/>
                        </a:rPr>
                        <a:t>738</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marL="0" indent="0">
                        <a:buNone/>
                      </a:pPr>
                      <a:r>
                        <a:rPr lang="en-US" sz="950" dirty="0">
                          <a:solidFill>
                            <a:srgbClr val="0B1F3A"/>
                          </a:solidFill>
                          <a:latin typeface="Calibri" pitchFamily="34" charset="0"/>
                          <a:ea typeface="Calibri" pitchFamily="34" charset="-122"/>
                          <a:cs typeface="Calibri" pitchFamily="34" charset="-120"/>
                        </a:rPr>
                        <a:t>955,888</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marL="0" indent="0">
                        <a:buNone/>
                      </a:pPr>
                      <a:r>
                        <a:rPr lang="en-US" sz="950" dirty="0">
                          <a:solidFill>
                            <a:srgbClr val="0B1F3A"/>
                          </a:solidFill>
                          <a:latin typeface="Calibri" pitchFamily="34" charset="0"/>
                          <a:ea typeface="Calibri" pitchFamily="34" charset="-122"/>
                          <a:cs typeface="Calibri" pitchFamily="34" charset="-120"/>
                        </a:rPr>
                        <a:t>1,295</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92608">
                <a:tc>
                  <a:txBody>
                    <a:bodyPr/>
                    <a:lstStyle/>
                    <a:p>
                      <a:pPr marL="0" indent="0">
                        <a:buNone/>
                      </a:pPr>
                      <a:r>
                        <a:rPr lang="en-US" sz="950" dirty="0">
                          <a:solidFill>
                            <a:srgbClr val="0B1F3A"/>
                          </a:solidFill>
                          <a:latin typeface="Calibri" pitchFamily="34" charset="0"/>
                          <a:ea typeface="Calibri" pitchFamily="34" charset="-122"/>
                          <a:cs typeface="Calibri" pitchFamily="34" charset="-120"/>
                        </a:rPr>
                        <a:t>05 Mar 2025</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EEF1F6"/>
                    </a:solidFill>
                  </a:tcPr>
                </a:tc>
                <a:tc>
                  <a:txBody>
                    <a:bodyPr/>
                    <a:lstStyle/>
                    <a:p>
                      <a:pPr marL="0" indent="0">
                        <a:buNone/>
                      </a:pPr>
                      <a:r>
                        <a:rPr lang="en-US" sz="950" dirty="0">
                          <a:solidFill>
                            <a:srgbClr val="0B1F3A"/>
                          </a:solidFill>
                          <a:latin typeface="Calibri" pitchFamily="34" charset="0"/>
                          <a:ea typeface="Calibri" pitchFamily="34" charset="-122"/>
                          <a:cs typeface="Calibri" pitchFamily="34" charset="-120"/>
                        </a:rPr>
                        <a:t>3-bed flat</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EEF1F6"/>
                    </a:solidFill>
                  </a:tcPr>
                </a:tc>
                <a:tc>
                  <a:txBody>
                    <a:bodyPr/>
                    <a:lstStyle/>
                    <a:p>
                      <a:pPr marL="0" indent="0">
                        <a:buNone/>
                      </a:pPr>
                      <a:r>
                        <a:rPr lang="en-US" sz="950" dirty="0">
                          <a:solidFill>
                            <a:srgbClr val="0B1F3A"/>
                          </a:solidFill>
                          <a:latin typeface="Calibri" pitchFamily="34" charset="0"/>
                          <a:ea typeface="Calibri" pitchFamily="34" charset="-122"/>
                          <a:cs typeface="Calibri" pitchFamily="34" charset="-120"/>
                        </a:rPr>
                        <a:t>2,564</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EEF1F6"/>
                    </a:solidFill>
                  </a:tcPr>
                </a:tc>
                <a:tc>
                  <a:txBody>
                    <a:bodyPr/>
                    <a:lstStyle/>
                    <a:p>
                      <a:pPr marL="0" indent="0">
                        <a:buNone/>
                      </a:pPr>
                      <a:r>
                        <a:rPr lang="en-US" sz="950" dirty="0">
                          <a:solidFill>
                            <a:srgbClr val="0B1F3A"/>
                          </a:solidFill>
                          <a:latin typeface="Calibri" pitchFamily="34" charset="0"/>
                          <a:ea typeface="Calibri" pitchFamily="34" charset="-122"/>
                          <a:cs typeface="Calibri" pitchFamily="34" charset="-120"/>
                        </a:rPr>
                        <a:t>4,368,888</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EEF1F6"/>
                    </a:solidFill>
                  </a:tcPr>
                </a:tc>
                <a:tc>
                  <a:txBody>
                    <a:bodyPr/>
                    <a:lstStyle/>
                    <a:p>
                      <a:pPr marL="0" indent="0">
                        <a:buNone/>
                      </a:pPr>
                      <a:r>
                        <a:rPr lang="en-US" sz="950" dirty="0">
                          <a:solidFill>
                            <a:srgbClr val="0B1F3A"/>
                          </a:solidFill>
                          <a:latin typeface="Calibri" pitchFamily="34" charset="0"/>
                          <a:ea typeface="Calibri" pitchFamily="34" charset="-122"/>
                          <a:cs typeface="Calibri" pitchFamily="34" charset="-120"/>
                        </a:rPr>
                        <a:t>1,704</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EEF1F6"/>
                    </a:solidFill>
                  </a:tcPr>
                </a:tc>
                <a:extLst>
                  <a:ext uri="{0D108BD9-81ED-4DB2-BD59-A6C34878D82A}">
                    <a16:rowId xmlns:a16="http://schemas.microsoft.com/office/drawing/2014/main" val="10006"/>
                  </a:ext>
                </a:extLst>
              </a:tr>
            </a:tbl>
          </a:graphicData>
        </a:graphic>
      </p:graphicFrame>
      <p:sp>
        <p:nvSpPr>
          <p:cNvPr id="18" name="Text 15"/>
          <p:cNvSpPr/>
          <p:nvPr/>
        </p:nvSpPr>
        <p:spPr>
          <a:xfrm>
            <a:off x="7772400" y="2606040"/>
            <a:ext cx="3916375" cy="237744"/>
          </a:xfrm>
          <a:prstGeom prst="rect">
            <a:avLst/>
          </a:prstGeom>
          <a:noFill/>
          <a:ln/>
        </p:spPr>
        <p:txBody>
          <a:bodyPr wrap="square" lIns="0" tIns="0" rIns="0" bIns="0" rtlCol="0" anchor="ctr"/>
          <a:lstStyle/>
          <a:p>
            <a:pPr marL="0" indent="0">
              <a:buNone/>
            </a:pPr>
            <a:r>
              <a:rPr lang="en-US" sz="1000" b="1" kern="0" spc="50" dirty="0">
                <a:solidFill>
                  <a:srgbClr val="0B1F3A"/>
                </a:solidFill>
                <a:latin typeface="Calibri" pitchFamily="34" charset="0"/>
                <a:ea typeface="Calibri" pitchFamily="34" charset="-122"/>
                <a:cs typeface="Calibri" pitchFamily="34" charset="-120"/>
              </a:rPr>
              <a:t>PRICING VALIDATION</a:t>
            </a:r>
            <a:endParaRPr lang="en-US" sz="1000" dirty="0"/>
          </a:p>
        </p:txBody>
      </p:sp>
      <p:sp>
        <p:nvSpPr>
          <p:cNvPr id="19" name="Shape 16"/>
          <p:cNvSpPr/>
          <p:nvPr/>
        </p:nvSpPr>
        <p:spPr>
          <a:xfrm>
            <a:off x="7772400" y="2880360"/>
            <a:ext cx="3916375" cy="1874520"/>
          </a:xfrm>
          <a:prstGeom prst="rect">
            <a:avLst/>
          </a:prstGeom>
          <a:solidFill>
            <a:srgbClr val="FBF5E6"/>
          </a:solidFill>
          <a:ln/>
        </p:spPr>
      </p:sp>
      <p:sp>
        <p:nvSpPr>
          <p:cNvPr id="20" name="Text 17"/>
          <p:cNvSpPr/>
          <p:nvPr/>
        </p:nvSpPr>
        <p:spPr>
          <a:xfrm>
            <a:off x="7955280" y="3026664"/>
            <a:ext cx="3550615" cy="1600200"/>
          </a:xfrm>
          <a:prstGeom prst="rect">
            <a:avLst/>
          </a:prstGeom>
          <a:noFill/>
          <a:ln/>
        </p:spPr>
        <p:txBody>
          <a:bodyPr wrap="square" lIns="0" tIns="0" rIns="0" bIns="0" rtlCol="0" anchor="t"/>
          <a:lstStyle/>
          <a:p>
            <a:pPr marL="0" indent="0">
              <a:lnSpc>
                <a:spcPct val="115000"/>
              </a:lnSpc>
              <a:buNone/>
            </a:pPr>
            <a:r>
              <a:rPr lang="en-US" sz="1000" dirty="0">
                <a:solidFill>
                  <a:srgbClr val="0B1F3A"/>
                </a:solidFill>
                <a:latin typeface="Calibri" pitchFamily="34" charset="0"/>
                <a:ea typeface="Calibri" pitchFamily="34" charset="-122"/>
                <a:cs typeface="Calibri" pitchFamily="34" charset="-120"/>
              </a:rPr>
              <a:t>All 50 transactions are classified by DLD as Pre-registration Sale (Oqood/off-plan). 1-bed PSF is tightly clustered (AED 1,295–1,339), while 3-bed PSF varies more widely (AED 1,102–1,777) — likely reflecting floor and view premiums.</a:t>
            </a:r>
            <a:endParaRPr lang="en-US" sz="1000" dirty="0"/>
          </a:p>
        </p:txBody>
      </p:sp>
      <p:sp>
        <p:nvSpPr>
          <p:cNvPr id="21" name="Text 18"/>
          <p:cNvSpPr/>
          <p:nvPr/>
        </p:nvSpPr>
        <p:spPr>
          <a:xfrm>
            <a:off x="7772400" y="4892040"/>
            <a:ext cx="3916375" cy="219456"/>
          </a:xfrm>
          <a:prstGeom prst="rect">
            <a:avLst/>
          </a:prstGeom>
          <a:noFill/>
          <a:ln/>
        </p:spPr>
        <p:txBody>
          <a:bodyPr wrap="square" lIns="0" tIns="0" rIns="0" bIns="0" rtlCol="0" anchor="ctr"/>
          <a:lstStyle/>
          <a:p>
            <a:pPr marL="0" indent="0">
              <a:buNone/>
            </a:pPr>
            <a:r>
              <a:rPr lang="en-US" sz="900" b="1" kern="0" spc="100" dirty="0">
                <a:solidFill>
                  <a:srgbClr val="C9A227"/>
                </a:solidFill>
                <a:latin typeface="Calibri" pitchFamily="34" charset="0"/>
                <a:ea typeface="Calibri" pitchFamily="34" charset="-122"/>
                <a:cs typeface="Calibri" pitchFamily="34" charset="-120"/>
              </a:rPr>
              <a:t>SOURCE</a:t>
            </a:r>
            <a:endParaRPr lang="en-US" sz="900" dirty="0"/>
          </a:p>
        </p:txBody>
      </p:sp>
      <p:sp>
        <p:nvSpPr>
          <p:cNvPr id="22" name="Text 19"/>
          <p:cNvSpPr/>
          <p:nvPr/>
        </p:nvSpPr>
        <p:spPr>
          <a:xfrm>
            <a:off x="7772400" y="5111496"/>
            <a:ext cx="3916375" cy="457200"/>
          </a:xfrm>
          <a:prstGeom prst="rect">
            <a:avLst/>
          </a:prstGeom>
          <a:noFill/>
          <a:ln/>
        </p:spPr>
        <p:txBody>
          <a:bodyPr wrap="square" lIns="0" tIns="0" rIns="0" bIns="0" rtlCol="0" anchor="ctr"/>
          <a:lstStyle/>
          <a:p>
            <a:pPr marL="0" indent="0">
              <a:lnSpc>
                <a:spcPct val="110000"/>
              </a:lnSpc>
              <a:buNone/>
            </a:pPr>
            <a:r>
              <a:rPr lang="en-US" sz="850" i="1" dirty="0">
                <a:solidFill>
                  <a:srgbClr val="666666"/>
                </a:solidFill>
                <a:latin typeface="Calibri" pitchFamily="34" charset="0"/>
                <a:ea typeface="Calibri" pitchFamily="34" charset="-122"/>
                <a:cs typeface="Calibri" pitchFamily="34" charset="-120"/>
              </a:rPr>
              <a:t>Propsearch.ae, republishing Dubai Land Department Open Data (dubailand.gov.ae), updated 9 April 2026.</a:t>
            </a:r>
            <a:endParaRPr lang="en-US" sz="850" dirty="0"/>
          </a:p>
        </p:txBody>
      </p:sp>
      <p:sp>
        <p:nvSpPr>
          <p:cNvPr id="23" name="Shape 20"/>
          <p:cNvSpPr/>
          <p:nvPr/>
        </p:nvSpPr>
        <p:spPr>
          <a:xfrm>
            <a:off x="502920" y="5806440"/>
            <a:ext cx="11185855" cy="566928"/>
          </a:xfrm>
          <a:prstGeom prst="rect">
            <a:avLst/>
          </a:prstGeom>
          <a:solidFill>
            <a:srgbClr val="EEF1F6"/>
          </a:solidFill>
          <a:ln/>
        </p:spPr>
      </p:sp>
      <p:pic>
        <p:nvPicPr>
          <p:cNvPr id="24" name="Image 0" descr="icons/star_gold.png"/>
          <p:cNvPicPr>
            <a:picLocks noChangeAspect="1"/>
          </p:cNvPicPr>
          <p:nvPr/>
        </p:nvPicPr>
        <p:blipFill>
          <a:blip r:embed="rId3"/>
          <a:stretch>
            <a:fillRect/>
          </a:stretch>
        </p:blipFill>
        <p:spPr>
          <a:xfrm>
            <a:off x="667512" y="5952744"/>
            <a:ext cx="274320" cy="274320"/>
          </a:xfrm>
          <a:prstGeom prst="rect">
            <a:avLst/>
          </a:prstGeom>
        </p:spPr>
      </p:pic>
      <p:sp>
        <p:nvSpPr>
          <p:cNvPr id="25" name="Text 21"/>
          <p:cNvSpPr/>
          <p:nvPr/>
        </p:nvSpPr>
        <p:spPr>
          <a:xfrm>
            <a:off x="1069848" y="5806440"/>
            <a:ext cx="10454335" cy="566928"/>
          </a:xfrm>
          <a:prstGeom prst="rect">
            <a:avLst/>
          </a:prstGeom>
          <a:noFill/>
          <a:ln/>
        </p:spPr>
        <p:txBody>
          <a:bodyPr wrap="square" lIns="0" tIns="0" rIns="0" bIns="0" rtlCol="0" anchor="ctr"/>
          <a:lstStyle/>
          <a:p>
            <a:pPr marL="0" indent="0" algn="l">
              <a:lnSpc>
                <a:spcPct val="105000"/>
              </a:lnSpc>
              <a:buNone/>
            </a:pPr>
            <a:r>
              <a:rPr lang="en-US" sz="1050" b="1" kern="0" spc="100" dirty="0">
                <a:solidFill>
                  <a:srgbClr val="0B1F3A"/>
                </a:solidFill>
                <a:latin typeface="Calibri" pitchFamily="34" charset="0"/>
                <a:ea typeface="Calibri" pitchFamily="34" charset="-122"/>
                <a:cs typeface="Calibri" pitchFamily="34" charset="-120"/>
              </a:rPr>
              <a:t>EXECUTIVE INSIGHT   </a:t>
            </a:r>
            <a:r>
              <a:rPr lang="en-US" sz="1150" dirty="0">
                <a:solidFill>
                  <a:srgbClr val="0B1F3A"/>
                </a:solidFill>
                <a:latin typeface="Calibri" pitchFamily="34" charset="0"/>
                <a:ea typeface="Calibri" pitchFamily="34" charset="-122"/>
                <a:cs typeface="Calibri" pitchFamily="34" charset="-120"/>
              </a:rPr>
              <a:t>An active, verifiable secondary market already exists for Golf Acres pre-completion — Greenspoint has no equivalent public transaction footprint.</a:t>
            </a:r>
            <a:endParaRPr lang="en-US" sz="1050" dirty="0"/>
          </a:p>
        </p:txBody>
      </p:sp>
      <p:sp>
        <p:nvSpPr>
          <p:cNvPr id="26" name="Text 22"/>
          <p:cNvSpPr/>
          <p:nvPr/>
        </p:nvSpPr>
        <p:spPr>
          <a:xfrm>
            <a:off x="502920" y="6510528"/>
            <a:ext cx="3657600" cy="256032"/>
          </a:xfrm>
          <a:prstGeom prst="rect">
            <a:avLst/>
          </a:prstGeom>
          <a:noFill/>
          <a:ln/>
        </p:spPr>
        <p:txBody>
          <a:bodyPr wrap="square" lIns="0" tIns="0" rIns="0" bIns="0" rtlCol="0" anchor="ctr"/>
          <a:lstStyle/>
          <a:p>
            <a:pPr marL="0" indent="0" algn="l">
              <a:buNone/>
            </a:pPr>
            <a:r>
              <a:rPr lang="en-US" sz="800" kern="0" spc="100" dirty="0">
                <a:solidFill>
                  <a:srgbClr val="9AA1AC"/>
                </a:solidFill>
                <a:latin typeface="Calibri" pitchFamily="34" charset="0"/>
                <a:ea typeface="Calibri" pitchFamily="34" charset="-122"/>
                <a:cs typeface="Calibri" pitchFamily="34" charset="-120"/>
              </a:rPr>
              <a:t>LUXURY REAL ESTATE INVESTMENT ADVISORY</a:t>
            </a:r>
            <a:endParaRPr lang="en-US" sz="800" dirty="0"/>
          </a:p>
        </p:txBody>
      </p:sp>
      <p:sp>
        <p:nvSpPr>
          <p:cNvPr id="27" name="Text 23"/>
          <p:cNvSpPr/>
          <p:nvPr/>
        </p:nvSpPr>
        <p:spPr>
          <a:xfrm>
            <a:off x="3809848" y="6510528"/>
            <a:ext cx="4572000" cy="256032"/>
          </a:xfrm>
          <a:prstGeom prst="rect">
            <a:avLst/>
          </a:prstGeom>
          <a:noFill/>
          <a:ln/>
        </p:spPr>
        <p:txBody>
          <a:bodyPr wrap="square" lIns="0" tIns="0" rIns="0" bIns="0" rtlCol="0" anchor="ctr"/>
          <a:lstStyle/>
          <a:p>
            <a:pPr marL="0" indent="0" algn="ctr">
              <a:buNone/>
            </a:pPr>
            <a:r>
              <a:rPr lang="en-US" sz="800" dirty="0">
                <a:solidFill>
                  <a:srgbClr val="9AA1AC"/>
                </a:solidFill>
                <a:latin typeface="Calibri" pitchFamily="34" charset="0"/>
                <a:ea typeface="Calibri" pitchFamily="34" charset="-122"/>
                <a:cs typeface="Calibri" pitchFamily="34" charset="-120"/>
              </a:rPr>
              <a:t>DLD Validation</a:t>
            </a:r>
            <a:endParaRPr lang="en-US" sz="800" dirty="0"/>
          </a:p>
        </p:txBody>
      </p:sp>
      <p:sp>
        <p:nvSpPr>
          <p:cNvPr id="28" name="Text 24"/>
          <p:cNvSpPr/>
          <p:nvPr/>
        </p:nvSpPr>
        <p:spPr>
          <a:xfrm>
            <a:off x="8031175" y="6510528"/>
            <a:ext cx="3657600" cy="256032"/>
          </a:xfrm>
          <a:prstGeom prst="rect">
            <a:avLst/>
          </a:prstGeom>
          <a:noFill/>
          <a:ln/>
        </p:spPr>
        <p:txBody>
          <a:bodyPr wrap="square" lIns="0" tIns="0" rIns="0" bIns="0" rtlCol="0" anchor="ctr"/>
          <a:lstStyle/>
          <a:p>
            <a:pPr marL="0" indent="0" algn="r">
              <a:buNone/>
            </a:pPr>
            <a:r>
              <a:rPr lang="en-US" sz="800" dirty="0">
                <a:solidFill>
                  <a:srgbClr val="9AA1AC"/>
                </a:solidFill>
                <a:latin typeface="Calibri" pitchFamily="34" charset="0"/>
                <a:ea typeface="Calibri" pitchFamily="34" charset="-122"/>
                <a:cs typeface="Calibri" pitchFamily="34" charset="-120"/>
              </a:rPr>
              <a:t>09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lgn="l">
              <a:buNone/>
            </a:pPr>
            <a:r>
              <a:rPr lang="en-US" sz="1150" b="1" kern="0" spc="200" dirty="0">
                <a:solidFill>
                  <a:srgbClr val="C9A227"/>
                </a:solidFill>
                <a:latin typeface="Calibri" pitchFamily="34" charset="0"/>
                <a:ea typeface="Calibri" pitchFamily="34" charset="-122"/>
                <a:cs typeface="Calibri" pitchFamily="34" charset="-120"/>
              </a:rPr>
              <a:t>SECTION 09 · CASH FLOW PLANNING</a:t>
            </a:r>
            <a:endParaRPr lang="en-US" sz="1150" dirty="0"/>
          </a:p>
        </p:txBody>
      </p:sp>
      <p:sp>
        <p:nvSpPr>
          <p:cNvPr id="3" name="Text 1"/>
          <p:cNvSpPr/>
          <p:nvPr/>
        </p:nvSpPr>
        <p:spPr>
          <a:xfrm>
            <a:off x="502920" y="658368"/>
            <a:ext cx="10607040" cy="566928"/>
          </a:xfrm>
          <a:prstGeom prst="rect">
            <a:avLst/>
          </a:prstGeom>
          <a:noFill/>
          <a:ln/>
        </p:spPr>
        <p:txBody>
          <a:bodyPr wrap="square" lIns="0" tIns="0" rIns="0" bIns="0" rtlCol="0" anchor="ctr"/>
          <a:lstStyle/>
          <a:p>
            <a:pPr marL="0" indent="0" algn="l">
              <a:buNone/>
            </a:pPr>
            <a:r>
              <a:rPr lang="en-US" sz="2600" b="1" dirty="0">
                <a:solidFill>
                  <a:srgbClr val="0B1F3A"/>
                </a:solidFill>
                <a:latin typeface="Cambria" pitchFamily="34" charset="0"/>
                <a:ea typeface="Cambria" pitchFamily="34" charset="-122"/>
                <a:cs typeface="Cambria" pitchFamily="34" charset="-120"/>
              </a:rPr>
              <a:t>Payment Plan Comparison</a:t>
            </a:r>
            <a:endParaRPr lang="en-US" sz="2600" dirty="0"/>
          </a:p>
        </p:txBody>
      </p:sp>
      <p:sp>
        <p:nvSpPr>
          <p:cNvPr id="4" name="Text 2"/>
          <p:cNvSpPr/>
          <p:nvPr/>
        </p:nvSpPr>
        <p:spPr>
          <a:xfrm>
            <a:off x="502920" y="1554480"/>
            <a:ext cx="11185855" cy="237744"/>
          </a:xfrm>
          <a:prstGeom prst="rect">
            <a:avLst/>
          </a:prstGeom>
          <a:noFill/>
          <a:ln/>
        </p:spPr>
        <p:txBody>
          <a:bodyPr wrap="square" lIns="0" tIns="0" rIns="0" bIns="0" rtlCol="0" anchor="ctr"/>
          <a:lstStyle/>
          <a:p>
            <a:pPr marL="0" indent="0">
              <a:buNone/>
            </a:pPr>
            <a:r>
              <a:rPr lang="en-US" sz="1000" b="1" kern="0" spc="30" dirty="0">
                <a:solidFill>
                  <a:srgbClr val="0B1F3A"/>
                </a:solidFill>
                <a:latin typeface="Calibri" pitchFamily="34" charset="0"/>
                <a:ea typeface="Calibri" pitchFamily="34" charset="-122"/>
                <a:cs typeface="Calibri" pitchFamily="34" charset="-120"/>
              </a:rPr>
              <a:t>STRUCTURE: 10% BOOKING  →  70% CONSTRUCTION-LINKED  →  20% HANDOVER (IDENTICAL FOR BOTH PROJECTS)</a:t>
            </a:r>
            <a:endParaRPr lang="en-US" sz="1000" dirty="0"/>
          </a:p>
        </p:txBody>
      </p:sp>
      <p:sp>
        <p:nvSpPr>
          <p:cNvPr id="5" name="Shape 3"/>
          <p:cNvSpPr/>
          <p:nvPr/>
        </p:nvSpPr>
        <p:spPr>
          <a:xfrm>
            <a:off x="502920" y="2057400"/>
            <a:ext cx="1118586" cy="457200"/>
          </a:xfrm>
          <a:prstGeom prst="rect">
            <a:avLst/>
          </a:prstGeom>
          <a:solidFill>
            <a:srgbClr val="C9A227"/>
          </a:solidFill>
          <a:ln w="19050">
            <a:solidFill>
              <a:srgbClr val="FFFFFF"/>
            </a:solidFill>
            <a:prstDash val="solid"/>
          </a:ln>
        </p:spPr>
      </p:sp>
      <p:sp>
        <p:nvSpPr>
          <p:cNvPr id="6" name="Text 4"/>
          <p:cNvSpPr/>
          <p:nvPr/>
        </p:nvSpPr>
        <p:spPr>
          <a:xfrm>
            <a:off x="502920" y="2057400"/>
            <a:ext cx="1118586" cy="4572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10% Booking</a:t>
            </a:r>
            <a:endParaRPr lang="en-US" sz="1000" dirty="0"/>
          </a:p>
        </p:txBody>
      </p:sp>
      <p:sp>
        <p:nvSpPr>
          <p:cNvPr id="7" name="Shape 5"/>
          <p:cNvSpPr/>
          <p:nvPr/>
        </p:nvSpPr>
        <p:spPr>
          <a:xfrm>
            <a:off x="1621506" y="2057400"/>
            <a:ext cx="7830099" cy="457200"/>
          </a:xfrm>
          <a:prstGeom prst="rect">
            <a:avLst/>
          </a:prstGeom>
          <a:solidFill>
            <a:srgbClr val="0B1F3A"/>
          </a:solidFill>
          <a:ln w="19050">
            <a:solidFill>
              <a:srgbClr val="FFFFFF"/>
            </a:solidFill>
            <a:prstDash val="solid"/>
          </a:ln>
        </p:spPr>
      </p:sp>
      <p:sp>
        <p:nvSpPr>
          <p:cNvPr id="8" name="Text 6"/>
          <p:cNvSpPr/>
          <p:nvPr/>
        </p:nvSpPr>
        <p:spPr>
          <a:xfrm>
            <a:off x="1621506" y="2057400"/>
            <a:ext cx="7830099" cy="4572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70% Construction-Linked</a:t>
            </a:r>
            <a:endParaRPr lang="en-US" sz="1000" dirty="0"/>
          </a:p>
        </p:txBody>
      </p:sp>
      <p:sp>
        <p:nvSpPr>
          <p:cNvPr id="9" name="Shape 7"/>
          <p:cNvSpPr/>
          <p:nvPr/>
        </p:nvSpPr>
        <p:spPr>
          <a:xfrm>
            <a:off x="9451604" y="2057400"/>
            <a:ext cx="2237171" cy="457200"/>
          </a:xfrm>
          <a:prstGeom prst="rect">
            <a:avLst/>
          </a:prstGeom>
          <a:solidFill>
            <a:srgbClr val="1B3A63"/>
          </a:solidFill>
          <a:ln w="19050">
            <a:solidFill>
              <a:srgbClr val="FFFFFF"/>
            </a:solidFill>
            <a:prstDash val="solid"/>
          </a:ln>
        </p:spPr>
      </p:sp>
      <p:sp>
        <p:nvSpPr>
          <p:cNvPr id="10" name="Text 8"/>
          <p:cNvSpPr/>
          <p:nvPr/>
        </p:nvSpPr>
        <p:spPr>
          <a:xfrm>
            <a:off x="9451604" y="2057400"/>
            <a:ext cx="2237171" cy="4572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20% Handover</a:t>
            </a:r>
            <a:endParaRPr lang="en-US" sz="1000" dirty="0"/>
          </a:p>
        </p:txBody>
      </p:sp>
      <p:sp>
        <p:nvSpPr>
          <p:cNvPr id="11" name="Shape 9"/>
          <p:cNvSpPr/>
          <p:nvPr/>
        </p:nvSpPr>
        <p:spPr>
          <a:xfrm>
            <a:off x="502920" y="2834640"/>
            <a:ext cx="5437480" cy="2331720"/>
          </a:xfrm>
          <a:prstGeom prst="rect">
            <a:avLst/>
          </a:prstGeom>
          <a:solidFill>
            <a:srgbClr val="FFFFFF"/>
          </a:solidFill>
          <a:ln w="12700">
            <a:solidFill>
              <a:srgbClr val="E2E5EA"/>
            </a:solidFill>
            <a:prstDash val="solid"/>
          </a:ln>
          <a:effectLst>
            <a:outerShdw blurRad="88900" dist="25400" dir="5400000" algn="bl" rotWithShape="0">
              <a:srgbClr val="0B1F3A">
                <a:alpha val="10000"/>
              </a:srgbClr>
            </a:outerShdw>
          </a:effectLst>
        </p:spPr>
      </p:sp>
      <p:sp>
        <p:nvSpPr>
          <p:cNvPr id="12" name="Text 10"/>
          <p:cNvSpPr/>
          <p:nvPr/>
        </p:nvSpPr>
        <p:spPr>
          <a:xfrm>
            <a:off x="758952" y="2999232"/>
            <a:ext cx="3974440" cy="310896"/>
          </a:xfrm>
          <a:prstGeom prst="rect">
            <a:avLst/>
          </a:prstGeom>
          <a:noFill/>
          <a:ln/>
        </p:spPr>
        <p:txBody>
          <a:bodyPr wrap="square" lIns="0" tIns="0" rIns="0" bIns="0" rtlCol="0" anchor="ctr"/>
          <a:lstStyle/>
          <a:p>
            <a:pPr marL="0" indent="0">
              <a:buNone/>
            </a:pPr>
            <a:r>
              <a:rPr lang="en-US" sz="1500" b="1" dirty="0">
                <a:solidFill>
                  <a:srgbClr val="0B1F3A"/>
                </a:solidFill>
                <a:latin typeface="Cambria" pitchFamily="34" charset="0"/>
                <a:ea typeface="Cambria" pitchFamily="34" charset="-122"/>
                <a:cs typeface="Cambria" pitchFamily="34" charset="-120"/>
              </a:rPr>
              <a:t>Golf Acres — 1-Bed</a:t>
            </a:r>
            <a:endParaRPr lang="en-US" sz="1500" dirty="0"/>
          </a:p>
        </p:txBody>
      </p:sp>
      <p:sp>
        <p:nvSpPr>
          <p:cNvPr id="13" name="Shape 11"/>
          <p:cNvSpPr/>
          <p:nvPr/>
        </p:nvSpPr>
        <p:spPr>
          <a:xfrm>
            <a:off x="4340200" y="3017520"/>
            <a:ext cx="1344168" cy="292608"/>
          </a:xfrm>
          <a:prstGeom prst="rect">
            <a:avLst/>
          </a:prstGeom>
          <a:solidFill>
            <a:srgbClr val="1E7B45"/>
          </a:solidFill>
          <a:ln/>
        </p:spPr>
      </p:sp>
      <p:sp>
        <p:nvSpPr>
          <p:cNvPr id="14" name="Text 12"/>
          <p:cNvSpPr/>
          <p:nvPr/>
        </p:nvSpPr>
        <p:spPr>
          <a:xfrm>
            <a:off x="4340200" y="3017520"/>
            <a:ext cx="1344168" cy="29260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FITS · +1.05M HEADROOM</a:t>
            </a:r>
            <a:endParaRPr lang="en-US" sz="850" dirty="0"/>
          </a:p>
        </p:txBody>
      </p:sp>
      <p:sp>
        <p:nvSpPr>
          <p:cNvPr id="15" name="Shape 13"/>
          <p:cNvSpPr/>
          <p:nvPr/>
        </p:nvSpPr>
        <p:spPr>
          <a:xfrm>
            <a:off x="758952" y="3383280"/>
            <a:ext cx="4925416" cy="0"/>
          </a:xfrm>
          <a:prstGeom prst="line">
            <a:avLst/>
          </a:prstGeom>
          <a:noFill/>
          <a:ln w="12700">
            <a:solidFill>
              <a:srgbClr val="E2E5EA"/>
            </a:solidFill>
            <a:prstDash val="solid"/>
          </a:ln>
        </p:spPr>
      </p:sp>
      <p:sp>
        <p:nvSpPr>
          <p:cNvPr id="16" name="Text 14"/>
          <p:cNvSpPr/>
          <p:nvPr/>
        </p:nvSpPr>
        <p:spPr>
          <a:xfrm>
            <a:off x="758952" y="3511296"/>
            <a:ext cx="3791560" cy="292608"/>
          </a:xfrm>
          <a:prstGeom prst="rect">
            <a:avLst/>
          </a:prstGeom>
          <a:noFill/>
          <a:ln/>
        </p:spPr>
        <p:txBody>
          <a:bodyPr wrap="square" lIns="0" tIns="0" rIns="0" bIns="0" rtlCol="0" anchor="ctr"/>
          <a:lstStyle/>
          <a:p>
            <a:pPr marL="0" indent="0">
              <a:buNone/>
            </a:pPr>
            <a:r>
              <a:rPr lang="en-US" sz="1050" dirty="0">
                <a:solidFill>
                  <a:srgbClr val="666666"/>
                </a:solidFill>
                <a:latin typeface="Calibri" pitchFamily="34" charset="0"/>
                <a:ea typeface="Calibri" pitchFamily="34" charset="-122"/>
                <a:cs typeface="Calibri" pitchFamily="34" charset="-120"/>
              </a:rPr>
              <a:t>Booking (10%)</a:t>
            </a:r>
            <a:endParaRPr lang="en-US" sz="1050" dirty="0"/>
          </a:p>
        </p:txBody>
      </p:sp>
      <p:sp>
        <p:nvSpPr>
          <p:cNvPr id="17" name="Text 15"/>
          <p:cNvSpPr/>
          <p:nvPr/>
        </p:nvSpPr>
        <p:spPr>
          <a:xfrm>
            <a:off x="4385920" y="3511296"/>
            <a:ext cx="1325880" cy="292608"/>
          </a:xfrm>
          <a:prstGeom prst="rect">
            <a:avLst/>
          </a:prstGeom>
          <a:noFill/>
          <a:ln/>
        </p:spPr>
        <p:txBody>
          <a:bodyPr wrap="square" lIns="0" tIns="0" rIns="0" bIns="0" rtlCol="0" anchor="ctr"/>
          <a:lstStyle/>
          <a:p>
            <a:pPr marL="0" indent="0" algn="r">
              <a:buNone/>
            </a:pPr>
            <a:r>
              <a:rPr lang="en-US" sz="1050" b="1" dirty="0">
                <a:solidFill>
                  <a:srgbClr val="0B1F3A"/>
                </a:solidFill>
                <a:latin typeface="Calibri" pitchFamily="34" charset="0"/>
                <a:ea typeface="Calibri" pitchFamily="34" charset="-122"/>
                <a:cs typeface="Calibri" pitchFamily="34" charset="-120"/>
              </a:rPr>
              <a:t>AED 95,000</a:t>
            </a:r>
            <a:endParaRPr lang="en-US" sz="1050" dirty="0"/>
          </a:p>
        </p:txBody>
      </p:sp>
      <p:sp>
        <p:nvSpPr>
          <p:cNvPr id="18" name="Text 16"/>
          <p:cNvSpPr/>
          <p:nvPr/>
        </p:nvSpPr>
        <p:spPr>
          <a:xfrm>
            <a:off x="758952" y="3840480"/>
            <a:ext cx="3791560" cy="292608"/>
          </a:xfrm>
          <a:prstGeom prst="rect">
            <a:avLst/>
          </a:prstGeom>
          <a:noFill/>
          <a:ln/>
        </p:spPr>
        <p:txBody>
          <a:bodyPr wrap="square" lIns="0" tIns="0" rIns="0" bIns="0" rtlCol="0" anchor="ctr"/>
          <a:lstStyle/>
          <a:p>
            <a:pPr marL="0" indent="0">
              <a:buNone/>
            </a:pPr>
            <a:r>
              <a:rPr lang="en-US" sz="1050" dirty="0">
                <a:solidFill>
                  <a:srgbClr val="666666"/>
                </a:solidFill>
                <a:latin typeface="Calibri" pitchFamily="34" charset="0"/>
                <a:ea typeface="Calibri" pitchFamily="34" charset="-122"/>
                <a:cs typeface="Calibri" pitchFamily="34" charset="-120"/>
              </a:rPr>
              <a:t>Construction (70%)</a:t>
            </a:r>
            <a:endParaRPr lang="en-US" sz="1050" dirty="0"/>
          </a:p>
        </p:txBody>
      </p:sp>
      <p:sp>
        <p:nvSpPr>
          <p:cNvPr id="19" name="Text 17"/>
          <p:cNvSpPr/>
          <p:nvPr/>
        </p:nvSpPr>
        <p:spPr>
          <a:xfrm>
            <a:off x="4385920" y="3840480"/>
            <a:ext cx="1325880" cy="292608"/>
          </a:xfrm>
          <a:prstGeom prst="rect">
            <a:avLst/>
          </a:prstGeom>
          <a:noFill/>
          <a:ln/>
        </p:spPr>
        <p:txBody>
          <a:bodyPr wrap="square" lIns="0" tIns="0" rIns="0" bIns="0" rtlCol="0" anchor="ctr"/>
          <a:lstStyle/>
          <a:p>
            <a:pPr marL="0" indent="0" algn="r">
              <a:buNone/>
            </a:pPr>
            <a:r>
              <a:rPr lang="en-US" sz="1050" b="1" dirty="0">
                <a:solidFill>
                  <a:srgbClr val="0B1F3A"/>
                </a:solidFill>
                <a:latin typeface="Calibri" pitchFamily="34" charset="0"/>
                <a:ea typeface="Calibri" pitchFamily="34" charset="-122"/>
                <a:cs typeface="Calibri" pitchFamily="34" charset="-120"/>
              </a:rPr>
              <a:t>AED 665,000</a:t>
            </a:r>
            <a:endParaRPr lang="en-US" sz="1050" dirty="0"/>
          </a:p>
        </p:txBody>
      </p:sp>
      <p:sp>
        <p:nvSpPr>
          <p:cNvPr id="20" name="Text 18"/>
          <p:cNvSpPr/>
          <p:nvPr/>
        </p:nvSpPr>
        <p:spPr>
          <a:xfrm>
            <a:off x="758952" y="4169664"/>
            <a:ext cx="3791560" cy="292608"/>
          </a:xfrm>
          <a:prstGeom prst="rect">
            <a:avLst/>
          </a:prstGeom>
          <a:noFill/>
          <a:ln/>
        </p:spPr>
        <p:txBody>
          <a:bodyPr wrap="square" lIns="0" tIns="0" rIns="0" bIns="0" rtlCol="0" anchor="ctr"/>
          <a:lstStyle/>
          <a:p>
            <a:pPr marL="0" indent="0">
              <a:buNone/>
            </a:pPr>
            <a:r>
              <a:rPr lang="en-US" sz="1050" dirty="0">
                <a:solidFill>
                  <a:srgbClr val="666666"/>
                </a:solidFill>
                <a:latin typeface="Calibri" pitchFamily="34" charset="0"/>
                <a:ea typeface="Calibri" pitchFamily="34" charset="-122"/>
                <a:cs typeface="Calibri" pitchFamily="34" charset="-120"/>
              </a:rPr>
              <a:t>Handover (20%)</a:t>
            </a:r>
            <a:endParaRPr lang="en-US" sz="1050" dirty="0"/>
          </a:p>
        </p:txBody>
      </p:sp>
      <p:sp>
        <p:nvSpPr>
          <p:cNvPr id="21" name="Text 19"/>
          <p:cNvSpPr/>
          <p:nvPr/>
        </p:nvSpPr>
        <p:spPr>
          <a:xfrm>
            <a:off x="4385920" y="4169664"/>
            <a:ext cx="1325880" cy="292608"/>
          </a:xfrm>
          <a:prstGeom prst="rect">
            <a:avLst/>
          </a:prstGeom>
          <a:noFill/>
          <a:ln/>
        </p:spPr>
        <p:txBody>
          <a:bodyPr wrap="square" lIns="0" tIns="0" rIns="0" bIns="0" rtlCol="0" anchor="ctr"/>
          <a:lstStyle/>
          <a:p>
            <a:pPr marL="0" indent="0" algn="r">
              <a:buNone/>
            </a:pPr>
            <a:r>
              <a:rPr lang="en-US" sz="1050" b="1" dirty="0">
                <a:solidFill>
                  <a:srgbClr val="0B1F3A"/>
                </a:solidFill>
                <a:latin typeface="Calibri" pitchFamily="34" charset="0"/>
                <a:ea typeface="Calibri" pitchFamily="34" charset="-122"/>
                <a:cs typeface="Calibri" pitchFamily="34" charset="-120"/>
              </a:rPr>
              <a:t>AED 190,000</a:t>
            </a:r>
            <a:endParaRPr lang="en-US" sz="1050" dirty="0"/>
          </a:p>
        </p:txBody>
      </p:sp>
      <p:sp>
        <p:nvSpPr>
          <p:cNvPr id="22" name="Shape 20"/>
          <p:cNvSpPr/>
          <p:nvPr/>
        </p:nvSpPr>
        <p:spPr>
          <a:xfrm>
            <a:off x="758952" y="4517136"/>
            <a:ext cx="4925416" cy="0"/>
          </a:xfrm>
          <a:prstGeom prst="line">
            <a:avLst/>
          </a:prstGeom>
          <a:noFill/>
          <a:ln w="12700">
            <a:solidFill>
              <a:srgbClr val="E2E5EA"/>
            </a:solidFill>
            <a:prstDash val="solid"/>
          </a:ln>
        </p:spPr>
      </p:sp>
      <p:sp>
        <p:nvSpPr>
          <p:cNvPr id="23" name="Text 21"/>
          <p:cNvSpPr/>
          <p:nvPr/>
        </p:nvSpPr>
        <p:spPr>
          <a:xfrm>
            <a:off x="758952" y="4608576"/>
            <a:ext cx="3791560" cy="329184"/>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Total Cash Required</a:t>
            </a:r>
            <a:endParaRPr lang="en-US" sz="1100" dirty="0"/>
          </a:p>
        </p:txBody>
      </p:sp>
      <p:sp>
        <p:nvSpPr>
          <p:cNvPr id="24" name="Text 22"/>
          <p:cNvSpPr/>
          <p:nvPr/>
        </p:nvSpPr>
        <p:spPr>
          <a:xfrm>
            <a:off x="4203040" y="4608576"/>
            <a:ext cx="1508760" cy="329184"/>
          </a:xfrm>
          <a:prstGeom prst="rect">
            <a:avLst/>
          </a:prstGeom>
          <a:noFill/>
          <a:ln/>
        </p:spPr>
        <p:txBody>
          <a:bodyPr wrap="square" lIns="0" tIns="0" rIns="0" bIns="0" rtlCol="0" anchor="ctr"/>
          <a:lstStyle/>
          <a:p>
            <a:pPr marL="0" indent="0" algn="r">
              <a:buNone/>
            </a:pPr>
            <a:r>
              <a:rPr lang="en-US" sz="1300" b="1" dirty="0">
                <a:solidFill>
                  <a:srgbClr val="C9A227"/>
                </a:solidFill>
                <a:latin typeface="Calibri" pitchFamily="34" charset="0"/>
                <a:ea typeface="Calibri" pitchFamily="34" charset="-122"/>
                <a:cs typeface="Calibri" pitchFamily="34" charset="-120"/>
              </a:rPr>
              <a:t>AED 950,000</a:t>
            </a:r>
            <a:endParaRPr lang="en-US" sz="1300" dirty="0"/>
          </a:p>
        </p:txBody>
      </p:sp>
      <p:sp>
        <p:nvSpPr>
          <p:cNvPr id="25" name="Shape 23"/>
          <p:cNvSpPr/>
          <p:nvPr/>
        </p:nvSpPr>
        <p:spPr>
          <a:xfrm>
            <a:off x="6251296" y="2834640"/>
            <a:ext cx="5437480" cy="2331720"/>
          </a:xfrm>
          <a:prstGeom prst="rect">
            <a:avLst/>
          </a:prstGeom>
          <a:solidFill>
            <a:srgbClr val="FFFFFF"/>
          </a:solidFill>
          <a:ln w="12700">
            <a:solidFill>
              <a:srgbClr val="E2E5EA"/>
            </a:solidFill>
            <a:prstDash val="solid"/>
          </a:ln>
          <a:effectLst>
            <a:outerShdw blurRad="88900" dist="25400" dir="5400000" algn="bl" rotWithShape="0">
              <a:srgbClr val="0B1F3A">
                <a:alpha val="10000"/>
              </a:srgbClr>
            </a:outerShdw>
          </a:effectLst>
        </p:spPr>
      </p:sp>
      <p:sp>
        <p:nvSpPr>
          <p:cNvPr id="26" name="Text 24"/>
          <p:cNvSpPr/>
          <p:nvPr/>
        </p:nvSpPr>
        <p:spPr>
          <a:xfrm>
            <a:off x="6507328" y="2999232"/>
            <a:ext cx="3974440" cy="310896"/>
          </a:xfrm>
          <a:prstGeom prst="rect">
            <a:avLst/>
          </a:prstGeom>
          <a:noFill/>
          <a:ln/>
        </p:spPr>
        <p:txBody>
          <a:bodyPr wrap="square" lIns="0" tIns="0" rIns="0" bIns="0" rtlCol="0" anchor="ctr"/>
          <a:lstStyle/>
          <a:p>
            <a:pPr marL="0" indent="0">
              <a:buNone/>
            </a:pPr>
            <a:r>
              <a:rPr lang="en-US" sz="1500" b="1" dirty="0">
                <a:solidFill>
                  <a:srgbClr val="0B1F3A"/>
                </a:solidFill>
                <a:latin typeface="Cambria" pitchFamily="34" charset="0"/>
                <a:ea typeface="Cambria" pitchFamily="34" charset="-122"/>
                <a:cs typeface="Cambria" pitchFamily="34" charset="-120"/>
              </a:rPr>
              <a:t>Greenspoint — 3-Bed</a:t>
            </a:r>
            <a:endParaRPr lang="en-US" sz="1500" dirty="0"/>
          </a:p>
        </p:txBody>
      </p:sp>
      <p:sp>
        <p:nvSpPr>
          <p:cNvPr id="27" name="Shape 25"/>
          <p:cNvSpPr/>
          <p:nvPr/>
        </p:nvSpPr>
        <p:spPr>
          <a:xfrm>
            <a:off x="10088575" y="3017520"/>
            <a:ext cx="1344168" cy="292608"/>
          </a:xfrm>
          <a:prstGeom prst="rect">
            <a:avLst/>
          </a:prstGeom>
          <a:solidFill>
            <a:srgbClr val="B22222"/>
          </a:solidFill>
          <a:ln/>
        </p:spPr>
      </p:sp>
      <p:sp>
        <p:nvSpPr>
          <p:cNvPr id="28" name="Text 26"/>
          <p:cNvSpPr/>
          <p:nvPr/>
        </p:nvSpPr>
        <p:spPr>
          <a:xfrm>
            <a:off x="10088575" y="3017520"/>
            <a:ext cx="1344168" cy="29260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EXCEEDS BY AED 1.36M</a:t>
            </a:r>
            <a:endParaRPr lang="en-US" sz="850" dirty="0"/>
          </a:p>
        </p:txBody>
      </p:sp>
      <p:sp>
        <p:nvSpPr>
          <p:cNvPr id="29" name="Shape 27"/>
          <p:cNvSpPr/>
          <p:nvPr/>
        </p:nvSpPr>
        <p:spPr>
          <a:xfrm>
            <a:off x="6507328" y="3383280"/>
            <a:ext cx="4925416" cy="0"/>
          </a:xfrm>
          <a:prstGeom prst="line">
            <a:avLst/>
          </a:prstGeom>
          <a:noFill/>
          <a:ln w="12700">
            <a:solidFill>
              <a:srgbClr val="E2E5EA"/>
            </a:solidFill>
            <a:prstDash val="solid"/>
          </a:ln>
        </p:spPr>
      </p:sp>
      <p:sp>
        <p:nvSpPr>
          <p:cNvPr id="30" name="Text 28"/>
          <p:cNvSpPr/>
          <p:nvPr/>
        </p:nvSpPr>
        <p:spPr>
          <a:xfrm>
            <a:off x="6507328" y="3511296"/>
            <a:ext cx="3791560" cy="292608"/>
          </a:xfrm>
          <a:prstGeom prst="rect">
            <a:avLst/>
          </a:prstGeom>
          <a:noFill/>
          <a:ln/>
        </p:spPr>
        <p:txBody>
          <a:bodyPr wrap="square" lIns="0" tIns="0" rIns="0" bIns="0" rtlCol="0" anchor="ctr"/>
          <a:lstStyle/>
          <a:p>
            <a:pPr marL="0" indent="0">
              <a:buNone/>
            </a:pPr>
            <a:r>
              <a:rPr lang="en-US" sz="1050" dirty="0">
                <a:solidFill>
                  <a:srgbClr val="666666"/>
                </a:solidFill>
                <a:latin typeface="Calibri" pitchFamily="34" charset="0"/>
                <a:ea typeface="Calibri" pitchFamily="34" charset="-122"/>
                <a:cs typeface="Calibri" pitchFamily="34" charset="-120"/>
              </a:rPr>
              <a:t>Booking (10%)</a:t>
            </a:r>
            <a:endParaRPr lang="en-US" sz="1050" dirty="0"/>
          </a:p>
        </p:txBody>
      </p:sp>
      <p:sp>
        <p:nvSpPr>
          <p:cNvPr id="31" name="Text 29"/>
          <p:cNvSpPr/>
          <p:nvPr/>
        </p:nvSpPr>
        <p:spPr>
          <a:xfrm>
            <a:off x="10134295" y="3511296"/>
            <a:ext cx="1325880" cy="292608"/>
          </a:xfrm>
          <a:prstGeom prst="rect">
            <a:avLst/>
          </a:prstGeom>
          <a:noFill/>
          <a:ln/>
        </p:spPr>
        <p:txBody>
          <a:bodyPr wrap="square" lIns="0" tIns="0" rIns="0" bIns="0" rtlCol="0" anchor="ctr"/>
          <a:lstStyle/>
          <a:p>
            <a:pPr marL="0" indent="0" algn="r">
              <a:buNone/>
            </a:pPr>
            <a:r>
              <a:rPr lang="en-US" sz="1050" b="1" dirty="0">
                <a:solidFill>
                  <a:srgbClr val="0B1F3A"/>
                </a:solidFill>
                <a:latin typeface="Calibri" pitchFamily="34" charset="0"/>
                <a:ea typeface="Calibri" pitchFamily="34" charset="-122"/>
                <a:cs typeface="Calibri" pitchFamily="34" charset="-120"/>
              </a:rPr>
              <a:t>AED 336,000</a:t>
            </a:r>
            <a:endParaRPr lang="en-US" sz="1050" dirty="0"/>
          </a:p>
        </p:txBody>
      </p:sp>
      <p:sp>
        <p:nvSpPr>
          <p:cNvPr id="32" name="Text 30"/>
          <p:cNvSpPr/>
          <p:nvPr/>
        </p:nvSpPr>
        <p:spPr>
          <a:xfrm>
            <a:off x="6507328" y="3840480"/>
            <a:ext cx="3791560" cy="292608"/>
          </a:xfrm>
          <a:prstGeom prst="rect">
            <a:avLst/>
          </a:prstGeom>
          <a:noFill/>
          <a:ln/>
        </p:spPr>
        <p:txBody>
          <a:bodyPr wrap="square" lIns="0" tIns="0" rIns="0" bIns="0" rtlCol="0" anchor="ctr"/>
          <a:lstStyle/>
          <a:p>
            <a:pPr marL="0" indent="0">
              <a:buNone/>
            </a:pPr>
            <a:r>
              <a:rPr lang="en-US" sz="1050" dirty="0">
                <a:solidFill>
                  <a:srgbClr val="666666"/>
                </a:solidFill>
                <a:latin typeface="Calibri" pitchFamily="34" charset="0"/>
                <a:ea typeface="Calibri" pitchFamily="34" charset="-122"/>
                <a:cs typeface="Calibri" pitchFamily="34" charset="-120"/>
              </a:rPr>
              <a:t>Construction (70%)</a:t>
            </a:r>
            <a:endParaRPr lang="en-US" sz="1050" dirty="0"/>
          </a:p>
        </p:txBody>
      </p:sp>
      <p:sp>
        <p:nvSpPr>
          <p:cNvPr id="33" name="Text 31"/>
          <p:cNvSpPr/>
          <p:nvPr/>
        </p:nvSpPr>
        <p:spPr>
          <a:xfrm>
            <a:off x="10134295" y="3840480"/>
            <a:ext cx="1325880" cy="292608"/>
          </a:xfrm>
          <a:prstGeom prst="rect">
            <a:avLst/>
          </a:prstGeom>
          <a:noFill/>
          <a:ln/>
        </p:spPr>
        <p:txBody>
          <a:bodyPr wrap="square" lIns="0" tIns="0" rIns="0" bIns="0" rtlCol="0" anchor="ctr"/>
          <a:lstStyle/>
          <a:p>
            <a:pPr marL="0" indent="0" algn="r">
              <a:buNone/>
            </a:pPr>
            <a:r>
              <a:rPr lang="en-US" sz="1050" b="1" dirty="0">
                <a:solidFill>
                  <a:srgbClr val="0B1F3A"/>
                </a:solidFill>
                <a:latin typeface="Calibri" pitchFamily="34" charset="0"/>
                <a:ea typeface="Calibri" pitchFamily="34" charset="-122"/>
                <a:cs typeface="Calibri" pitchFamily="34" charset="-120"/>
              </a:rPr>
              <a:t>AED 2,352,000</a:t>
            </a:r>
            <a:endParaRPr lang="en-US" sz="1050" dirty="0"/>
          </a:p>
        </p:txBody>
      </p:sp>
      <p:sp>
        <p:nvSpPr>
          <p:cNvPr id="34" name="Text 32"/>
          <p:cNvSpPr/>
          <p:nvPr/>
        </p:nvSpPr>
        <p:spPr>
          <a:xfrm>
            <a:off x="6507328" y="4169664"/>
            <a:ext cx="3791560" cy="292608"/>
          </a:xfrm>
          <a:prstGeom prst="rect">
            <a:avLst/>
          </a:prstGeom>
          <a:noFill/>
          <a:ln/>
        </p:spPr>
        <p:txBody>
          <a:bodyPr wrap="square" lIns="0" tIns="0" rIns="0" bIns="0" rtlCol="0" anchor="ctr"/>
          <a:lstStyle/>
          <a:p>
            <a:pPr marL="0" indent="0">
              <a:buNone/>
            </a:pPr>
            <a:r>
              <a:rPr lang="en-US" sz="1050" dirty="0">
                <a:solidFill>
                  <a:srgbClr val="666666"/>
                </a:solidFill>
                <a:latin typeface="Calibri" pitchFamily="34" charset="0"/>
                <a:ea typeface="Calibri" pitchFamily="34" charset="-122"/>
                <a:cs typeface="Calibri" pitchFamily="34" charset="-120"/>
              </a:rPr>
              <a:t>Handover (20%)</a:t>
            </a:r>
            <a:endParaRPr lang="en-US" sz="1050" dirty="0"/>
          </a:p>
        </p:txBody>
      </p:sp>
      <p:sp>
        <p:nvSpPr>
          <p:cNvPr id="35" name="Text 33"/>
          <p:cNvSpPr/>
          <p:nvPr/>
        </p:nvSpPr>
        <p:spPr>
          <a:xfrm>
            <a:off x="10134295" y="4169664"/>
            <a:ext cx="1325880" cy="292608"/>
          </a:xfrm>
          <a:prstGeom prst="rect">
            <a:avLst/>
          </a:prstGeom>
          <a:noFill/>
          <a:ln/>
        </p:spPr>
        <p:txBody>
          <a:bodyPr wrap="square" lIns="0" tIns="0" rIns="0" bIns="0" rtlCol="0" anchor="ctr"/>
          <a:lstStyle/>
          <a:p>
            <a:pPr marL="0" indent="0" algn="r">
              <a:buNone/>
            </a:pPr>
            <a:r>
              <a:rPr lang="en-US" sz="1050" b="1" dirty="0">
                <a:solidFill>
                  <a:srgbClr val="0B1F3A"/>
                </a:solidFill>
                <a:latin typeface="Calibri" pitchFamily="34" charset="0"/>
                <a:ea typeface="Calibri" pitchFamily="34" charset="-122"/>
                <a:cs typeface="Calibri" pitchFamily="34" charset="-120"/>
              </a:rPr>
              <a:t>AED 672,000</a:t>
            </a:r>
            <a:endParaRPr lang="en-US" sz="1050" dirty="0"/>
          </a:p>
        </p:txBody>
      </p:sp>
      <p:sp>
        <p:nvSpPr>
          <p:cNvPr id="36" name="Shape 34"/>
          <p:cNvSpPr/>
          <p:nvPr/>
        </p:nvSpPr>
        <p:spPr>
          <a:xfrm>
            <a:off x="6507328" y="4517136"/>
            <a:ext cx="4925416" cy="0"/>
          </a:xfrm>
          <a:prstGeom prst="line">
            <a:avLst/>
          </a:prstGeom>
          <a:noFill/>
          <a:ln w="12700">
            <a:solidFill>
              <a:srgbClr val="E2E5EA"/>
            </a:solidFill>
            <a:prstDash val="solid"/>
          </a:ln>
        </p:spPr>
      </p:sp>
      <p:sp>
        <p:nvSpPr>
          <p:cNvPr id="37" name="Text 35"/>
          <p:cNvSpPr/>
          <p:nvPr/>
        </p:nvSpPr>
        <p:spPr>
          <a:xfrm>
            <a:off x="6507328" y="4608576"/>
            <a:ext cx="3791560" cy="329184"/>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Total Cash Required</a:t>
            </a:r>
            <a:endParaRPr lang="en-US" sz="1100" dirty="0"/>
          </a:p>
        </p:txBody>
      </p:sp>
      <p:sp>
        <p:nvSpPr>
          <p:cNvPr id="38" name="Text 36"/>
          <p:cNvSpPr/>
          <p:nvPr/>
        </p:nvSpPr>
        <p:spPr>
          <a:xfrm>
            <a:off x="9951415" y="4608576"/>
            <a:ext cx="1508760" cy="329184"/>
          </a:xfrm>
          <a:prstGeom prst="rect">
            <a:avLst/>
          </a:prstGeom>
          <a:noFill/>
          <a:ln/>
        </p:spPr>
        <p:txBody>
          <a:bodyPr wrap="square" lIns="0" tIns="0" rIns="0" bIns="0" rtlCol="0" anchor="ctr"/>
          <a:lstStyle/>
          <a:p>
            <a:pPr marL="0" indent="0" algn="r">
              <a:buNone/>
            </a:pPr>
            <a:r>
              <a:rPr lang="en-US" sz="1300" b="1" dirty="0">
                <a:solidFill>
                  <a:srgbClr val="C9A227"/>
                </a:solidFill>
                <a:latin typeface="Calibri" pitchFamily="34" charset="0"/>
                <a:ea typeface="Calibri" pitchFamily="34" charset="-122"/>
                <a:cs typeface="Calibri" pitchFamily="34" charset="-120"/>
              </a:rPr>
              <a:t>AED 3,360,000</a:t>
            </a:r>
            <a:endParaRPr lang="en-US" sz="1300" dirty="0"/>
          </a:p>
        </p:txBody>
      </p:sp>
      <p:sp>
        <p:nvSpPr>
          <p:cNvPr id="39" name="Shape 37"/>
          <p:cNvSpPr/>
          <p:nvPr/>
        </p:nvSpPr>
        <p:spPr>
          <a:xfrm>
            <a:off x="502920" y="5806440"/>
            <a:ext cx="11185855" cy="566928"/>
          </a:xfrm>
          <a:prstGeom prst="rect">
            <a:avLst/>
          </a:prstGeom>
          <a:solidFill>
            <a:srgbClr val="EEF1F6"/>
          </a:solidFill>
          <a:ln/>
        </p:spPr>
      </p:sp>
      <p:pic>
        <p:nvPicPr>
          <p:cNvPr id="40" name="Image 0" descr="icons/star_gold.png"/>
          <p:cNvPicPr>
            <a:picLocks noChangeAspect="1"/>
          </p:cNvPicPr>
          <p:nvPr/>
        </p:nvPicPr>
        <p:blipFill>
          <a:blip r:embed="rId3"/>
          <a:stretch>
            <a:fillRect/>
          </a:stretch>
        </p:blipFill>
        <p:spPr>
          <a:xfrm>
            <a:off x="667512" y="5952744"/>
            <a:ext cx="274320" cy="274320"/>
          </a:xfrm>
          <a:prstGeom prst="rect">
            <a:avLst/>
          </a:prstGeom>
        </p:spPr>
      </p:pic>
      <p:sp>
        <p:nvSpPr>
          <p:cNvPr id="41" name="Text 38"/>
          <p:cNvSpPr/>
          <p:nvPr/>
        </p:nvSpPr>
        <p:spPr>
          <a:xfrm>
            <a:off x="1069848" y="5806440"/>
            <a:ext cx="10454335" cy="566928"/>
          </a:xfrm>
          <a:prstGeom prst="rect">
            <a:avLst/>
          </a:prstGeom>
          <a:noFill/>
          <a:ln/>
        </p:spPr>
        <p:txBody>
          <a:bodyPr wrap="square" lIns="0" tIns="0" rIns="0" bIns="0" rtlCol="0" anchor="ctr"/>
          <a:lstStyle/>
          <a:p>
            <a:pPr marL="0" indent="0" algn="l">
              <a:lnSpc>
                <a:spcPct val="105000"/>
              </a:lnSpc>
              <a:buNone/>
            </a:pPr>
            <a:r>
              <a:rPr lang="en-US" sz="1050" b="1" kern="0" spc="100" dirty="0">
                <a:solidFill>
                  <a:srgbClr val="0B1F3A"/>
                </a:solidFill>
                <a:latin typeface="Calibri" pitchFamily="34" charset="0"/>
                <a:ea typeface="Calibri" pitchFamily="34" charset="-122"/>
                <a:cs typeface="Calibri" pitchFamily="34" charset="-120"/>
              </a:rPr>
              <a:t>EXECUTIVE INSIGHT   </a:t>
            </a:r>
            <a:r>
              <a:rPr lang="en-US" sz="1150" dirty="0">
                <a:solidFill>
                  <a:srgbClr val="0B1F3A"/>
                </a:solidFill>
                <a:latin typeface="Calibri" pitchFamily="34" charset="0"/>
                <a:ea typeface="Calibri" pitchFamily="34" charset="-122"/>
                <a:cs typeface="Calibri" pitchFamily="34" charset="-120"/>
              </a:rPr>
              <a:t>Golf Acres is the only project fundable entirely within budget — leaving reserve for DLD/agency fees (~7–8%), furnishing, and contingency.</a:t>
            </a:r>
            <a:endParaRPr lang="en-US" sz="1050" dirty="0"/>
          </a:p>
        </p:txBody>
      </p:sp>
      <p:sp>
        <p:nvSpPr>
          <p:cNvPr id="42" name="Text 39"/>
          <p:cNvSpPr/>
          <p:nvPr/>
        </p:nvSpPr>
        <p:spPr>
          <a:xfrm>
            <a:off x="502920" y="6510528"/>
            <a:ext cx="3657600" cy="256032"/>
          </a:xfrm>
          <a:prstGeom prst="rect">
            <a:avLst/>
          </a:prstGeom>
          <a:noFill/>
          <a:ln/>
        </p:spPr>
        <p:txBody>
          <a:bodyPr wrap="square" lIns="0" tIns="0" rIns="0" bIns="0" rtlCol="0" anchor="ctr"/>
          <a:lstStyle/>
          <a:p>
            <a:pPr marL="0" indent="0" algn="l">
              <a:buNone/>
            </a:pPr>
            <a:r>
              <a:rPr lang="en-US" sz="800" kern="0" spc="100" dirty="0">
                <a:solidFill>
                  <a:srgbClr val="9AA1AC"/>
                </a:solidFill>
                <a:latin typeface="Calibri" pitchFamily="34" charset="0"/>
                <a:ea typeface="Calibri" pitchFamily="34" charset="-122"/>
                <a:cs typeface="Calibri" pitchFamily="34" charset="-120"/>
              </a:rPr>
              <a:t>LUXURY REAL ESTATE INVESTMENT ADVISORY</a:t>
            </a:r>
            <a:endParaRPr lang="en-US" sz="800" dirty="0"/>
          </a:p>
        </p:txBody>
      </p:sp>
      <p:sp>
        <p:nvSpPr>
          <p:cNvPr id="43" name="Text 40"/>
          <p:cNvSpPr/>
          <p:nvPr/>
        </p:nvSpPr>
        <p:spPr>
          <a:xfrm>
            <a:off x="3809848" y="6510528"/>
            <a:ext cx="4572000" cy="256032"/>
          </a:xfrm>
          <a:prstGeom prst="rect">
            <a:avLst/>
          </a:prstGeom>
          <a:noFill/>
          <a:ln/>
        </p:spPr>
        <p:txBody>
          <a:bodyPr wrap="square" lIns="0" tIns="0" rIns="0" bIns="0" rtlCol="0" anchor="ctr"/>
          <a:lstStyle/>
          <a:p>
            <a:pPr marL="0" indent="0" algn="ctr">
              <a:buNone/>
            </a:pPr>
            <a:r>
              <a:rPr lang="en-US" sz="800" dirty="0">
                <a:solidFill>
                  <a:srgbClr val="9AA1AC"/>
                </a:solidFill>
                <a:latin typeface="Calibri" pitchFamily="34" charset="0"/>
                <a:ea typeface="Calibri" pitchFamily="34" charset="-122"/>
                <a:cs typeface="Calibri" pitchFamily="34" charset="-120"/>
              </a:rPr>
              <a:t>Payment Plan Comparison</a:t>
            </a:r>
            <a:endParaRPr lang="en-US" sz="800" dirty="0"/>
          </a:p>
        </p:txBody>
      </p:sp>
      <p:sp>
        <p:nvSpPr>
          <p:cNvPr id="44" name="Text 41"/>
          <p:cNvSpPr/>
          <p:nvPr/>
        </p:nvSpPr>
        <p:spPr>
          <a:xfrm>
            <a:off x="8031175" y="6510528"/>
            <a:ext cx="3657600" cy="256032"/>
          </a:xfrm>
          <a:prstGeom prst="rect">
            <a:avLst/>
          </a:prstGeom>
          <a:noFill/>
          <a:ln/>
        </p:spPr>
        <p:txBody>
          <a:bodyPr wrap="square" lIns="0" tIns="0" rIns="0" bIns="0" rtlCol="0" anchor="ctr"/>
          <a:lstStyle/>
          <a:p>
            <a:pPr marL="0" indent="0" algn="r">
              <a:buNone/>
            </a:pPr>
            <a:r>
              <a:rPr lang="en-US" sz="800" dirty="0">
                <a:solidFill>
                  <a:srgbClr val="9AA1AC"/>
                </a:solidFill>
                <a:latin typeface="Calibri" pitchFamily="34" charset="0"/>
                <a:ea typeface="Calibri" pitchFamily="34" charset="-122"/>
                <a:cs typeface="Calibri"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lgn="l">
              <a:buNone/>
            </a:pPr>
            <a:r>
              <a:rPr lang="en-US" sz="1150" b="1" kern="0" spc="200" dirty="0">
                <a:solidFill>
                  <a:srgbClr val="C9A227"/>
                </a:solidFill>
                <a:latin typeface="Calibri" pitchFamily="34" charset="0"/>
                <a:ea typeface="Calibri" pitchFamily="34" charset="-122"/>
                <a:cs typeface="Calibri" pitchFamily="34" charset="-120"/>
              </a:rPr>
              <a:t>SECTION 10 · DEVELOPER DUE DILIGENCE</a:t>
            </a:r>
            <a:endParaRPr lang="en-US" sz="1150" dirty="0"/>
          </a:p>
        </p:txBody>
      </p:sp>
      <p:sp>
        <p:nvSpPr>
          <p:cNvPr id="3" name="Text 1"/>
          <p:cNvSpPr/>
          <p:nvPr/>
        </p:nvSpPr>
        <p:spPr>
          <a:xfrm>
            <a:off x="502920" y="658368"/>
            <a:ext cx="10607040" cy="566928"/>
          </a:xfrm>
          <a:prstGeom prst="rect">
            <a:avLst/>
          </a:prstGeom>
          <a:noFill/>
          <a:ln/>
        </p:spPr>
        <p:txBody>
          <a:bodyPr wrap="square" lIns="0" tIns="0" rIns="0" bIns="0" rtlCol="0" anchor="ctr"/>
          <a:lstStyle/>
          <a:p>
            <a:pPr marL="0" indent="0" algn="l">
              <a:buNone/>
            </a:pPr>
            <a:r>
              <a:rPr lang="en-US" sz="2600" b="1" dirty="0">
                <a:solidFill>
                  <a:srgbClr val="0B1F3A"/>
                </a:solidFill>
                <a:latin typeface="Cambria" pitchFamily="34" charset="0"/>
                <a:ea typeface="Cambria" pitchFamily="34" charset="-122"/>
                <a:cs typeface="Cambria" pitchFamily="34" charset="-120"/>
              </a:rPr>
              <a:t>Developer Assessment: Emaar Properties</a:t>
            </a:r>
            <a:endParaRPr lang="en-US" sz="2600" dirty="0"/>
          </a:p>
        </p:txBody>
      </p:sp>
      <p:sp>
        <p:nvSpPr>
          <p:cNvPr id="4" name="Shape 2"/>
          <p:cNvSpPr/>
          <p:nvPr/>
        </p:nvSpPr>
        <p:spPr>
          <a:xfrm>
            <a:off x="502920" y="1417320"/>
            <a:ext cx="2625014" cy="960120"/>
          </a:xfrm>
          <a:prstGeom prst="rect">
            <a:avLst/>
          </a:prstGeom>
          <a:solidFill>
            <a:srgbClr val="0B1F3A"/>
          </a:solidFill>
          <a:ln/>
          <a:effectLst>
            <a:outerShdw blurRad="88900" dist="25400" dir="5400000" algn="bl" rotWithShape="0">
              <a:srgbClr val="0B1F3A">
                <a:alpha val="10000"/>
              </a:srgbClr>
            </a:outerShdw>
          </a:effectLst>
        </p:spPr>
      </p:sp>
      <p:sp>
        <p:nvSpPr>
          <p:cNvPr id="5" name="Text 3"/>
          <p:cNvSpPr/>
          <p:nvPr/>
        </p:nvSpPr>
        <p:spPr>
          <a:xfrm>
            <a:off x="667512" y="1527048"/>
            <a:ext cx="2295830" cy="384048"/>
          </a:xfrm>
          <a:prstGeom prst="rect">
            <a:avLst/>
          </a:prstGeom>
          <a:noFill/>
          <a:ln/>
        </p:spPr>
        <p:txBody>
          <a:bodyPr wrap="square" lIns="0" tIns="0" rIns="0" bIns="0" rtlCol="0" anchor="ctr"/>
          <a:lstStyle/>
          <a:p>
            <a:pPr marL="0" indent="0">
              <a:buNone/>
            </a:pPr>
            <a:r>
              <a:rPr lang="en-US" sz="1650" b="1" dirty="0">
                <a:solidFill>
                  <a:srgbClr val="C9A227"/>
                </a:solidFill>
                <a:latin typeface="Cambria" pitchFamily="34" charset="0"/>
                <a:ea typeface="Cambria" pitchFamily="34" charset="-122"/>
                <a:cs typeface="Cambria" pitchFamily="34" charset="-120"/>
              </a:rPr>
              <a:t>AED 49.6bn</a:t>
            </a:r>
            <a:endParaRPr lang="en-US" sz="1650" dirty="0"/>
          </a:p>
        </p:txBody>
      </p:sp>
      <p:sp>
        <p:nvSpPr>
          <p:cNvPr id="6" name="Text 4"/>
          <p:cNvSpPr/>
          <p:nvPr/>
        </p:nvSpPr>
        <p:spPr>
          <a:xfrm>
            <a:off x="667512" y="1947672"/>
            <a:ext cx="2295830" cy="365760"/>
          </a:xfrm>
          <a:prstGeom prst="rect">
            <a:avLst/>
          </a:prstGeom>
          <a:noFill/>
          <a:ln/>
        </p:spPr>
        <p:txBody>
          <a:bodyPr wrap="square" lIns="0" tIns="0" rIns="0" bIns="0" rtlCol="0" anchor="ctr"/>
          <a:lstStyle/>
          <a:p>
            <a:pPr marL="0" indent="0">
              <a:lnSpc>
                <a:spcPct val="100000"/>
              </a:lnSpc>
              <a:buNone/>
            </a:pPr>
            <a:r>
              <a:rPr lang="en-US" sz="850" dirty="0">
                <a:solidFill>
                  <a:srgbClr val="AEB9CC"/>
                </a:solidFill>
                <a:latin typeface="Calibri" pitchFamily="34" charset="0"/>
                <a:ea typeface="Calibri" pitchFamily="34" charset="-122"/>
                <a:cs typeface="Calibri" pitchFamily="34" charset="-120"/>
              </a:rPr>
              <a:t>FY2025 Group Revenue (+40% YoY)</a:t>
            </a:r>
            <a:endParaRPr lang="en-US" sz="850" dirty="0"/>
          </a:p>
        </p:txBody>
      </p:sp>
      <p:sp>
        <p:nvSpPr>
          <p:cNvPr id="7" name="Shape 5"/>
          <p:cNvSpPr/>
          <p:nvPr/>
        </p:nvSpPr>
        <p:spPr>
          <a:xfrm>
            <a:off x="3356534" y="1417320"/>
            <a:ext cx="2625014" cy="960120"/>
          </a:xfrm>
          <a:prstGeom prst="rect">
            <a:avLst/>
          </a:prstGeom>
          <a:solidFill>
            <a:srgbClr val="0B1F3A"/>
          </a:solidFill>
          <a:ln/>
          <a:effectLst>
            <a:outerShdw blurRad="88900" dist="25400" dir="5400000" algn="bl" rotWithShape="0">
              <a:srgbClr val="0B1F3A">
                <a:alpha val="10000"/>
              </a:srgbClr>
            </a:outerShdw>
          </a:effectLst>
        </p:spPr>
      </p:sp>
      <p:sp>
        <p:nvSpPr>
          <p:cNvPr id="8" name="Text 6"/>
          <p:cNvSpPr/>
          <p:nvPr/>
        </p:nvSpPr>
        <p:spPr>
          <a:xfrm>
            <a:off x="3521126" y="1527048"/>
            <a:ext cx="2295830" cy="384048"/>
          </a:xfrm>
          <a:prstGeom prst="rect">
            <a:avLst/>
          </a:prstGeom>
          <a:noFill/>
          <a:ln/>
        </p:spPr>
        <p:txBody>
          <a:bodyPr wrap="square" lIns="0" tIns="0" rIns="0" bIns="0" rtlCol="0" anchor="ctr"/>
          <a:lstStyle/>
          <a:p>
            <a:pPr marL="0" indent="0">
              <a:buNone/>
            </a:pPr>
            <a:r>
              <a:rPr lang="en-US" sz="1650" b="1" dirty="0">
                <a:solidFill>
                  <a:srgbClr val="C9A227"/>
                </a:solidFill>
                <a:latin typeface="Cambria" pitchFamily="34" charset="0"/>
                <a:ea typeface="Cambria" pitchFamily="34" charset="-122"/>
                <a:cs typeface="Cambria" pitchFamily="34" charset="-120"/>
              </a:rPr>
              <a:t>AED 25.7bn</a:t>
            </a:r>
            <a:endParaRPr lang="en-US" sz="1650" dirty="0"/>
          </a:p>
        </p:txBody>
      </p:sp>
      <p:sp>
        <p:nvSpPr>
          <p:cNvPr id="9" name="Text 7"/>
          <p:cNvSpPr/>
          <p:nvPr/>
        </p:nvSpPr>
        <p:spPr>
          <a:xfrm>
            <a:off x="3521126" y="1947672"/>
            <a:ext cx="2295830" cy="365760"/>
          </a:xfrm>
          <a:prstGeom prst="rect">
            <a:avLst/>
          </a:prstGeom>
          <a:noFill/>
          <a:ln/>
        </p:spPr>
        <p:txBody>
          <a:bodyPr wrap="square" lIns="0" tIns="0" rIns="0" bIns="0" rtlCol="0" anchor="ctr"/>
          <a:lstStyle/>
          <a:p>
            <a:pPr marL="0" indent="0">
              <a:lnSpc>
                <a:spcPct val="100000"/>
              </a:lnSpc>
              <a:buNone/>
            </a:pPr>
            <a:r>
              <a:rPr lang="en-US" sz="850" dirty="0">
                <a:solidFill>
                  <a:srgbClr val="AEB9CC"/>
                </a:solidFill>
                <a:latin typeface="Calibri" pitchFamily="34" charset="0"/>
                <a:ea typeface="Calibri" pitchFamily="34" charset="-122"/>
                <a:cs typeface="Calibri" pitchFamily="34" charset="-120"/>
              </a:rPr>
              <a:t>FY2025 Net Profit Before Tax (+36%)</a:t>
            </a:r>
            <a:endParaRPr lang="en-US" sz="850" dirty="0"/>
          </a:p>
        </p:txBody>
      </p:sp>
      <p:sp>
        <p:nvSpPr>
          <p:cNvPr id="10" name="Shape 8"/>
          <p:cNvSpPr/>
          <p:nvPr/>
        </p:nvSpPr>
        <p:spPr>
          <a:xfrm>
            <a:off x="6210148" y="1417320"/>
            <a:ext cx="2625014" cy="960120"/>
          </a:xfrm>
          <a:prstGeom prst="rect">
            <a:avLst/>
          </a:prstGeom>
          <a:solidFill>
            <a:srgbClr val="0B1F3A"/>
          </a:solidFill>
          <a:ln/>
          <a:effectLst>
            <a:outerShdw blurRad="88900" dist="25400" dir="5400000" algn="bl" rotWithShape="0">
              <a:srgbClr val="0B1F3A">
                <a:alpha val="10000"/>
              </a:srgbClr>
            </a:outerShdw>
          </a:effectLst>
        </p:spPr>
      </p:sp>
      <p:sp>
        <p:nvSpPr>
          <p:cNvPr id="11" name="Text 9"/>
          <p:cNvSpPr/>
          <p:nvPr/>
        </p:nvSpPr>
        <p:spPr>
          <a:xfrm>
            <a:off x="6374740" y="1527048"/>
            <a:ext cx="2295830" cy="384048"/>
          </a:xfrm>
          <a:prstGeom prst="rect">
            <a:avLst/>
          </a:prstGeom>
          <a:noFill/>
          <a:ln/>
        </p:spPr>
        <p:txBody>
          <a:bodyPr wrap="square" lIns="0" tIns="0" rIns="0" bIns="0" rtlCol="0" anchor="ctr"/>
          <a:lstStyle/>
          <a:p>
            <a:pPr marL="0" indent="0">
              <a:buNone/>
            </a:pPr>
            <a:r>
              <a:rPr lang="en-US" sz="1650" b="1" dirty="0">
                <a:solidFill>
                  <a:srgbClr val="C9A227"/>
                </a:solidFill>
                <a:latin typeface="Cambria" pitchFamily="34" charset="0"/>
                <a:ea typeface="Cambria" pitchFamily="34" charset="-122"/>
                <a:cs typeface="Cambria" pitchFamily="34" charset="-120"/>
              </a:rPr>
              <a:t>AED 155bn</a:t>
            </a:r>
            <a:endParaRPr lang="en-US" sz="1650" dirty="0"/>
          </a:p>
        </p:txBody>
      </p:sp>
      <p:sp>
        <p:nvSpPr>
          <p:cNvPr id="12" name="Text 10"/>
          <p:cNvSpPr/>
          <p:nvPr/>
        </p:nvSpPr>
        <p:spPr>
          <a:xfrm>
            <a:off x="6374740" y="1947672"/>
            <a:ext cx="2295830" cy="365760"/>
          </a:xfrm>
          <a:prstGeom prst="rect">
            <a:avLst/>
          </a:prstGeom>
          <a:noFill/>
          <a:ln/>
        </p:spPr>
        <p:txBody>
          <a:bodyPr wrap="square" lIns="0" tIns="0" rIns="0" bIns="0" rtlCol="0" anchor="ctr"/>
          <a:lstStyle/>
          <a:p>
            <a:pPr marL="0" indent="0">
              <a:lnSpc>
                <a:spcPct val="100000"/>
              </a:lnSpc>
              <a:buNone/>
            </a:pPr>
            <a:r>
              <a:rPr lang="en-US" sz="850" dirty="0">
                <a:solidFill>
                  <a:srgbClr val="AEB9CC"/>
                </a:solidFill>
                <a:latin typeface="Calibri" pitchFamily="34" charset="0"/>
                <a:ea typeface="Calibri" pitchFamily="34" charset="-122"/>
                <a:cs typeface="Calibri" pitchFamily="34" charset="-120"/>
              </a:rPr>
              <a:t>Group Revenue Backlog (+39%)</a:t>
            </a:r>
            <a:endParaRPr lang="en-US" sz="850" dirty="0"/>
          </a:p>
        </p:txBody>
      </p:sp>
      <p:sp>
        <p:nvSpPr>
          <p:cNvPr id="13" name="Shape 11"/>
          <p:cNvSpPr/>
          <p:nvPr/>
        </p:nvSpPr>
        <p:spPr>
          <a:xfrm>
            <a:off x="9063761" y="1417320"/>
            <a:ext cx="2625014" cy="960120"/>
          </a:xfrm>
          <a:prstGeom prst="rect">
            <a:avLst/>
          </a:prstGeom>
          <a:solidFill>
            <a:srgbClr val="0B1F3A"/>
          </a:solidFill>
          <a:ln/>
          <a:effectLst>
            <a:outerShdw blurRad="88900" dist="25400" dir="5400000" algn="bl" rotWithShape="0">
              <a:srgbClr val="0B1F3A">
                <a:alpha val="10000"/>
              </a:srgbClr>
            </a:outerShdw>
          </a:effectLst>
        </p:spPr>
      </p:sp>
      <p:sp>
        <p:nvSpPr>
          <p:cNvPr id="14" name="Text 12"/>
          <p:cNvSpPr/>
          <p:nvPr/>
        </p:nvSpPr>
        <p:spPr>
          <a:xfrm>
            <a:off x="9228353" y="1527048"/>
            <a:ext cx="2295830" cy="384048"/>
          </a:xfrm>
          <a:prstGeom prst="rect">
            <a:avLst/>
          </a:prstGeom>
          <a:noFill/>
          <a:ln/>
        </p:spPr>
        <p:txBody>
          <a:bodyPr wrap="square" lIns="0" tIns="0" rIns="0" bIns="0" rtlCol="0" anchor="ctr"/>
          <a:lstStyle/>
          <a:p>
            <a:pPr marL="0" indent="0">
              <a:buNone/>
            </a:pPr>
            <a:r>
              <a:rPr lang="en-US" sz="1650" b="1" dirty="0">
                <a:solidFill>
                  <a:srgbClr val="C9A227"/>
                </a:solidFill>
                <a:latin typeface="Cambria" pitchFamily="34" charset="0"/>
                <a:ea typeface="Cambria" pitchFamily="34" charset="-122"/>
                <a:cs typeface="Cambria" pitchFamily="34" charset="-120"/>
              </a:rPr>
              <a:t>~79,000+</a:t>
            </a:r>
            <a:endParaRPr lang="en-US" sz="1650" dirty="0"/>
          </a:p>
        </p:txBody>
      </p:sp>
      <p:sp>
        <p:nvSpPr>
          <p:cNvPr id="15" name="Text 13"/>
          <p:cNvSpPr/>
          <p:nvPr/>
        </p:nvSpPr>
        <p:spPr>
          <a:xfrm>
            <a:off x="9228353" y="1947672"/>
            <a:ext cx="2295830" cy="365760"/>
          </a:xfrm>
          <a:prstGeom prst="rect">
            <a:avLst/>
          </a:prstGeom>
          <a:noFill/>
          <a:ln/>
        </p:spPr>
        <p:txBody>
          <a:bodyPr wrap="square" lIns="0" tIns="0" rIns="0" bIns="0" rtlCol="0" anchor="ctr"/>
          <a:lstStyle/>
          <a:p>
            <a:pPr marL="0" indent="0">
              <a:lnSpc>
                <a:spcPct val="100000"/>
              </a:lnSpc>
              <a:buNone/>
            </a:pPr>
            <a:r>
              <a:rPr lang="en-US" sz="850" dirty="0">
                <a:solidFill>
                  <a:srgbClr val="AEB9CC"/>
                </a:solidFill>
                <a:latin typeface="Calibri" pitchFamily="34" charset="0"/>
                <a:ea typeface="Calibri" pitchFamily="34" charset="-122"/>
                <a:cs typeface="Calibri" pitchFamily="34" charset="-120"/>
              </a:rPr>
              <a:t>Residential Units Delivered Since 2002</a:t>
            </a:r>
            <a:endParaRPr lang="en-US" sz="850" dirty="0"/>
          </a:p>
        </p:txBody>
      </p:sp>
      <p:sp>
        <p:nvSpPr>
          <p:cNvPr id="16" name="Shape 14"/>
          <p:cNvSpPr/>
          <p:nvPr/>
        </p:nvSpPr>
        <p:spPr>
          <a:xfrm>
            <a:off x="502920" y="2651760"/>
            <a:ext cx="5478628" cy="1417320"/>
          </a:xfrm>
          <a:prstGeom prst="rect">
            <a:avLst/>
          </a:prstGeom>
          <a:solidFill>
            <a:srgbClr val="FFFFFF"/>
          </a:solidFill>
          <a:ln w="12700">
            <a:solidFill>
              <a:srgbClr val="E2E5EA"/>
            </a:solidFill>
            <a:prstDash val="solid"/>
          </a:ln>
          <a:effectLst>
            <a:outerShdw blurRad="88900" dist="25400" dir="5400000" algn="bl" rotWithShape="0">
              <a:srgbClr val="0B1F3A">
                <a:alpha val="10000"/>
              </a:srgbClr>
            </a:outerShdw>
          </a:effectLst>
        </p:spPr>
      </p:sp>
      <p:pic>
        <p:nvPicPr>
          <p:cNvPr id="17" name="Image 0" descr="icons/clipboard_navy.png"/>
          <p:cNvPicPr>
            <a:picLocks noChangeAspect="1"/>
          </p:cNvPicPr>
          <p:nvPr/>
        </p:nvPicPr>
        <p:blipFill>
          <a:blip r:embed="rId3"/>
          <a:stretch>
            <a:fillRect/>
          </a:stretch>
        </p:blipFill>
        <p:spPr>
          <a:xfrm>
            <a:off x="722376" y="2834640"/>
            <a:ext cx="310896" cy="310896"/>
          </a:xfrm>
          <a:prstGeom prst="rect">
            <a:avLst/>
          </a:prstGeom>
        </p:spPr>
      </p:pic>
      <p:sp>
        <p:nvSpPr>
          <p:cNvPr id="18" name="Text 15"/>
          <p:cNvSpPr/>
          <p:nvPr/>
        </p:nvSpPr>
        <p:spPr>
          <a:xfrm>
            <a:off x="1143000" y="2816352"/>
            <a:ext cx="4609948" cy="365760"/>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Delivery History &amp; Track Record</a:t>
            </a:r>
            <a:endParaRPr lang="en-US" sz="1200" dirty="0"/>
          </a:p>
        </p:txBody>
      </p:sp>
      <p:sp>
        <p:nvSpPr>
          <p:cNvPr id="19" name="Text 16"/>
          <p:cNvSpPr/>
          <p:nvPr/>
        </p:nvSpPr>
        <p:spPr>
          <a:xfrm>
            <a:off x="722376" y="3218688"/>
            <a:ext cx="5039716" cy="704088"/>
          </a:xfrm>
          <a:prstGeom prst="rect">
            <a:avLst/>
          </a:prstGeom>
          <a:noFill/>
          <a:ln/>
        </p:spPr>
        <p:txBody>
          <a:bodyPr wrap="square" lIns="0" tIns="0" rIns="0" bIns="0" rtlCol="0" anchor="t"/>
          <a:lstStyle/>
          <a:p>
            <a:pPr marL="0" indent="0">
              <a:lnSpc>
                <a:spcPct val="110000"/>
              </a:lnSpc>
              <a:buNone/>
            </a:pPr>
            <a:r>
              <a:rPr lang="en-US" sz="950" dirty="0">
                <a:solidFill>
                  <a:srgbClr val="666666"/>
                </a:solidFill>
                <a:latin typeface="Calibri" pitchFamily="34" charset="0"/>
                <a:ea typeface="Calibri" pitchFamily="34" charset="-122"/>
                <a:cs typeface="Calibri" pitchFamily="34" charset="-120"/>
              </a:rPr>
              <a:t>79,000–108,000 units delivered since 2002 across Downtown Dubai, Dubai Marina, Dubai Hills Estate, Arabian Ranches. 47,200+ units in current pipeline.</a:t>
            </a:r>
            <a:endParaRPr lang="en-US" sz="950" dirty="0"/>
          </a:p>
        </p:txBody>
      </p:sp>
      <p:sp>
        <p:nvSpPr>
          <p:cNvPr id="20" name="Shape 17"/>
          <p:cNvSpPr/>
          <p:nvPr/>
        </p:nvSpPr>
        <p:spPr>
          <a:xfrm>
            <a:off x="6210148" y="2651760"/>
            <a:ext cx="5478628" cy="1417320"/>
          </a:xfrm>
          <a:prstGeom prst="rect">
            <a:avLst/>
          </a:prstGeom>
          <a:solidFill>
            <a:srgbClr val="FFFFFF"/>
          </a:solidFill>
          <a:ln w="12700">
            <a:solidFill>
              <a:srgbClr val="E2E5EA"/>
            </a:solidFill>
            <a:prstDash val="solid"/>
          </a:ln>
          <a:effectLst>
            <a:outerShdw blurRad="88900" dist="25400" dir="5400000" algn="bl" rotWithShape="0">
              <a:srgbClr val="0B1F3A">
                <a:alpha val="10000"/>
              </a:srgbClr>
            </a:outerShdw>
          </a:effectLst>
        </p:spPr>
      </p:sp>
      <p:pic>
        <p:nvPicPr>
          <p:cNvPr id="21" name="Image 1" descr="icons/building_navy.png"/>
          <p:cNvPicPr>
            <a:picLocks noChangeAspect="1"/>
          </p:cNvPicPr>
          <p:nvPr/>
        </p:nvPicPr>
        <p:blipFill>
          <a:blip r:embed="rId4"/>
          <a:stretch>
            <a:fillRect/>
          </a:stretch>
        </p:blipFill>
        <p:spPr>
          <a:xfrm>
            <a:off x="6429604" y="2834640"/>
            <a:ext cx="310896" cy="310896"/>
          </a:xfrm>
          <a:prstGeom prst="rect">
            <a:avLst/>
          </a:prstGeom>
        </p:spPr>
      </p:pic>
      <p:sp>
        <p:nvSpPr>
          <p:cNvPr id="22" name="Text 18"/>
          <p:cNvSpPr/>
          <p:nvPr/>
        </p:nvSpPr>
        <p:spPr>
          <a:xfrm>
            <a:off x="6850228" y="2816352"/>
            <a:ext cx="4609948" cy="365760"/>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Construction Quality &amp; Brand</a:t>
            </a:r>
            <a:endParaRPr lang="en-US" sz="1200" dirty="0"/>
          </a:p>
        </p:txBody>
      </p:sp>
      <p:sp>
        <p:nvSpPr>
          <p:cNvPr id="23" name="Text 19"/>
          <p:cNvSpPr/>
          <p:nvPr/>
        </p:nvSpPr>
        <p:spPr>
          <a:xfrm>
            <a:off x="6429604" y="3218688"/>
            <a:ext cx="5039716" cy="704088"/>
          </a:xfrm>
          <a:prstGeom prst="rect">
            <a:avLst/>
          </a:prstGeom>
          <a:noFill/>
          <a:ln/>
        </p:spPr>
        <p:txBody>
          <a:bodyPr wrap="square" lIns="0" tIns="0" rIns="0" bIns="0" rtlCol="0" anchor="t"/>
          <a:lstStyle/>
          <a:p>
            <a:pPr marL="0" indent="0">
              <a:lnSpc>
                <a:spcPct val="110000"/>
              </a:lnSpc>
              <a:buNone/>
            </a:pPr>
            <a:r>
              <a:rPr lang="en-US" sz="950" dirty="0">
                <a:solidFill>
                  <a:srgbClr val="666666"/>
                </a:solidFill>
                <a:latin typeface="Calibri" pitchFamily="34" charset="0"/>
                <a:ea typeface="Calibri" pitchFamily="34" charset="-122"/>
                <a:cs typeface="Calibri" pitchFamily="34" charset="-120"/>
              </a:rPr>
              <a:t>Industry commentary (single-source) cites a 10–15% resale premium for Emaar units, attributed to build quality and Emaar Community Management standards.</a:t>
            </a:r>
            <a:endParaRPr lang="en-US" sz="950" dirty="0"/>
          </a:p>
        </p:txBody>
      </p:sp>
      <p:sp>
        <p:nvSpPr>
          <p:cNvPr id="24" name="Shape 20"/>
          <p:cNvSpPr/>
          <p:nvPr/>
        </p:nvSpPr>
        <p:spPr>
          <a:xfrm>
            <a:off x="502920" y="4251960"/>
            <a:ext cx="5478628" cy="1417320"/>
          </a:xfrm>
          <a:prstGeom prst="rect">
            <a:avLst/>
          </a:prstGeom>
          <a:solidFill>
            <a:srgbClr val="FFFFFF"/>
          </a:solidFill>
          <a:ln w="12700">
            <a:solidFill>
              <a:srgbClr val="E2E5EA"/>
            </a:solidFill>
            <a:prstDash val="solid"/>
          </a:ln>
          <a:effectLst>
            <a:outerShdw blurRad="88900" dist="25400" dir="5400000" algn="bl" rotWithShape="0">
              <a:srgbClr val="0B1F3A">
                <a:alpha val="10000"/>
              </a:srgbClr>
            </a:outerShdw>
          </a:effectLst>
        </p:spPr>
      </p:sp>
      <p:pic>
        <p:nvPicPr>
          <p:cNvPr id="25" name="Image 2" descr="icons/coins_navy.png"/>
          <p:cNvPicPr>
            <a:picLocks noChangeAspect="1"/>
          </p:cNvPicPr>
          <p:nvPr/>
        </p:nvPicPr>
        <p:blipFill>
          <a:blip r:embed="rId5"/>
          <a:stretch>
            <a:fillRect/>
          </a:stretch>
        </p:blipFill>
        <p:spPr>
          <a:xfrm>
            <a:off x="722376" y="4434840"/>
            <a:ext cx="310896" cy="310896"/>
          </a:xfrm>
          <a:prstGeom prst="rect">
            <a:avLst/>
          </a:prstGeom>
        </p:spPr>
      </p:pic>
      <p:sp>
        <p:nvSpPr>
          <p:cNvPr id="26" name="Text 21"/>
          <p:cNvSpPr/>
          <p:nvPr/>
        </p:nvSpPr>
        <p:spPr>
          <a:xfrm>
            <a:off x="1143000" y="4416552"/>
            <a:ext cx="4609948" cy="365760"/>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Financial Strength</a:t>
            </a:r>
            <a:endParaRPr lang="en-US" sz="1200" dirty="0"/>
          </a:p>
        </p:txBody>
      </p:sp>
      <p:sp>
        <p:nvSpPr>
          <p:cNvPr id="27" name="Text 22"/>
          <p:cNvSpPr/>
          <p:nvPr/>
        </p:nvSpPr>
        <p:spPr>
          <a:xfrm>
            <a:off x="722376" y="4818888"/>
            <a:ext cx="5039716" cy="704088"/>
          </a:xfrm>
          <a:prstGeom prst="rect">
            <a:avLst/>
          </a:prstGeom>
          <a:noFill/>
          <a:ln/>
        </p:spPr>
        <p:txBody>
          <a:bodyPr wrap="square" lIns="0" tIns="0" rIns="0" bIns="0" rtlCol="0" anchor="t"/>
          <a:lstStyle/>
          <a:p>
            <a:pPr marL="0" indent="0">
              <a:lnSpc>
                <a:spcPct val="110000"/>
              </a:lnSpc>
              <a:buNone/>
            </a:pPr>
            <a:r>
              <a:rPr lang="en-US" sz="950" dirty="0">
                <a:solidFill>
                  <a:srgbClr val="666666"/>
                </a:solidFill>
                <a:latin typeface="Calibri" pitchFamily="34" charset="0"/>
                <a:ea typeface="Calibri" pitchFamily="34" charset="-122"/>
                <a:cs typeface="Calibri" pitchFamily="34" charset="-120"/>
              </a:rPr>
              <a:t>AED 80.4bn FY2025 property sales (+16% YoY); 98% average mall-portfolio occupancy signals diversified, resilient cash flow beyond development sales.</a:t>
            </a:r>
            <a:endParaRPr lang="en-US" sz="950" dirty="0"/>
          </a:p>
        </p:txBody>
      </p:sp>
      <p:sp>
        <p:nvSpPr>
          <p:cNvPr id="28" name="Shape 23"/>
          <p:cNvSpPr/>
          <p:nvPr/>
        </p:nvSpPr>
        <p:spPr>
          <a:xfrm>
            <a:off x="6210148" y="4251960"/>
            <a:ext cx="5478628" cy="1417320"/>
          </a:xfrm>
          <a:prstGeom prst="rect">
            <a:avLst/>
          </a:prstGeom>
          <a:solidFill>
            <a:srgbClr val="FFFFFF"/>
          </a:solidFill>
          <a:ln w="12700">
            <a:solidFill>
              <a:srgbClr val="E2E5EA"/>
            </a:solidFill>
            <a:prstDash val="solid"/>
          </a:ln>
          <a:effectLst>
            <a:outerShdw blurRad="88900" dist="25400" dir="5400000" algn="bl" rotWithShape="0">
              <a:srgbClr val="0B1F3A">
                <a:alpha val="10000"/>
              </a:srgbClr>
            </a:outerShdw>
          </a:effectLst>
        </p:spPr>
      </p:sp>
      <p:pic>
        <p:nvPicPr>
          <p:cNvPr id="29" name="Image 3" descr="icons/shield_navy.png"/>
          <p:cNvPicPr>
            <a:picLocks noChangeAspect="1"/>
          </p:cNvPicPr>
          <p:nvPr/>
        </p:nvPicPr>
        <p:blipFill>
          <a:blip r:embed="rId6"/>
          <a:stretch>
            <a:fillRect/>
          </a:stretch>
        </p:blipFill>
        <p:spPr>
          <a:xfrm>
            <a:off x="6429604" y="4434840"/>
            <a:ext cx="310896" cy="310896"/>
          </a:xfrm>
          <a:prstGeom prst="rect">
            <a:avLst/>
          </a:prstGeom>
        </p:spPr>
      </p:pic>
      <p:sp>
        <p:nvSpPr>
          <p:cNvPr id="30" name="Text 24"/>
          <p:cNvSpPr/>
          <p:nvPr/>
        </p:nvSpPr>
        <p:spPr>
          <a:xfrm>
            <a:off x="6850228" y="4416552"/>
            <a:ext cx="4609948" cy="365760"/>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Execution Risk</a:t>
            </a:r>
            <a:endParaRPr lang="en-US" sz="1200" dirty="0"/>
          </a:p>
        </p:txBody>
      </p:sp>
      <p:sp>
        <p:nvSpPr>
          <p:cNvPr id="31" name="Text 25"/>
          <p:cNvSpPr/>
          <p:nvPr/>
        </p:nvSpPr>
        <p:spPr>
          <a:xfrm>
            <a:off x="6429604" y="4818888"/>
            <a:ext cx="5039716" cy="704088"/>
          </a:xfrm>
          <a:prstGeom prst="rect">
            <a:avLst/>
          </a:prstGeom>
          <a:noFill/>
          <a:ln/>
        </p:spPr>
        <p:txBody>
          <a:bodyPr wrap="square" lIns="0" tIns="0" rIns="0" bIns="0" rtlCol="0" anchor="t"/>
          <a:lstStyle/>
          <a:p>
            <a:pPr marL="0" indent="0">
              <a:lnSpc>
                <a:spcPct val="110000"/>
              </a:lnSpc>
              <a:buNone/>
            </a:pPr>
            <a:r>
              <a:rPr lang="en-US" sz="950" dirty="0">
                <a:solidFill>
                  <a:srgbClr val="666666"/>
                </a:solidFill>
                <a:latin typeface="Calibri" pitchFamily="34" charset="0"/>
                <a:ea typeface="Calibri" pitchFamily="34" charset="-122"/>
                <a:cs typeface="Calibri" pitchFamily="34" charset="-120"/>
              </a:rPr>
              <a:t>RERA-registered, DFM-listed, escrow-regulated since 2007. Scale and revenue backlog reduce — but do not eliminate — abandonment risk.</a:t>
            </a:r>
            <a:endParaRPr lang="en-US" sz="950" dirty="0"/>
          </a:p>
        </p:txBody>
      </p:sp>
      <p:sp>
        <p:nvSpPr>
          <p:cNvPr id="32" name="Shape 26"/>
          <p:cNvSpPr/>
          <p:nvPr/>
        </p:nvSpPr>
        <p:spPr>
          <a:xfrm>
            <a:off x="502920" y="5806440"/>
            <a:ext cx="11185855" cy="566928"/>
          </a:xfrm>
          <a:prstGeom prst="rect">
            <a:avLst/>
          </a:prstGeom>
          <a:solidFill>
            <a:srgbClr val="EEF1F6"/>
          </a:solidFill>
          <a:ln/>
        </p:spPr>
      </p:sp>
      <p:pic>
        <p:nvPicPr>
          <p:cNvPr id="33" name="Image 4" descr="icons/star_gold.png"/>
          <p:cNvPicPr>
            <a:picLocks noChangeAspect="1"/>
          </p:cNvPicPr>
          <p:nvPr/>
        </p:nvPicPr>
        <p:blipFill>
          <a:blip r:embed="rId7"/>
          <a:stretch>
            <a:fillRect/>
          </a:stretch>
        </p:blipFill>
        <p:spPr>
          <a:xfrm>
            <a:off x="667512" y="5952744"/>
            <a:ext cx="274320" cy="274320"/>
          </a:xfrm>
          <a:prstGeom prst="rect">
            <a:avLst/>
          </a:prstGeom>
        </p:spPr>
      </p:pic>
      <p:sp>
        <p:nvSpPr>
          <p:cNvPr id="34" name="Text 27"/>
          <p:cNvSpPr/>
          <p:nvPr/>
        </p:nvSpPr>
        <p:spPr>
          <a:xfrm>
            <a:off x="1069848" y="5806440"/>
            <a:ext cx="10454335" cy="566928"/>
          </a:xfrm>
          <a:prstGeom prst="rect">
            <a:avLst/>
          </a:prstGeom>
          <a:noFill/>
          <a:ln/>
        </p:spPr>
        <p:txBody>
          <a:bodyPr wrap="square" lIns="0" tIns="0" rIns="0" bIns="0" rtlCol="0" anchor="ctr"/>
          <a:lstStyle/>
          <a:p>
            <a:pPr marL="0" indent="0" algn="l">
              <a:lnSpc>
                <a:spcPct val="105000"/>
              </a:lnSpc>
              <a:buNone/>
            </a:pPr>
            <a:r>
              <a:rPr lang="en-US" sz="1050" b="1" kern="0" spc="100" dirty="0">
                <a:solidFill>
                  <a:srgbClr val="0B1F3A"/>
                </a:solidFill>
                <a:latin typeface="Calibri" pitchFamily="34" charset="0"/>
                <a:ea typeface="Calibri" pitchFamily="34" charset="-122"/>
                <a:cs typeface="Calibri" pitchFamily="34" charset="-120"/>
              </a:rPr>
              <a:t>EXECUTIVE INSIGHT   </a:t>
            </a:r>
            <a:r>
              <a:rPr lang="en-US" sz="1150" dirty="0">
                <a:solidFill>
                  <a:srgbClr val="0B1F3A"/>
                </a:solidFill>
                <a:latin typeface="Calibri" pitchFamily="34" charset="0"/>
                <a:ea typeface="Calibri" pitchFamily="34" charset="-122"/>
                <a:cs typeface="Calibri" pitchFamily="34" charset="-120"/>
              </a:rPr>
              <a:t>Developer risk is identical for both projects — both are Emaar Development PJSC launches sharing the same balance sheet and delivery infrastructure.</a:t>
            </a:r>
            <a:endParaRPr lang="en-US" sz="1050" dirty="0"/>
          </a:p>
        </p:txBody>
      </p:sp>
      <p:sp>
        <p:nvSpPr>
          <p:cNvPr id="35" name="Text 28"/>
          <p:cNvSpPr/>
          <p:nvPr/>
        </p:nvSpPr>
        <p:spPr>
          <a:xfrm>
            <a:off x="502920" y="6510528"/>
            <a:ext cx="3657600" cy="256032"/>
          </a:xfrm>
          <a:prstGeom prst="rect">
            <a:avLst/>
          </a:prstGeom>
          <a:noFill/>
          <a:ln/>
        </p:spPr>
        <p:txBody>
          <a:bodyPr wrap="square" lIns="0" tIns="0" rIns="0" bIns="0" rtlCol="0" anchor="ctr"/>
          <a:lstStyle/>
          <a:p>
            <a:pPr marL="0" indent="0" algn="l">
              <a:buNone/>
            </a:pPr>
            <a:r>
              <a:rPr lang="en-US" sz="800" kern="0" spc="100" dirty="0">
                <a:solidFill>
                  <a:srgbClr val="9AA1AC"/>
                </a:solidFill>
                <a:latin typeface="Calibri" pitchFamily="34" charset="0"/>
                <a:ea typeface="Calibri" pitchFamily="34" charset="-122"/>
                <a:cs typeface="Calibri" pitchFamily="34" charset="-120"/>
              </a:rPr>
              <a:t>LUXURY REAL ESTATE INVESTMENT ADVISORY</a:t>
            </a:r>
            <a:endParaRPr lang="en-US" sz="800" dirty="0"/>
          </a:p>
        </p:txBody>
      </p:sp>
      <p:sp>
        <p:nvSpPr>
          <p:cNvPr id="36" name="Text 29"/>
          <p:cNvSpPr/>
          <p:nvPr/>
        </p:nvSpPr>
        <p:spPr>
          <a:xfrm>
            <a:off x="3809848" y="6510528"/>
            <a:ext cx="4572000" cy="256032"/>
          </a:xfrm>
          <a:prstGeom prst="rect">
            <a:avLst/>
          </a:prstGeom>
          <a:noFill/>
          <a:ln/>
        </p:spPr>
        <p:txBody>
          <a:bodyPr wrap="square" lIns="0" tIns="0" rIns="0" bIns="0" rtlCol="0" anchor="ctr"/>
          <a:lstStyle/>
          <a:p>
            <a:pPr marL="0" indent="0" algn="ctr">
              <a:buNone/>
            </a:pPr>
            <a:r>
              <a:rPr lang="en-US" sz="800" dirty="0">
                <a:solidFill>
                  <a:srgbClr val="9AA1AC"/>
                </a:solidFill>
                <a:latin typeface="Calibri" pitchFamily="34" charset="0"/>
                <a:ea typeface="Calibri" pitchFamily="34" charset="-122"/>
                <a:cs typeface="Calibri" pitchFamily="34" charset="-120"/>
              </a:rPr>
              <a:t>Developer Assessment</a:t>
            </a:r>
            <a:endParaRPr lang="en-US" sz="800" dirty="0"/>
          </a:p>
        </p:txBody>
      </p:sp>
      <p:sp>
        <p:nvSpPr>
          <p:cNvPr id="37" name="Text 30"/>
          <p:cNvSpPr/>
          <p:nvPr/>
        </p:nvSpPr>
        <p:spPr>
          <a:xfrm>
            <a:off x="8031175" y="6510528"/>
            <a:ext cx="3657600" cy="256032"/>
          </a:xfrm>
          <a:prstGeom prst="rect">
            <a:avLst/>
          </a:prstGeom>
          <a:noFill/>
          <a:ln/>
        </p:spPr>
        <p:txBody>
          <a:bodyPr wrap="square" lIns="0" tIns="0" rIns="0" bIns="0" rtlCol="0" anchor="ctr"/>
          <a:lstStyle/>
          <a:p>
            <a:pPr marL="0" indent="0" algn="r">
              <a:buNone/>
            </a:pPr>
            <a:r>
              <a:rPr lang="en-US" sz="800" dirty="0">
                <a:solidFill>
                  <a:srgbClr val="9AA1AC"/>
                </a:solidFill>
                <a:latin typeface="Calibri" pitchFamily="34" charset="0"/>
                <a:ea typeface="Calibri" pitchFamily="34" charset="-122"/>
                <a:cs typeface="Calibri"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lgn="l">
              <a:buNone/>
            </a:pPr>
            <a:r>
              <a:rPr lang="en-US" sz="1150" b="1" kern="0" spc="200" dirty="0">
                <a:solidFill>
                  <a:srgbClr val="C9A227"/>
                </a:solidFill>
                <a:latin typeface="Calibri" pitchFamily="34" charset="0"/>
                <a:ea typeface="Calibri" pitchFamily="34" charset="-122"/>
                <a:cs typeface="Calibri" pitchFamily="34" charset="-120"/>
              </a:rPr>
              <a:t>SECTION 11 · MARKET FUNDAMENTALS</a:t>
            </a:r>
            <a:endParaRPr lang="en-US" sz="1150" dirty="0"/>
          </a:p>
        </p:txBody>
      </p:sp>
      <p:sp>
        <p:nvSpPr>
          <p:cNvPr id="3" name="Text 1"/>
          <p:cNvSpPr/>
          <p:nvPr/>
        </p:nvSpPr>
        <p:spPr>
          <a:xfrm>
            <a:off x="502920" y="658368"/>
            <a:ext cx="10607040" cy="566928"/>
          </a:xfrm>
          <a:prstGeom prst="rect">
            <a:avLst/>
          </a:prstGeom>
          <a:noFill/>
          <a:ln/>
        </p:spPr>
        <p:txBody>
          <a:bodyPr wrap="square" lIns="0" tIns="0" rIns="0" bIns="0" rtlCol="0" anchor="ctr"/>
          <a:lstStyle/>
          <a:p>
            <a:pPr marL="0" indent="0" algn="l">
              <a:buNone/>
            </a:pPr>
            <a:r>
              <a:rPr lang="en-US" sz="2600" b="1" dirty="0">
                <a:solidFill>
                  <a:srgbClr val="0B1F3A"/>
                </a:solidFill>
                <a:latin typeface="Cambria" pitchFamily="34" charset="0"/>
                <a:ea typeface="Cambria" pitchFamily="34" charset="-122"/>
                <a:cs typeface="Cambria" pitchFamily="34" charset="-120"/>
              </a:rPr>
              <a:t>Supply &amp; Demand Outlook</a:t>
            </a:r>
            <a:endParaRPr lang="en-US" sz="2600" dirty="0"/>
          </a:p>
        </p:txBody>
      </p:sp>
      <p:sp>
        <p:nvSpPr>
          <p:cNvPr id="4" name="Text 2"/>
          <p:cNvSpPr/>
          <p:nvPr/>
        </p:nvSpPr>
        <p:spPr>
          <a:xfrm>
            <a:off x="502920" y="1417320"/>
            <a:ext cx="5303520" cy="237744"/>
          </a:xfrm>
          <a:prstGeom prst="rect">
            <a:avLst/>
          </a:prstGeom>
          <a:noFill/>
          <a:ln/>
        </p:spPr>
        <p:txBody>
          <a:bodyPr wrap="square" lIns="0" tIns="0" rIns="0" bIns="0" rtlCol="0" anchor="ctr"/>
          <a:lstStyle/>
          <a:p>
            <a:pPr marL="0" indent="0">
              <a:buNone/>
            </a:pPr>
            <a:r>
              <a:rPr lang="en-US" sz="950" b="1" kern="0" spc="30" dirty="0">
                <a:solidFill>
                  <a:srgbClr val="0B1F3A"/>
                </a:solidFill>
                <a:latin typeface="Calibri" pitchFamily="34" charset="0"/>
                <a:ea typeface="Calibri" pitchFamily="34" charset="-122"/>
                <a:cs typeface="Calibri" pitchFamily="34" charset="-120"/>
              </a:rPr>
              <a:t>DUBAI-WIDE RESIDENTIAL HANDOVER PIPELINE (UNITS)</a:t>
            </a:r>
            <a:endParaRPr lang="en-US" sz="950" dirty="0"/>
          </a:p>
        </p:txBody>
      </p:sp>
      <p:graphicFrame>
        <p:nvGraphicFramePr>
          <p:cNvPr id="5" name="Chart 0"/>
          <p:cNvGraphicFramePr/>
          <p:nvPr/>
        </p:nvGraphicFramePr>
        <p:xfrm>
          <a:off x="502920" y="1691640"/>
          <a:ext cx="5303520" cy="242316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502920" y="4160520"/>
            <a:ext cx="5303520" cy="201168"/>
          </a:xfrm>
          <a:prstGeom prst="rect">
            <a:avLst/>
          </a:prstGeom>
          <a:noFill/>
          <a:ln/>
        </p:spPr>
        <p:txBody>
          <a:bodyPr wrap="square" lIns="0" tIns="0" rIns="0" bIns="0" rtlCol="0" anchor="ctr"/>
          <a:lstStyle/>
          <a:p>
            <a:pPr marL="0" indent="0">
              <a:buNone/>
            </a:pPr>
            <a:r>
              <a:rPr lang="en-US" sz="800" i="1" dirty="0">
                <a:solidFill>
                  <a:srgbClr val="9AA1AC"/>
                </a:solidFill>
                <a:latin typeface="Calibri" pitchFamily="34" charset="0"/>
                <a:ea typeface="Calibri" pitchFamily="34" charset="-122"/>
                <a:cs typeface="Calibri" pitchFamily="34" charset="-120"/>
              </a:rPr>
              <a:t>Source: ValuStrat / Global Property Guide (May 2026).</a:t>
            </a:r>
            <a:endParaRPr lang="en-US" sz="800" dirty="0"/>
          </a:p>
        </p:txBody>
      </p:sp>
      <p:sp>
        <p:nvSpPr>
          <p:cNvPr id="7" name="Text 4"/>
          <p:cNvSpPr/>
          <p:nvPr/>
        </p:nvSpPr>
        <p:spPr>
          <a:xfrm>
            <a:off x="6172200" y="1417320"/>
            <a:ext cx="5516575" cy="237744"/>
          </a:xfrm>
          <a:prstGeom prst="rect">
            <a:avLst/>
          </a:prstGeom>
          <a:noFill/>
          <a:ln/>
        </p:spPr>
        <p:txBody>
          <a:bodyPr wrap="square" lIns="0" tIns="0" rIns="0" bIns="0" rtlCol="0" anchor="ctr"/>
          <a:lstStyle/>
          <a:p>
            <a:pPr marL="0" indent="0">
              <a:buNone/>
            </a:pPr>
            <a:r>
              <a:rPr lang="en-US" sz="950" b="1" kern="0" spc="30" dirty="0">
                <a:solidFill>
                  <a:srgbClr val="0B1F3A"/>
                </a:solidFill>
                <a:latin typeface="Calibri" pitchFamily="34" charset="0"/>
                <a:ea typeface="Calibri" pitchFamily="34" charset="-122"/>
                <a:cs typeface="Calibri" pitchFamily="34" charset="-120"/>
              </a:rPr>
              <a:t>DEMAND CATALYSTS</a:t>
            </a:r>
            <a:endParaRPr lang="en-US" sz="950" dirty="0"/>
          </a:p>
        </p:txBody>
      </p:sp>
      <p:pic>
        <p:nvPicPr>
          <p:cNvPr id="8" name="Image 0" descr="icons/plane_navy.png"/>
          <p:cNvPicPr>
            <a:picLocks noChangeAspect="1"/>
          </p:cNvPicPr>
          <p:nvPr/>
        </p:nvPicPr>
        <p:blipFill>
          <a:blip r:embed="rId4"/>
          <a:stretch>
            <a:fillRect/>
          </a:stretch>
        </p:blipFill>
        <p:spPr>
          <a:xfrm>
            <a:off x="6172200" y="1728216"/>
            <a:ext cx="274320" cy="274320"/>
          </a:xfrm>
          <a:prstGeom prst="rect">
            <a:avLst/>
          </a:prstGeom>
        </p:spPr>
      </p:pic>
      <p:sp>
        <p:nvSpPr>
          <p:cNvPr id="9" name="Text 5"/>
          <p:cNvSpPr/>
          <p:nvPr/>
        </p:nvSpPr>
        <p:spPr>
          <a:xfrm>
            <a:off x="6556248" y="1709928"/>
            <a:ext cx="5132527" cy="237744"/>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Airport Expansion</a:t>
            </a:r>
            <a:endParaRPr lang="en-US" sz="1100" dirty="0"/>
          </a:p>
        </p:txBody>
      </p:sp>
      <p:sp>
        <p:nvSpPr>
          <p:cNvPr id="10" name="Text 6"/>
          <p:cNvSpPr/>
          <p:nvPr/>
        </p:nvSpPr>
        <p:spPr>
          <a:xfrm>
            <a:off x="6556248" y="1947672"/>
            <a:ext cx="5132527" cy="365760"/>
          </a:xfrm>
          <a:prstGeom prst="rect">
            <a:avLst/>
          </a:prstGeom>
          <a:noFill/>
          <a:ln/>
        </p:spPr>
        <p:txBody>
          <a:bodyPr wrap="square" lIns="0" tIns="0" rIns="0" bIns="0" rtlCol="0" anchor="ctr"/>
          <a:lstStyle/>
          <a:p>
            <a:pPr marL="0" indent="0">
              <a:lnSpc>
                <a:spcPct val="105000"/>
              </a:lnSpc>
              <a:buNone/>
            </a:pPr>
            <a:r>
              <a:rPr lang="en-US" sz="850" dirty="0">
                <a:solidFill>
                  <a:srgbClr val="666666"/>
                </a:solidFill>
                <a:latin typeface="Calibri" pitchFamily="34" charset="0"/>
                <a:ea typeface="Calibri" pitchFamily="34" charset="-122"/>
                <a:cs typeface="Calibri" pitchFamily="34" charset="-120"/>
              </a:rPr>
              <a:t>AED 128bn; 150M passengers by 2032, 260M ultimate capacity</a:t>
            </a:r>
            <a:endParaRPr lang="en-US" sz="850" dirty="0"/>
          </a:p>
        </p:txBody>
      </p:sp>
      <p:pic>
        <p:nvPicPr>
          <p:cNvPr id="11" name="Image 1" descr="icons/users_navy.png"/>
          <p:cNvPicPr>
            <a:picLocks noChangeAspect="1"/>
          </p:cNvPicPr>
          <p:nvPr/>
        </p:nvPicPr>
        <p:blipFill>
          <a:blip r:embed="rId5"/>
          <a:stretch>
            <a:fillRect/>
          </a:stretch>
        </p:blipFill>
        <p:spPr>
          <a:xfrm>
            <a:off x="6172200" y="2386584"/>
            <a:ext cx="274320" cy="274320"/>
          </a:xfrm>
          <a:prstGeom prst="rect">
            <a:avLst/>
          </a:prstGeom>
        </p:spPr>
      </p:pic>
      <p:sp>
        <p:nvSpPr>
          <p:cNvPr id="12" name="Text 7"/>
          <p:cNvSpPr/>
          <p:nvPr/>
        </p:nvSpPr>
        <p:spPr>
          <a:xfrm>
            <a:off x="6556248" y="2368296"/>
            <a:ext cx="5132527" cy="237744"/>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Population Growth</a:t>
            </a:r>
            <a:endParaRPr lang="en-US" sz="1100" dirty="0"/>
          </a:p>
        </p:txBody>
      </p:sp>
      <p:sp>
        <p:nvSpPr>
          <p:cNvPr id="13" name="Text 8"/>
          <p:cNvSpPr/>
          <p:nvPr/>
        </p:nvSpPr>
        <p:spPr>
          <a:xfrm>
            <a:off x="6556248" y="2606040"/>
            <a:ext cx="5132527" cy="365760"/>
          </a:xfrm>
          <a:prstGeom prst="rect">
            <a:avLst/>
          </a:prstGeom>
          <a:noFill/>
          <a:ln/>
        </p:spPr>
        <p:txBody>
          <a:bodyPr wrap="square" lIns="0" tIns="0" rIns="0" bIns="0" rtlCol="0" anchor="ctr"/>
          <a:lstStyle/>
          <a:p>
            <a:pPr marL="0" indent="0">
              <a:lnSpc>
                <a:spcPct val="105000"/>
              </a:lnSpc>
              <a:buNone/>
            </a:pPr>
            <a:r>
              <a:rPr lang="en-US" sz="850" dirty="0">
                <a:solidFill>
                  <a:srgbClr val="666666"/>
                </a:solidFill>
                <a:latin typeface="Calibri" pitchFamily="34" charset="0"/>
                <a:ea typeface="Calibri" pitchFamily="34" charset="-122"/>
                <a:cs typeface="Calibri" pitchFamily="34" charset="-120"/>
              </a:rPr>
              <a:t>Dubai population: 4M+ (2025) → 5.8M projected by 2040</a:t>
            </a:r>
            <a:endParaRPr lang="en-US" sz="850" dirty="0"/>
          </a:p>
        </p:txBody>
      </p:sp>
      <p:pic>
        <p:nvPicPr>
          <p:cNvPr id="14" name="Image 2" descr="icons/city_navy.png"/>
          <p:cNvPicPr>
            <a:picLocks noChangeAspect="1"/>
          </p:cNvPicPr>
          <p:nvPr/>
        </p:nvPicPr>
        <p:blipFill>
          <a:blip r:embed="rId6"/>
          <a:stretch>
            <a:fillRect/>
          </a:stretch>
        </p:blipFill>
        <p:spPr>
          <a:xfrm>
            <a:off x="6172200" y="3044952"/>
            <a:ext cx="274320" cy="274320"/>
          </a:xfrm>
          <a:prstGeom prst="rect">
            <a:avLst/>
          </a:prstGeom>
        </p:spPr>
      </p:pic>
      <p:sp>
        <p:nvSpPr>
          <p:cNvPr id="15" name="Text 9"/>
          <p:cNvSpPr/>
          <p:nvPr/>
        </p:nvSpPr>
        <p:spPr>
          <a:xfrm>
            <a:off x="6556248" y="3026664"/>
            <a:ext cx="5132527" cy="237744"/>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Expo Legacy</a:t>
            </a:r>
            <a:endParaRPr lang="en-US" sz="1100" dirty="0"/>
          </a:p>
        </p:txBody>
      </p:sp>
      <p:sp>
        <p:nvSpPr>
          <p:cNvPr id="16" name="Text 10"/>
          <p:cNvSpPr/>
          <p:nvPr/>
        </p:nvSpPr>
        <p:spPr>
          <a:xfrm>
            <a:off x="6556248" y="3264408"/>
            <a:ext cx="5132527" cy="365760"/>
          </a:xfrm>
          <a:prstGeom prst="rect">
            <a:avLst/>
          </a:prstGeom>
          <a:noFill/>
          <a:ln/>
        </p:spPr>
        <p:txBody>
          <a:bodyPr wrap="square" lIns="0" tIns="0" rIns="0" bIns="0" rtlCol="0" anchor="ctr"/>
          <a:lstStyle/>
          <a:p>
            <a:pPr marL="0" indent="0">
              <a:lnSpc>
                <a:spcPct val="105000"/>
              </a:lnSpc>
              <a:buNone/>
            </a:pPr>
            <a:r>
              <a:rPr lang="en-US" sz="850" dirty="0">
                <a:solidFill>
                  <a:srgbClr val="666666"/>
                </a:solidFill>
                <a:latin typeface="Calibri" pitchFamily="34" charset="0"/>
                <a:ea typeface="Calibri" pitchFamily="34" charset="-122"/>
                <a:cs typeface="Calibri" pitchFamily="34" charset="-120"/>
              </a:rPr>
              <a:t>AED 154.9bn projected GVA, ~35,000 FTE jobs/year (2022–2042)</a:t>
            </a:r>
            <a:endParaRPr lang="en-US" sz="850" dirty="0"/>
          </a:p>
        </p:txBody>
      </p:sp>
      <p:sp>
        <p:nvSpPr>
          <p:cNvPr id="17" name="Shape 11"/>
          <p:cNvSpPr/>
          <p:nvPr/>
        </p:nvSpPr>
        <p:spPr>
          <a:xfrm>
            <a:off x="502920" y="4526280"/>
            <a:ext cx="11185855" cy="822960"/>
          </a:xfrm>
          <a:prstGeom prst="rect">
            <a:avLst/>
          </a:prstGeom>
          <a:solidFill>
            <a:srgbClr val="EEF1F6"/>
          </a:solidFill>
          <a:ln/>
        </p:spPr>
      </p:sp>
      <p:sp>
        <p:nvSpPr>
          <p:cNvPr id="18" name="Text 12"/>
          <p:cNvSpPr/>
          <p:nvPr/>
        </p:nvSpPr>
        <p:spPr>
          <a:xfrm>
            <a:off x="731520" y="4617720"/>
            <a:ext cx="10728655" cy="219456"/>
          </a:xfrm>
          <a:prstGeom prst="rect">
            <a:avLst/>
          </a:prstGeom>
          <a:noFill/>
          <a:ln/>
        </p:spPr>
        <p:txBody>
          <a:bodyPr wrap="square" lIns="0" tIns="0" rIns="0" bIns="0" rtlCol="0" anchor="ctr"/>
          <a:lstStyle/>
          <a:p>
            <a:pPr marL="0" indent="0">
              <a:buNone/>
            </a:pPr>
            <a:r>
              <a:rPr lang="en-US" sz="1000" b="1" kern="0" spc="100" dirty="0">
                <a:solidFill>
                  <a:srgbClr val="0B1F3A"/>
                </a:solidFill>
                <a:latin typeface="Calibri" pitchFamily="34" charset="0"/>
                <a:ea typeface="Calibri" pitchFamily="34" charset="-122"/>
                <a:cs typeface="Calibri" pitchFamily="34" charset="-120"/>
              </a:rPr>
              <a:t>ABSORPTION SIGNAL   </a:t>
            </a:r>
            <a:endParaRPr lang="en-US" sz="1000" dirty="0"/>
          </a:p>
        </p:txBody>
      </p:sp>
      <p:sp>
        <p:nvSpPr>
          <p:cNvPr id="19" name="Text 13"/>
          <p:cNvSpPr/>
          <p:nvPr/>
        </p:nvSpPr>
        <p:spPr>
          <a:xfrm>
            <a:off x="731520" y="4837176"/>
            <a:ext cx="10728655" cy="457200"/>
          </a:xfrm>
          <a:prstGeom prst="rect">
            <a:avLst/>
          </a:prstGeom>
          <a:noFill/>
          <a:ln/>
        </p:spPr>
        <p:txBody>
          <a:bodyPr wrap="square" lIns="0" tIns="0" rIns="0" bIns="0" rtlCol="0" anchor="ctr"/>
          <a:lstStyle/>
          <a:p>
            <a:pPr marL="0" indent="0">
              <a:lnSpc>
                <a:spcPct val="108000"/>
              </a:lnSpc>
              <a:buNone/>
            </a:pPr>
            <a:r>
              <a:rPr lang="en-US" sz="1050" dirty="0">
                <a:solidFill>
                  <a:srgbClr val="0B1F3A"/>
                </a:solidFill>
                <a:latin typeface="Calibri" pitchFamily="34" charset="0"/>
                <a:ea typeface="Calibri" pitchFamily="34" charset="-122"/>
                <a:cs typeface="Calibri" pitchFamily="34" charset="-120"/>
              </a:rPr>
              <a:t>No audited vacancy figure exists for Emaar South. Proxies — 500 one-bed and 442 three-bed rental contracts in 5 months (2026), plus 50 Golf Acres DLD resales pre-completion — indicate healthy, but not formally quantified, absorption.</a:t>
            </a:r>
            <a:endParaRPr lang="en-US" sz="1050" dirty="0"/>
          </a:p>
        </p:txBody>
      </p:sp>
      <p:sp>
        <p:nvSpPr>
          <p:cNvPr id="20" name="Shape 14"/>
          <p:cNvSpPr/>
          <p:nvPr/>
        </p:nvSpPr>
        <p:spPr>
          <a:xfrm>
            <a:off x="502920" y="5806440"/>
            <a:ext cx="11185855" cy="566928"/>
          </a:xfrm>
          <a:prstGeom prst="rect">
            <a:avLst/>
          </a:prstGeom>
          <a:solidFill>
            <a:srgbClr val="EEF1F6"/>
          </a:solidFill>
          <a:ln/>
        </p:spPr>
      </p:sp>
      <p:pic>
        <p:nvPicPr>
          <p:cNvPr id="21" name="Image 3" descr="icons/star_gold.png"/>
          <p:cNvPicPr>
            <a:picLocks noChangeAspect="1"/>
          </p:cNvPicPr>
          <p:nvPr/>
        </p:nvPicPr>
        <p:blipFill>
          <a:blip r:embed="rId7"/>
          <a:stretch>
            <a:fillRect/>
          </a:stretch>
        </p:blipFill>
        <p:spPr>
          <a:xfrm>
            <a:off x="667512" y="5952744"/>
            <a:ext cx="274320" cy="274320"/>
          </a:xfrm>
          <a:prstGeom prst="rect">
            <a:avLst/>
          </a:prstGeom>
        </p:spPr>
      </p:pic>
      <p:sp>
        <p:nvSpPr>
          <p:cNvPr id="22" name="Text 15"/>
          <p:cNvSpPr/>
          <p:nvPr/>
        </p:nvSpPr>
        <p:spPr>
          <a:xfrm>
            <a:off x="1069848" y="5806440"/>
            <a:ext cx="10454335" cy="566928"/>
          </a:xfrm>
          <a:prstGeom prst="rect">
            <a:avLst/>
          </a:prstGeom>
          <a:noFill/>
          <a:ln/>
        </p:spPr>
        <p:txBody>
          <a:bodyPr wrap="square" lIns="0" tIns="0" rIns="0" bIns="0" rtlCol="0" anchor="ctr"/>
          <a:lstStyle/>
          <a:p>
            <a:pPr marL="0" indent="0" algn="l">
              <a:lnSpc>
                <a:spcPct val="105000"/>
              </a:lnSpc>
              <a:buNone/>
            </a:pPr>
            <a:r>
              <a:rPr lang="en-US" sz="1050" b="1" kern="0" spc="100" dirty="0">
                <a:solidFill>
                  <a:srgbClr val="0B1F3A"/>
                </a:solidFill>
                <a:latin typeface="Calibri" pitchFamily="34" charset="0"/>
                <a:ea typeface="Calibri" pitchFamily="34" charset="-122"/>
                <a:cs typeface="Calibri" pitchFamily="34" charset="-120"/>
              </a:rPr>
              <a:t>EXECUTIVE INSIGHT   </a:t>
            </a:r>
            <a:r>
              <a:rPr lang="en-US" sz="1150" dirty="0">
                <a:solidFill>
                  <a:srgbClr val="0B1F3A"/>
                </a:solidFill>
                <a:latin typeface="Calibri" pitchFamily="34" charset="0"/>
                <a:ea typeface="Calibri" pitchFamily="34" charset="-122"/>
                <a:cs typeface="Calibri" pitchFamily="34" charset="-120"/>
              </a:rPr>
              <a:t>A substantial Dubai-wide supply wave (120K+ units/year through 2028) makes Golf Acres' demonstrated liquidity a meaningful differentiator, not a formality.</a:t>
            </a:r>
            <a:endParaRPr lang="en-US" sz="1050" dirty="0"/>
          </a:p>
        </p:txBody>
      </p:sp>
      <p:sp>
        <p:nvSpPr>
          <p:cNvPr id="23" name="Text 16"/>
          <p:cNvSpPr/>
          <p:nvPr/>
        </p:nvSpPr>
        <p:spPr>
          <a:xfrm>
            <a:off x="502920" y="6510528"/>
            <a:ext cx="3657600" cy="256032"/>
          </a:xfrm>
          <a:prstGeom prst="rect">
            <a:avLst/>
          </a:prstGeom>
          <a:noFill/>
          <a:ln/>
        </p:spPr>
        <p:txBody>
          <a:bodyPr wrap="square" lIns="0" tIns="0" rIns="0" bIns="0" rtlCol="0" anchor="ctr"/>
          <a:lstStyle/>
          <a:p>
            <a:pPr marL="0" indent="0" algn="l">
              <a:buNone/>
            </a:pPr>
            <a:r>
              <a:rPr lang="en-US" sz="800" kern="0" spc="100" dirty="0">
                <a:solidFill>
                  <a:srgbClr val="9AA1AC"/>
                </a:solidFill>
                <a:latin typeface="Calibri" pitchFamily="34" charset="0"/>
                <a:ea typeface="Calibri" pitchFamily="34" charset="-122"/>
                <a:cs typeface="Calibri" pitchFamily="34" charset="-120"/>
              </a:rPr>
              <a:t>LUXURY REAL ESTATE INVESTMENT ADVISORY</a:t>
            </a:r>
            <a:endParaRPr lang="en-US" sz="800" dirty="0"/>
          </a:p>
        </p:txBody>
      </p:sp>
      <p:sp>
        <p:nvSpPr>
          <p:cNvPr id="24" name="Text 17"/>
          <p:cNvSpPr/>
          <p:nvPr/>
        </p:nvSpPr>
        <p:spPr>
          <a:xfrm>
            <a:off x="3809848" y="6510528"/>
            <a:ext cx="4572000" cy="256032"/>
          </a:xfrm>
          <a:prstGeom prst="rect">
            <a:avLst/>
          </a:prstGeom>
          <a:noFill/>
          <a:ln/>
        </p:spPr>
        <p:txBody>
          <a:bodyPr wrap="square" lIns="0" tIns="0" rIns="0" bIns="0" rtlCol="0" anchor="ctr"/>
          <a:lstStyle/>
          <a:p>
            <a:pPr marL="0" indent="0" algn="ctr">
              <a:buNone/>
            </a:pPr>
            <a:r>
              <a:rPr lang="en-US" sz="800" dirty="0">
                <a:solidFill>
                  <a:srgbClr val="9AA1AC"/>
                </a:solidFill>
                <a:latin typeface="Calibri" pitchFamily="34" charset="0"/>
                <a:ea typeface="Calibri" pitchFamily="34" charset="-122"/>
                <a:cs typeface="Calibri" pitchFamily="34" charset="-120"/>
              </a:rPr>
              <a:t>Supply &amp; Demand</a:t>
            </a:r>
            <a:endParaRPr lang="en-US" sz="800" dirty="0"/>
          </a:p>
        </p:txBody>
      </p:sp>
      <p:sp>
        <p:nvSpPr>
          <p:cNvPr id="25" name="Text 18"/>
          <p:cNvSpPr/>
          <p:nvPr/>
        </p:nvSpPr>
        <p:spPr>
          <a:xfrm>
            <a:off x="8031175" y="6510528"/>
            <a:ext cx="3657600" cy="256032"/>
          </a:xfrm>
          <a:prstGeom prst="rect">
            <a:avLst/>
          </a:prstGeom>
          <a:noFill/>
          <a:ln/>
        </p:spPr>
        <p:txBody>
          <a:bodyPr wrap="square" lIns="0" tIns="0" rIns="0" bIns="0" rtlCol="0" anchor="ctr"/>
          <a:lstStyle/>
          <a:p>
            <a:pPr marL="0" indent="0" algn="r">
              <a:buNone/>
            </a:pPr>
            <a:r>
              <a:rPr lang="en-US" sz="800" dirty="0">
                <a:solidFill>
                  <a:srgbClr val="9AA1AC"/>
                </a:solidFill>
                <a:latin typeface="Calibri" pitchFamily="34" charset="0"/>
                <a:ea typeface="Calibri" pitchFamily="34" charset="-122"/>
                <a:cs typeface="Calibri" pitchFamily="34" charset="-120"/>
              </a:rPr>
              <a:t>  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lgn="l">
              <a:buNone/>
            </a:pPr>
            <a:r>
              <a:rPr lang="en-US" sz="1150" b="1" kern="0" spc="200" dirty="0">
                <a:solidFill>
                  <a:srgbClr val="C9A227"/>
                </a:solidFill>
                <a:latin typeface="Calibri" pitchFamily="34" charset="0"/>
                <a:ea typeface="Calibri" pitchFamily="34" charset="-122"/>
                <a:cs typeface="Calibri" pitchFamily="34" charset="-120"/>
              </a:rPr>
              <a:t>SECTION 12 · RISK ASSESSMENT</a:t>
            </a:r>
            <a:endParaRPr lang="en-US" sz="1150" dirty="0"/>
          </a:p>
        </p:txBody>
      </p:sp>
      <p:sp>
        <p:nvSpPr>
          <p:cNvPr id="3" name="Text 1"/>
          <p:cNvSpPr/>
          <p:nvPr/>
        </p:nvSpPr>
        <p:spPr>
          <a:xfrm>
            <a:off x="502920" y="658368"/>
            <a:ext cx="10607040" cy="566928"/>
          </a:xfrm>
          <a:prstGeom prst="rect">
            <a:avLst/>
          </a:prstGeom>
          <a:noFill/>
          <a:ln/>
        </p:spPr>
        <p:txBody>
          <a:bodyPr wrap="square" lIns="0" tIns="0" rIns="0" bIns="0" rtlCol="0" anchor="ctr"/>
          <a:lstStyle/>
          <a:p>
            <a:pPr marL="0" indent="0" algn="l">
              <a:buNone/>
            </a:pPr>
            <a:r>
              <a:rPr lang="en-US" sz="2600" b="1" dirty="0">
                <a:solidFill>
                  <a:srgbClr val="0B1F3A"/>
                </a:solidFill>
                <a:latin typeface="Cambria" pitchFamily="34" charset="0"/>
                <a:ea typeface="Cambria" pitchFamily="34" charset="-122"/>
                <a:cs typeface="Cambria" pitchFamily="34" charset="-120"/>
              </a:rPr>
              <a:t>Risk Matrix: Golf Acres vs. Greenspoint</a:t>
            </a:r>
            <a:endParaRPr lang="en-US" sz="2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6858000" cy="3456432"/>
        </p:xfrm>
        <a:graphic>
          <a:graphicData uri="http://schemas.openxmlformats.org/drawingml/2006/table">
            <a:tbl>
              <a:tblPr/>
              <a:tblGrid>
                <a:gridCol w="301752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tblGrid>
              <a:tr h="384048">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Risk Category</a:t>
                      </a:r>
                      <a:endParaRPr lang="en-US" sz="11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1F3A"/>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Golf Acres</a:t>
                      </a:r>
                      <a:endParaRPr lang="en-US" sz="11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1F3A"/>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Greenspoint</a:t>
                      </a:r>
                      <a:endParaRPr lang="en-US" sz="11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384048">
                <a:tc>
                  <a:txBody>
                    <a:bodyPr/>
                    <a:lstStyle/>
                    <a:p>
                      <a:pPr marL="0" indent="0">
                        <a:buNone/>
                      </a:pPr>
                      <a:r>
                        <a:rPr lang="en-US" sz="1050" b="1" dirty="0">
                          <a:solidFill>
                            <a:srgbClr val="0B1F3A"/>
                          </a:solidFill>
                          <a:latin typeface="Calibri" pitchFamily="34" charset="0"/>
                          <a:ea typeface="Calibri" pitchFamily="34" charset="-122"/>
                          <a:cs typeface="Calibri" pitchFamily="34" charset="-120"/>
                        </a:rPr>
                        <a:t>Market Risk</a:t>
                      </a:r>
                      <a:endParaRPr lang="en-US" sz="105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MEDIUM</a:t>
                      </a:r>
                      <a:endParaRPr lang="en-US" sz="95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8860B"/>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MEDIUM</a:t>
                      </a:r>
                      <a:endParaRPr lang="en-US" sz="95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8860B"/>
                    </a:solidFill>
                  </a:tcPr>
                </a:tc>
                <a:extLst>
                  <a:ext uri="{0D108BD9-81ED-4DB2-BD59-A6C34878D82A}">
                    <a16:rowId xmlns:a16="http://schemas.microsoft.com/office/drawing/2014/main" val="10001"/>
                  </a:ext>
                </a:extLst>
              </a:tr>
              <a:tr h="384048">
                <a:tc>
                  <a:txBody>
                    <a:bodyPr/>
                    <a:lstStyle/>
                    <a:p>
                      <a:pPr marL="0" indent="0">
                        <a:buNone/>
                      </a:pPr>
                      <a:r>
                        <a:rPr lang="en-US" sz="1050" b="1" dirty="0">
                          <a:solidFill>
                            <a:srgbClr val="0B1F3A"/>
                          </a:solidFill>
                          <a:latin typeface="Calibri" pitchFamily="34" charset="0"/>
                          <a:ea typeface="Calibri" pitchFamily="34" charset="-122"/>
                          <a:cs typeface="Calibri" pitchFamily="34" charset="-120"/>
                        </a:rPr>
                        <a:t>Developer Risk</a:t>
                      </a:r>
                      <a:endParaRPr lang="en-US" sz="105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1F6"/>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LOW</a:t>
                      </a:r>
                      <a:endParaRPr lang="en-US" sz="95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E7B4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LOW</a:t>
                      </a:r>
                      <a:endParaRPr lang="en-US" sz="95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E7B45"/>
                    </a:solidFill>
                  </a:tcPr>
                </a:tc>
                <a:extLst>
                  <a:ext uri="{0D108BD9-81ED-4DB2-BD59-A6C34878D82A}">
                    <a16:rowId xmlns:a16="http://schemas.microsoft.com/office/drawing/2014/main" val="10002"/>
                  </a:ext>
                </a:extLst>
              </a:tr>
              <a:tr h="384048">
                <a:tc>
                  <a:txBody>
                    <a:bodyPr/>
                    <a:lstStyle/>
                    <a:p>
                      <a:pPr marL="0" indent="0">
                        <a:buNone/>
                      </a:pPr>
                      <a:r>
                        <a:rPr lang="en-US" sz="1050" b="1" dirty="0">
                          <a:solidFill>
                            <a:srgbClr val="0B1F3A"/>
                          </a:solidFill>
                          <a:latin typeface="Calibri" pitchFamily="34" charset="0"/>
                          <a:ea typeface="Calibri" pitchFamily="34" charset="-122"/>
                          <a:cs typeface="Calibri" pitchFamily="34" charset="-120"/>
                        </a:rPr>
                        <a:t>Construction Risk</a:t>
                      </a:r>
                      <a:endParaRPr lang="en-US" sz="105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MEDIUM</a:t>
                      </a:r>
                      <a:endParaRPr lang="en-US" sz="95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8860B"/>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MED–LOW</a:t>
                      </a:r>
                      <a:endParaRPr lang="en-US" sz="95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FA646"/>
                    </a:solidFill>
                  </a:tcPr>
                </a:tc>
                <a:extLst>
                  <a:ext uri="{0D108BD9-81ED-4DB2-BD59-A6C34878D82A}">
                    <a16:rowId xmlns:a16="http://schemas.microsoft.com/office/drawing/2014/main" val="10003"/>
                  </a:ext>
                </a:extLst>
              </a:tr>
              <a:tr h="384048">
                <a:tc>
                  <a:txBody>
                    <a:bodyPr/>
                    <a:lstStyle/>
                    <a:p>
                      <a:pPr marL="0" indent="0">
                        <a:buNone/>
                      </a:pPr>
                      <a:r>
                        <a:rPr lang="en-US" sz="1050" b="1" dirty="0">
                          <a:solidFill>
                            <a:srgbClr val="0B1F3A"/>
                          </a:solidFill>
                          <a:latin typeface="Calibri" pitchFamily="34" charset="0"/>
                          <a:ea typeface="Calibri" pitchFamily="34" charset="-122"/>
                          <a:cs typeface="Calibri" pitchFamily="34" charset="-120"/>
                        </a:rPr>
                        <a:t>Supply Risk</a:t>
                      </a:r>
                      <a:endParaRPr lang="en-US" sz="105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1F6"/>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MED–HIGH</a:t>
                      </a:r>
                      <a:endParaRPr lang="en-US" sz="95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97A2B"/>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MEDIUM</a:t>
                      </a:r>
                      <a:endParaRPr lang="en-US" sz="95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8860B"/>
                    </a:solidFill>
                  </a:tcPr>
                </a:tc>
                <a:extLst>
                  <a:ext uri="{0D108BD9-81ED-4DB2-BD59-A6C34878D82A}">
                    <a16:rowId xmlns:a16="http://schemas.microsoft.com/office/drawing/2014/main" val="10004"/>
                  </a:ext>
                </a:extLst>
              </a:tr>
              <a:tr h="384048">
                <a:tc>
                  <a:txBody>
                    <a:bodyPr/>
                    <a:lstStyle/>
                    <a:p>
                      <a:pPr marL="0" indent="0">
                        <a:buNone/>
                      </a:pPr>
                      <a:r>
                        <a:rPr lang="en-US" sz="1050" b="1" dirty="0">
                          <a:solidFill>
                            <a:srgbClr val="0B1F3A"/>
                          </a:solidFill>
                          <a:latin typeface="Calibri" pitchFamily="34" charset="0"/>
                          <a:ea typeface="Calibri" pitchFamily="34" charset="-122"/>
                          <a:cs typeface="Calibri" pitchFamily="34" charset="-120"/>
                        </a:rPr>
                        <a:t>Liquidity Risk</a:t>
                      </a:r>
                      <a:endParaRPr lang="en-US" sz="105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LOW–MED</a:t>
                      </a:r>
                      <a:endParaRPr lang="en-US" sz="95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FA646"/>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MED–HIGH</a:t>
                      </a:r>
                      <a:endParaRPr lang="en-US" sz="95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97A2B"/>
                    </a:solidFill>
                  </a:tcPr>
                </a:tc>
                <a:extLst>
                  <a:ext uri="{0D108BD9-81ED-4DB2-BD59-A6C34878D82A}">
                    <a16:rowId xmlns:a16="http://schemas.microsoft.com/office/drawing/2014/main" val="10005"/>
                  </a:ext>
                </a:extLst>
              </a:tr>
              <a:tr h="384048">
                <a:tc>
                  <a:txBody>
                    <a:bodyPr/>
                    <a:lstStyle/>
                    <a:p>
                      <a:pPr marL="0" indent="0">
                        <a:buNone/>
                      </a:pPr>
                      <a:r>
                        <a:rPr lang="en-US" sz="1050" b="1" dirty="0">
                          <a:solidFill>
                            <a:srgbClr val="0B1F3A"/>
                          </a:solidFill>
                          <a:latin typeface="Calibri" pitchFamily="34" charset="0"/>
                          <a:ea typeface="Calibri" pitchFamily="34" charset="-122"/>
                          <a:cs typeface="Calibri" pitchFamily="34" charset="-120"/>
                        </a:rPr>
                        <a:t>Regulatory Risk</a:t>
                      </a:r>
                      <a:endParaRPr lang="en-US" sz="105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1F6"/>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LOW</a:t>
                      </a:r>
                      <a:endParaRPr lang="en-US" sz="95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E7B4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LOW</a:t>
                      </a:r>
                      <a:endParaRPr lang="en-US" sz="95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E7B45"/>
                    </a:solidFill>
                  </a:tcPr>
                </a:tc>
                <a:extLst>
                  <a:ext uri="{0D108BD9-81ED-4DB2-BD59-A6C34878D82A}">
                    <a16:rowId xmlns:a16="http://schemas.microsoft.com/office/drawing/2014/main" val="10006"/>
                  </a:ext>
                </a:extLst>
              </a:tr>
              <a:tr h="384048">
                <a:tc>
                  <a:txBody>
                    <a:bodyPr/>
                    <a:lstStyle/>
                    <a:p>
                      <a:pPr marL="0" indent="0">
                        <a:buNone/>
                      </a:pPr>
                      <a:r>
                        <a:rPr lang="en-US" sz="1050" b="1" dirty="0">
                          <a:solidFill>
                            <a:srgbClr val="0B1F3A"/>
                          </a:solidFill>
                          <a:latin typeface="Calibri" pitchFamily="34" charset="0"/>
                          <a:ea typeface="Calibri" pitchFamily="34" charset="-122"/>
                          <a:cs typeface="Calibri" pitchFamily="34" charset="-120"/>
                        </a:rPr>
                        <a:t>Economic Risk</a:t>
                      </a:r>
                      <a:endParaRPr lang="en-US" sz="105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LOW–MED</a:t>
                      </a:r>
                      <a:endParaRPr lang="en-US" sz="95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FA646"/>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LOW–MED</a:t>
                      </a:r>
                      <a:endParaRPr lang="en-US" sz="95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FA646"/>
                    </a:solidFill>
                  </a:tcPr>
                </a:tc>
                <a:extLst>
                  <a:ext uri="{0D108BD9-81ED-4DB2-BD59-A6C34878D82A}">
                    <a16:rowId xmlns:a16="http://schemas.microsoft.com/office/drawing/2014/main" val="10007"/>
                  </a:ext>
                </a:extLst>
              </a:tr>
              <a:tr h="384048">
                <a:tc>
                  <a:txBody>
                    <a:bodyPr/>
                    <a:lstStyle/>
                    <a:p>
                      <a:pPr marL="0" indent="0">
                        <a:buNone/>
                      </a:pPr>
                      <a:r>
                        <a:rPr lang="en-US" sz="1050" b="1" dirty="0">
                          <a:solidFill>
                            <a:srgbClr val="0B1F3A"/>
                          </a:solidFill>
                          <a:latin typeface="Calibri" pitchFamily="34" charset="0"/>
                          <a:ea typeface="Calibri" pitchFamily="34" charset="-122"/>
                          <a:cs typeface="Calibri" pitchFamily="34" charset="-120"/>
                        </a:rPr>
                        <a:t>Currency Risk</a:t>
                      </a:r>
                      <a:endParaRPr lang="en-US" sz="105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1F6"/>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LOW</a:t>
                      </a:r>
                      <a:endParaRPr lang="en-US" sz="95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E7B4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LOW</a:t>
                      </a:r>
                      <a:endParaRPr lang="en-US" sz="95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E7B45"/>
                    </a:solidFill>
                  </a:tcPr>
                </a:tc>
                <a:extLst>
                  <a:ext uri="{0D108BD9-81ED-4DB2-BD59-A6C34878D82A}">
                    <a16:rowId xmlns:a16="http://schemas.microsoft.com/office/drawing/2014/main" val="10008"/>
                  </a:ext>
                </a:extLst>
              </a:tr>
            </a:tbl>
          </a:graphicData>
        </a:graphic>
      </p:graphicFrame>
      <p:sp>
        <p:nvSpPr>
          <p:cNvPr id="5" name="Shape 2"/>
          <p:cNvSpPr/>
          <p:nvPr/>
        </p:nvSpPr>
        <p:spPr>
          <a:xfrm>
            <a:off x="7726680" y="1417320"/>
            <a:ext cx="3962095" cy="1371600"/>
          </a:xfrm>
          <a:prstGeom prst="rect">
            <a:avLst/>
          </a:prstGeom>
          <a:solidFill>
            <a:srgbClr val="0B1F3A"/>
          </a:solidFill>
          <a:ln/>
          <a:effectLst>
            <a:outerShdw blurRad="88900" dist="25400" dir="5400000" algn="bl" rotWithShape="0">
              <a:srgbClr val="0B1F3A">
                <a:alpha val="10000"/>
              </a:srgbClr>
            </a:outerShdw>
          </a:effectLst>
        </p:spPr>
      </p:sp>
      <p:sp>
        <p:nvSpPr>
          <p:cNvPr id="6" name="Text 3"/>
          <p:cNvSpPr/>
          <p:nvPr/>
        </p:nvSpPr>
        <p:spPr>
          <a:xfrm>
            <a:off x="7927848" y="1563624"/>
            <a:ext cx="3559759" cy="237744"/>
          </a:xfrm>
          <a:prstGeom prst="rect">
            <a:avLst/>
          </a:prstGeom>
          <a:noFill/>
          <a:ln/>
        </p:spPr>
        <p:txBody>
          <a:bodyPr wrap="square" lIns="0" tIns="0" rIns="0" bIns="0" rtlCol="0" anchor="ctr"/>
          <a:lstStyle/>
          <a:p>
            <a:pPr marL="0" indent="0">
              <a:buNone/>
            </a:pPr>
            <a:r>
              <a:rPr lang="en-US" sz="950" b="1" kern="0" spc="100" dirty="0">
                <a:solidFill>
                  <a:srgbClr val="C9A227"/>
                </a:solidFill>
                <a:latin typeface="Calibri" pitchFamily="34" charset="0"/>
                <a:ea typeface="Calibri" pitchFamily="34" charset="-122"/>
                <a:cs typeface="Calibri" pitchFamily="34" charset="-120"/>
              </a:rPr>
              <a:t>OVERALL RISK RATING</a:t>
            </a:r>
            <a:endParaRPr lang="en-US" sz="950" dirty="0"/>
          </a:p>
        </p:txBody>
      </p:sp>
      <p:sp>
        <p:nvSpPr>
          <p:cNvPr id="7" name="Text 4"/>
          <p:cNvSpPr/>
          <p:nvPr/>
        </p:nvSpPr>
        <p:spPr>
          <a:xfrm>
            <a:off x="7927848" y="1801368"/>
            <a:ext cx="3559759" cy="45720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LOW–MEDIUM</a:t>
            </a:r>
            <a:endParaRPr lang="en-US" sz="2200" dirty="0"/>
          </a:p>
        </p:txBody>
      </p:sp>
      <p:sp>
        <p:nvSpPr>
          <p:cNvPr id="8" name="Text 5"/>
          <p:cNvSpPr/>
          <p:nvPr/>
        </p:nvSpPr>
        <p:spPr>
          <a:xfrm>
            <a:off x="7927848" y="2276856"/>
            <a:ext cx="3559759" cy="457200"/>
          </a:xfrm>
          <a:prstGeom prst="rect">
            <a:avLst/>
          </a:prstGeom>
          <a:noFill/>
          <a:ln/>
        </p:spPr>
        <p:txBody>
          <a:bodyPr wrap="square" lIns="0" tIns="0" rIns="0" bIns="0" rtlCol="0" anchor="ctr"/>
          <a:lstStyle/>
          <a:p>
            <a:pPr marL="0" indent="0">
              <a:lnSpc>
                <a:spcPct val="105000"/>
              </a:lnSpc>
              <a:buNone/>
            </a:pPr>
            <a:r>
              <a:rPr lang="en-US" sz="900" dirty="0">
                <a:solidFill>
                  <a:srgbClr val="AEB9CC"/>
                </a:solidFill>
                <a:latin typeface="Calibri" pitchFamily="34" charset="0"/>
                <a:ea typeface="Calibri" pitchFamily="34" charset="-122"/>
                <a:cs typeface="Calibri" pitchFamily="34" charset="-120"/>
              </a:rPr>
              <a:t>Golf Acres — composite, both projects</a:t>
            </a:r>
            <a:endParaRPr lang="en-US" sz="900" dirty="0"/>
          </a:p>
        </p:txBody>
      </p:sp>
      <p:sp>
        <p:nvSpPr>
          <p:cNvPr id="9" name="Text 6"/>
          <p:cNvSpPr/>
          <p:nvPr/>
        </p:nvSpPr>
        <p:spPr>
          <a:xfrm>
            <a:off x="7726680" y="2953512"/>
            <a:ext cx="3962095" cy="237744"/>
          </a:xfrm>
          <a:prstGeom prst="rect">
            <a:avLst/>
          </a:prstGeom>
          <a:noFill/>
          <a:ln/>
        </p:spPr>
        <p:txBody>
          <a:bodyPr wrap="square" lIns="0" tIns="0" rIns="0" bIns="0" rtlCol="0" anchor="ctr"/>
          <a:lstStyle/>
          <a:p>
            <a:pPr marL="0" indent="0">
              <a:buNone/>
            </a:pPr>
            <a:r>
              <a:rPr lang="en-US" sz="950" b="1" kern="0" spc="100" dirty="0">
                <a:solidFill>
                  <a:srgbClr val="0B1F3A"/>
                </a:solidFill>
                <a:latin typeface="Calibri" pitchFamily="34" charset="0"/>
                <a:ea typeface="Calibri" pitchFamily="34" charset="-122"/>
                <a:cs typeface="Calibri" pitchFamily="34" charset="-120"/>
              </a:rPr>
              <a:t>KEY DIFFERENTIATOR</a:t>
            </a:r>
            <a:endParaRPr lang="en-US" sz="950" dirty="0"/>
          </a:p>
        </p:txBody>
      </p:sp>
      <p:sp>
        <p:nvSpPr>
          <p:cNvPr id="10" name="Text 7"/>
          <p:cNvSpPr/>
          <p:nvPr/>
        </p:nvSpPr>
        <p:spPr>
          <a:xfrm>
            <a:off x="7726680" y="3209544"/>
            <a:ext cx="3962095" cy="1371600"/>
          </a:xfrm>
          <a:prstGeom prst="rect">
            <a:avLst/>
          </a:prstGeom>
          <a:noFill/>
          <a:ln/>
        </p:spPr>
        <p:txBody>
          <a:bodyPr wrap="square" lIns="0" tIns="0" rIns="0" bIns="0" rtlCol="0" anchor="t"/>
          <a:lstStyle/>
          <a:p>
            <a:pPr marL="0" indent="0">
              <a:lnSpc>
                <a:spcPct val="115000"/>
              </a:lnSpc>
              <a:buNone/>
            </a:pPr>
            <a:r>
              <a:rPr lang="en-US" sz="1000" dirty="0">
                <a:solidFill>
                  <a:srgbClr val="666666"/>
                </a:solidFill>
                <a:latin typeface="Calibri" pitchFamily="34" charset="0"/>
                <a:ea typeface="Calibri" pitchFamily="34" charset="-122"/>
                <a:cs typeface="Calibri" pitchFamily="34" charset="-120"/>
              </a:rPr>
              <a:t>Developer, regulatory, economic, and currency risk are effectively identical. The differential that matters is liquidity risk and budget-fit risk — both favor Golf Acres.</a:t>
            </a:r>
            <a:endParaRPr lang="en-US" sz="1000" dirty="0"/>
          </a:p>
        </p:txBody>
      </p:sp>
      <p:sp>
        <p:nvSpPr>
          <p:cNvPr id="11" name="Shape 8"/>
          <p:cNvSpPr/>
          <p:nvPr/>
        </p:nvSpPr>
        <p:spPr>
          <a:xfrm>
            <a:off x="502920" y="5806440"/>
            <a:ext cx="11185855" cy="566928"/>
          </a:xfrm>
          <a:prstGeom prst="rect">
            <a:avLst/>
          </a:prstGeom>
          <a:solidFill>
            <a:srgbClr val="EEF1F6"/>
          </a:solidFill>
          <a:ln/>
        </p:spPr>
      </p:sp>
      <p:pic>
        <p:nvPicPr>
          <p:cNvPr id="12" name="Image 0" descr="icons/star_gold.png"/>
          <p:cNvPicPr>
            <a:picLocks noChangeAspect="1"/>
          </p:cNvPicPr>
          <p:nvPr/>
        </p:nvPicPr>
        <p:blipFill>
          <a:blip r:embed="rId3"/>
          <a:stretch>
            <a:fillRect/>
          </a:stretch>
        </p:blipFill>
        <p:spPr>
          <a:xfrm>
            <a:off x="667512" y="5952744"/>
            <a:ext cx="274320" cy="274320"/>
          </a:xfrm>
          <a:prstGeom prst="rect">
            <a:avLst/>
          </a:prstGeom>
        </p:spPr>
      </p:pic>
      <p:sp>
        <p:nvSpPr>
          <p:cNvPr id="13" name="Text 9"/>
          <p:cNvSpPr/>
          <p:nvPr/>
        </p:nvSpPr>
        <p:spPr>
          <a:xfrm>
            <a:off x="1069848" y="5806440"/>
            <a:ext cx="10454335" cy="566928"/>
          </a:xfrm>
          <a:prstGeom prst="rect">
            <a:avLst/>
          </a:prstGeom>
          <a:noFill/>
          <a:ln/>
        </p:spPr>
        <p:txBody>
          <a:bodyPr wrap="square" lIns="0" tIns="0" rIns="0" bIns="0" rtlCol="0" anchor="ctr"/>
          <a:lstStyle/>
          <a:p>
            <a:pPr marL="0" indent="0" algn="l">
              <a:lnSpc>
                <a:spcPct val="105000"/>
              </a:lnSpc>
              <a:buNone/>
            </a:pPr>
            <a:r>
              <a:rPr lang="en-US" sz="1050" b="1" kern="0" spc="100" dirty="0">
                <a:solidFill>
                  <a:srgbClr val="0B1F3A"/>
                </a:solidFill>
                <a:latin typeface="Calibri" pitchFamily="34" charset="0"/>
                <a:ea typeface="Calibri" pitchFamily="34" charset="-122"/>
                <a:cs typeface="Calibri" pitchFamily="34" charset="-120"/>
              </a:rPr>
              <a:t>EXECUTIVE INSIGHT   </a:t>
            </a:r>
            <a:r>
              <a:rPr lang="en-US" sz="1150" dirty="0">
                <a:solidFill>
                  <a:srgbClr val="0B1F3A"/>
                </a:solidFill>
                <a:latin typeface="Calibri" pitchFamily="34" charset="0"/>
                <a:ea typeface="Calibri" pitchFamily="34" charset="-122"/>
                <a:cs typeface="Calibri" pitchFamily="34" charset="-120"/>
              </a:rPr>
              <a:t>No single risk factor disqualifies either project — but the combined liquidity and budget-fit gap makes Greenspoint structurally higher-friction for this client.</a:t>
            </a:r>
            <a:endParaRPr lang="en-US" sz="1050" dirty="0"/>
          </a:p>
        </p:txBody>
      </p:sp>
      <p:sp>
        <p:nvSpPr>
          <p:cNvPr id="4" name="Text 10"/>
          <p:cNvSpPr/>
          <p:nvPr/>
        </p:nvSpPr>
        <p:spPr>
          <a:xfrm>
            <a:off x="502920" y="6510528"/>
            <a:ext cx="3657600" cy="256032"/>
          </a:xfrm>
          <a:prstGeom prst="rect">
            <a:avLst/>
          </a:prstGeom>
          <a:noFill/>
          <a:ln/>
        </p:spPr>
        <p:txBody>
          <a:bodyPr wrap="square" lIns="0" tIns="0" rIns="0" bIns="0" rtlCol="0" anchor="ctr"/>
          <a:lstStyle/>
          <a:p>
            <a:pPr marL="0" indent="0" algn="l">
              <a:buNone/>
            </a:pPr>
            <a:r>
              <a:rPr lang="en-US" sz="800" kern="0" spc="100" dirty="0">
                <a:solidFill>
                  <a:srgbClr val="9AA1AC"/>
                </a:solidFill>
                <a:latin typeface="Calibri" pitchFamily="34" charset="0"/>
                <a:ea typeface="Calibri" pitchFamily="34" charset="-122"/>
                <a:cs typeface="Calibri" pitchFamily="34" charset="-120"/>
              </a:rPr>
              <a:t>LUXURY REAL ESTATE INVESTMENT ADVISORY</a:t>
            </a:r>
            <a:endParaRPr lang="en-US" sz="800" dirty="0"/>
          </a:p>
        </p:txBody>
      </p:sp>
      <p:sp>
        <p:nvSpPr>
          <p:cNvPr id="15" name="Text 11"/>
          <p:cNvSpPr/>
          <p:nvPr/>
        </p:nvSpPr>
        <p:spPr>
          <a:xfrm>
            <a:off x="3809848" y="6510528"/>
            <a:ext cx="4572000" cy="256032"/>
          </a:xfrm>
          <a:prstGeom prst="rect">
            <a:avLst/>
          </a:prstGeom>
          <a:noFill/>
          <a:ln/>
        </p:spPr>
        <p:txBody>
          <a:bodyPr wrap="square" lIns="0" tIns="0" rIns="0" bIns="0" rtlCol="0" anchor="ctr"/>
          <a:lstStyle/>
          <a:p>
            <a:pPr marL="0" indent="0" algn="ctr">
              <a:buNone/>
            </a:pPr>
            <a:r>
              <a:rPr lang="en-US" sz="800" dirty="0">
                <a:solidFill>
                  <a:srgbClr val="9AA1AC"/>
                </a:solidFill>
                <a:latin typeface="Calibri" pitchFamily="34" charset="0"/>
                <a:ea typeface="Calibri" pitchFamily="34" charset="-122"/>
                <a:cs typeface="Calibri" pitchFamily="34" charset="-120"/>
              </a:rPr>
              <a:t>Risk Assessment</a:t>
            </a:r>
            <a:endParaRPr lang="en-US" sz="800" dirty="0"/>
          </a:p>
        </p:txBody>
      </p:sp>
      <p:sp>
        <p:nvSpPr>
          <p:cNvPr id="16" name="Text 12"/>
          <p:cNvSpPr/>
          <p:nvPr/>
        </p:nvSpPr>
        <p:spPr>
          <a:xfrm>
            <a:off x="8031175" y="6510528"/>
            <a:ext cx="3657600" cy="256032"/>
          </a:xfrm>
          <a:prstGeom prst="rect">
            <a:avLst/>
          </a:prstGeom>
          <a:noFill/>
          <a:ln/>
        </p:spPr>
        <p:txBody>
          <a:bodyPr wrap="square" lIns="0" tIns="0" rIns="0" bIns="0" rtlCol="0" anchor="ctr"/>
          <a:lstStyle/>
          <a:p>
            <a:pPr marL="0" indent="0" algn="r">
              <a:buNone/>
            </a:pPr>
            <a:r>
              <a:rPr lang="en-US" sz="800" dirty="0">
                <a:solidFill>
                  <a:srgbClr val="9AA1AC"/>
                </a:solidFill>
                <a:latin typeface="Calibri" pitchFamily="34" charset="0"/>
                <a:ea typeface="Calibri" pitchFamily="34" charset="-122"/>
                <a:cs typeface="Calibri" pitchFamily="34" charset="-120"/>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lgn="l">
              <a:buNone/>
            </a:pPr>
            <a:r>
              <a:rPr lang="en-US" sz="1150" b="1" kern="0" spc="200" dirty="0">
                <a:solidFill>
                  <a:srgbClr val="C9A227"/>
                </a:solidFill>
                <a:latin typeface="Calibri" pitchFamily="34" charset="0"/>
                <a:ea typeface="Calibri" pitchFamily="34" charset="-122"/>
                <a:cs typeface="Calibri" pitchFamily="34" charset="-120"/>
              </a:rPr>
              <a:t>SECTION 13 · COMPETITIVE LANDSCAPE</a:t>
            </a:r>
            <a:endParaRPr lang="en-US" sz="1150" dirty="0"/>
          </a:p>
        </p:txBody>
      </p:sp>
      <p:sp>
        <p:nvSpPr>
          <p:cNvPr id="3" name="Text 1"/>
          <p:cNvSpPr/>
          <p:nvPr/>
        </p:nvSpPr>
        <p:spPr>
          <a:xfrm>
            <a:off x="502920" y="658368"/>
            <a:ext cx="10607040" cy="566928"/>
          </a:xfrm>
          <a:prstGeom prst="rect">
            <a:avLst/>
          </a:prstGeom>
          <a:noFill/>
          <a:ln/>
        </p:spPr>
        <p:txBody>
          <a:bodyPr wrap="square" lIns="0" tIns="0" rIns="0" bIns="0" rtlCol="0" anchor="ctr"/>
          <a:lstStyle/>
          <a:p>
            <a:pPr marL="0" indent="0" algn="l">
              <a:buNone/>
            </a:pPr>
            <a:r>
              <a:rPr lang="en-US" sz="2600" b="1" dirty="0">
                <a:solidFill>
                  <a:srgbClr val="0B1F3A"/>
                </a:solidFill>
                <a:latin typeface="Cambria" pitchFamily="34" charset="0"/>
                <a:ea typeface="Cambria" pitchFamily="34" charset="-122"/>
                <a:cs typeface="Cambria" pitchFamily="34" charset="-120"/>
              </a:rPr>
              <a:t>Competitive Benchmark: Five Dubai Communities</a:t>
            </a:r>
            <a:endParaRPr lang="en-US" sz="2600" dirty="0"/>
          </a:p>
        </p:txBody>
      </p:sp>
      <p:sp>
        <p:nvSpPr>
          <p:cNvPr id="4" name="Text 2"/>
          <p:cNvSpPr/>
          <p:nvPr/>
        </p:nvSpPr>
        <p:spPr>
          <a:xfrm>
            <a:off x="502920" y="1417320"/>
            <a:ext cx="5029200" cy="237744"/>
          </a:xfrm>
          <a:prstGeom prst="rect">
            <a:avLst/>
          </a:prstGeom>
          <a:noFill/>
          <a:ln/>
        </p:spPr>
        <p:txBody>
          <a:bodyPr wrap="square" lIns="0" tIns="0" rIns="0" bIns="0" rtlCol="0" anchor="ctr"/>
          <a:lstStyle/>
          <a:p>
            <a:pPr marL="0" indent="0">
              <a:buNone/>
            </a:pPr>
            <a:r>
              <a:rPr lang="en-US" sz="950" b="1" kern="0" spc="30" dirty="0">
                <a:solidFill>
                  <a:srgbClr val="0B1F3A"/>
                </a:solidFill>
                <a:latin typeface="Calibri" pitchFamily="34" charset="0"/>
                <a:ea typeface="Calibri" pitchFamily="34" charset="-122"/>
                <a:cs typeface="Calibri" pitchFamily="34" charset="-120"/>
              </a:rPr>
              <a:t>RELATIVE POSITIONING (NORMALIZED 0–10 SCALE)</a:t>
            </a:r>
            <a:endParaRPr lang="en-US" sz="950" dirty="0"/>
          </a:p>
        </p:txBody>
      </p:sp>
      <p:graphicFrame>
        <p:nvGraphicFramePr>
          <p:cNvPr id="5" name="Chart 0"/>
          <p:cNvGraphicFramePr/>
          <p:nvPr/>
        </p:nvGraphicFramePr>
        <p:xfrm>
          <a:off x="502920" y="1691640"/>
          <a:ext cx="5029200" cy="27889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897880" y="1691640"/>
          <a:ext cx="5790895" cy="2194560"/>
        </p:xfrm>
        <a:graphic>
          <a:graphicData uri="http://schemas.openxmlformats.org/drawingml/2006/table">
            <a:tbl>
              <a:tblPr/>
              <a:tblGrid>
                <a:gridCol w="1853086">
                  <a:extLst>
                    <a:ext uri="{9D8B030D-6E8A-4147-A177-3AD203B41FA5}">
                      <a16:colId xmlns:a16="http://schemas.microsoft.com/office/drawing/2014/main" val="20000"/>
                    </a:ext>
                  </a:extLst>
                </a:gridCol>
                <a:gridCol w="1563542">
                  <a:extLst>
                    <a:ext uri="{9D8B030D-6E8A-4147-A177-3AD203B41FA5}">
                      <a16:colId xmlns:a16="http://schemas.microsoft.com/office/drawing/2014/main" val="20001"/>
                    </a:ext>
                  </a:extLst>
                </a:gridCol>
                <a:gridCol w="1216088">
                  <a:extLst>
                    <a:ext uri="{9D8B030D-6E8A-4147-A177-3AD203B41FA5}">
                      <a16:colId xmlns:a16="http://schemas.microsoft.com/office/drawing/2014/main" val="20002"/>
                    </a:ext>
                  </a:extLst>
                </a:gridCol>
                <a:gridCol w="1158179">
                  <a:extLst>
                    <a:ext uri="{9D8B030D-6E8A-4147-A177-3AD203B41FA5}">
                      <a16:colId xmlns:a16="http://schemas.microsoft.com/office/drawing/2014/main" val="20003"/>
                    </a:ext>
                  </a:extLst>
                </a:gridCol>
              </a:tblGrid>
              <a:tr h="365760">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Community</a:t>
                      </a:r>
                      <a:endParaRPr lang="en-US" sz="90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0B1F3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Entry Price</a:t>
                      </a:r>
                      <a:endParaRPr lang="en-US" sz="90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0B1F3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Yield</a:t>
                      </a:r>
                      <a:endParaRPr lang="en-US" sz="90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0B1F3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Risk</a:t>
                      </a:r>
                      <a:endParaRPr lang="en-US" sz="90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365760">
                <a:tc>
                  <a:txBody>
                    <a:bodyPr/>
                    <a:lstStyle/>
                    <a:p>
                      <a:pPr marL="0" indent="0" algn="l">
                        <a:buNone/>
                      </a:pPr>
                      <a:r>
                        <a:rPr lang="en-US" sz="900" b="1" dirty="0">
                          <a:solidFill>
                            <a:srgbClr val="0B1F3A"/>
                          </a:solidFill>
                          <a:latin typeface="Calibri" pitchFamily="34" charset="0"/>
                          <a:ea typeface="Calibri" pitchFamily="34" charset="-122"/>
                          <a:cs typeface="Calibri" pitchFamily="34" charset="-120"/>
                        </a:rPr>
                        <a:t>Golf Acres</a:t>
                      </a:r>
                      <a:endParaRPr lang="en-US" sz="90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B1F3A"/>
                          </a:solidFill>
                          <a:latin typeface="Calibri" pitchFamily="34" charset="0"/>
                          <a:ea typeface="Calibri" pitchFamily="34" charset="-122"/>
                          <a:cs typeface="Calibri" pitchFamily="34" charset="-120"/>
                        </a:rPr>
                        <a:t>AED 950K</a:t>
                      </a:r>
                      <a:endParaRPr lang="en-US" sz="90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B1F3A"/>
                          </a:solidFill>
                          <a:latin typeface="Calibri" pitchFamily="34" charset="0"/>
                          <a:ea typeface="Calibri" pitchFamily="34" charset="-122"/>
                          <a:cs typeface="Calibri" pitchFamily="34" charset="-120"/>
                        </a:rPr>
                        <a:t>~5.1%</a:t>
                      </a:r>
                      <a:endParaRPr lang="en-US" sz="90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B1F3A"/>
                          </a:solidFill>
                          <a:latin typeface="Calibri" pitchFamily="34" charset="0"/>
                          <a:ea typeface="Calibri" pitchFamily="34" charset="-122"/>
                          <a:cs typeface="Calibri" pitchFamily="34" charset="-120"/>
                        </a:rPr>
                        <a:t>Med</a:t>
                      </a:r>
                      <a:endParaRPr lang="en-US" sz="90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900" b="1" dirty="0">
                          <a:solidFill>
                            <a:srgbClr val="0B1F3A"/>
                          </a:solidFill>
                          <a:latin typeface="Calibri" pitchFamily="34" charset="0"/>
                          <a:ea typeface="Calibri" pitchFamily="34" charset="-122"/>
                          <a:cs typeface="Calibri" pitchFamily="34" charset="-120"/>
                        </a:rPr>
                        <a:t>Greenspoint</a:t>
                      </a:r>
                      <a:endParaRPr lang="en-US" sz="90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EEF1F6"/>
                    </a:solidFill>
                  </a:tcPr>
                </a:tc>
                <a:tc>
                  <a:txBody>
                    <a:bodyPr/>
                    <a:lstStyle/>
                    <a:p>
                      <a:pPr marL="0" indent="0" algn="ctr">
                        <a:buNone/>
                      </a:pPr>
                      <a:r>
                        <a:rPr lang="en-US" sz="900" dirty="0">
                          <a:solidFill>
                            <a:srgbClr val="0B1F3A"/>
                          </a:solidFill>
                          <a:latin typeface="Calibri" pitchFamily="34" charset="0"/>
                          <a:ea typeface="Calibri" pitchFamily="34" charset="-122"/>
                          <a:cs typeface="Calibri" pitchFamily="34" charset="-120"/>
                        </a:rPr>
                        <a:t>AED 3.36M</a:t>
                      </a:r>
                      <a:endParaRPr lang="en-US" sz="90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EEF1F6"/>
                    </a:solidFill>
                  </a:tcPr>
                </a:tc>
                <a:tc>
                  <a:txBody>
                    <a:bodyPr/>
                    <a:lstStyle/>
                    <a:p>
                      <a:pPr marL="0" indent="0" algn="ctr">
                        <a:buNone/>
                      </a:pPr>
                      <a:r>
                        <a:rPr lang="en-US" sz="900" dirty="0">
                          <a:solidFill>
                            <a:srgbClr val="0B1F3A"/>
                          </a:solidFill>
                          <a:latin typeface="Calibri" pitchFamily="34" charset="0"/>
                          <a:ea typeface="Calibri" pitchFamily="34" charset="-122"/>
                          <a:cs typeface="Calibri" pitchFamily="34" charset="-120"/>
                        </a:rPr>
                        <a:t>~4.1%</a:t>
                      </a:r>
                      <a:endParaRPr lang="en-US" sz="90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EEF1F6"/>
                    </a:solidFill>
                  </a:tcPr>
                </a:tc>
                <a:tc>
                  <a:txBody>
                    <a:bodyPr/>
                    <a:lstStyle/>
                    <a:p>
                      <a:pPr marL="0" indent="0" algn="ctr">
                        <a:buNone/>
                      </a:pPr>
                      <a:r>
                        <a:rPr lang="en-US" sz="900" dirty="0">
                          <a:solidFill>
                            <a:srgbClr val="0B1F3A"/>
                          </a:solidFill>
                          <a:latin typeface="Calibri" pitchFamily="34" charset="0"/>
                          <a:ea typeface="Calibri" pitchFamily="34" charset="-122"/>
                          <a:cs typeface="Calibri" pitchFamily="34" charset="-120"/>
                        </a:rPr>
                        <a:t>Med-Hi</a:t>
                      </a:r>
                      <a:endParaRPr lang="en-US" sz="90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EEF1F6"/>
                    </a:solidFill>
                  </a:tcPr>
                </a:tc>
                <a:extLst>
                  <a:ext uri="{0D108BD9-81ED-4DB2-BD59-A6C34878D82A}">
                    <a16:rowId xmlns:a16="http://schemas.microsoft.com/office/drawing/2014/main" val="10002"/>
                  </a:ext>
                </a:extLst>
              </a:tr>
              <a:tr h="365760">
                <a:tc>
                  <a:txBody>
                    <a:bodyPr/>
                    <a:lstStyle/>
                    <a:p>
                      <a:pPr marL="0" indent="0" algn="l">
                        <a:buNone/>
                      </a:pPr>
                      <a:r>
                        <a:rPr lang="en-US" sz="900" b="1" dirty="0">
                          <a:solidFill>
                            <a:srgbClr val="0B1F3A"/>
                          </a:solidFill>
                          <a:latin typeface="Calibri" pitchFamily="34" charset="0"/>
                          <a:ea typeface="Calibri" pitchFamily="34" charset="-122"/>
                          <a:cs typeface="Calibri" pitchFamily="34" charset="-120"/>
                        </a:rPr>
                        <a:t>Dubai Hills Est.</a:t>
                      </a:r>
                      <a:endParaRPr lang="en-US" sz="90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B1F3A"/>
                          </a:solidFill>
                          <a:latin typeface="Calibri" pitchFamily="34" charset="0"/>
                          <a:ea typeface="Calibri" pitchFamily="34" charset="-122"/>
                          <a:cs typeface="Calibri" pitchFamily="34" charset="-120"/>
                        </a:rPr>
                        <a:t>AED 1.5M+</a:t>
                      </a:r>
                      <a:endParaRPr lang="en-US" sz="90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B1F3A"/>
                          </a:solidFill>
                          <a:latin typeface="Calibri" pitchFamily="34" charset="0"/>
                          <a:ea typeface="Calibri" pitchFamily="34" charset="-122"/>
                          <a:cs typeface="Calibri" pitchFamily="34" charset="-120"/>
                        </a:rPr>
                        <a:t>6.5–7.5%</a:t>
                      </a:r>
                      <a:endParaRPr lang="en-US" sz="90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B1F3A"/>
                          </a:solidFill>
                          <a:latin typeface="Calibri" pitchFamily="34" charset="0"/>
                          <a:ea typeface="Calibri" pitchFamily="34" charset="-122"/>
                          <a:cs typeface="Calibri" pitchFamily="34" charset="-120"/>
                        </a:rPr>
                        <a:t>Low-Med</a:t>
                      </a:r>
                      <a:endParaRPr lang="en-US" sz="90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lang="en-US" sz="900" b="1" dirty="0">
                          <a:solidFill>
                            <a:srgbClr val="0B1F3A"/>
                          </a:solidFill>
                          <a:latin typeface="Calibri" pitchFamily="34" charset="0"/>
                          <a:ea typeface="Calibri" pitchFamily="34" charset="-122"/>
                          <a:cs typeface="Calibri" pitchFamily="34" charset="-120"/>
                        </a:rPr>
                        <a:t>Creek Harbour</a:t>
                      </a:r>
                      <a:endParaRPr lang="en-US" sz="90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EEF1F6"/>
                    </a:solidFill>
                  </a:tcPr>
                </a:tc>
                <a:tc>
                  <a:txBody>
                    <a:bodyPr/>
                    <a:lstStyle/>
                    <a:p>
                      <a:pPr marL="0" indent="0" algn="ctr">
                        <a:buNone/>
                      </a:pPr>
                      <a:r>
                        <a:rPr lang="en-US" sz="900" dirty="0">
                          <a:solidFill>
                            <a:srgbClr val="0B1F3A"/>
                          </a:solidFill>
                          <a:latin typeface="Calibri" pitchFamily="34" charset="0"/>
                          <a:ea typeface="Calibri" pitchFamily="34" charset="-122"/>
                          <a:cs typeface="Calibri" pitchFamily="34" charset="-120"/>
                        </a:rPr>
                        <a:t>AED 1.2M</a:t>
                      </a:r>
                      <a:endParaRPr lang="en-US" sz="90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EEF1F6"/>
                    </a:solidFill>
                  </a:tcPr>
                </a:tc>
                <a:tc>
                  <a:txBody>
                    <a:bodyPr/>
                    <a:lstStyle/>
                    <a:p>
                      <a:pPr marL="0" indent="0" algn="ctr">
                        <a:buNone/>
                      </a:pPr>
                      <a:r>
                        <a:rPr lang="en-US" sz="900" dirty="0">
                          <a:solidFill>
                            <a:srgbClr val="0B1F3A"/>
                          </a:solidFill>
                          <a:latin typeface="Calibri" pitchFamily="34" charset="0"/>
                          <a:ea typeface="Calibri" pitchFamily="34" charset="-122"/>
                          <a:cs typeface="Calibri" pitchFamily="34" charset="-120"/>
                        </a:rPr>
                        <a:t>5.8–7.2%</a:t>
                      </a:r>
                      <a:endParaRPr lang="en-US" sz="90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EEF1F6"/>
                    </a:solidFill>
                  </a:tcPr>
                </a:tc>
                <a:tc>
                  <a:txBody>
                    <a:bodyPr/>
                    <a:lstStyle/>
                    <a:p>
                      <a:pPr marL="0" indent="0" algn="ctr">
                        <a:buNone/>
                      </a:pPr>
                      <a:r>
                        <a:rPr lang="en-US" sz="900" dirty="0">
                          <a:solidFill>
                            <a:srgbClr val="0B1F3A"/>
                          </a:solidFill>
                          <a:latin typeface="Calibri" pitchFamily="34" charset="0"/>
                          <a:ea typeface="Calibri" pitchFamily="34" charset="-122"/>
                          <a:cs typeface="Calibri" pitchFamily="34" charset="-120"/>
                        </a:rPr>
                        <a:t>Low-Med</a:t>
                      </a:r>
                      <a:endParaRPr lang="en-US" sz="90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EEF1F6"/>
                    </a:solidFill>
                  </a:tcPr>
                </a:tc>
                <a:extLst>
                  <a:ext uri="{0D108BD9-81ED-4DB2-BD59-A6C34878D82A}">
                    <a16:rowId xmlns:a16="http://schemas.microsoft.com/office/drawing/2014/main" val="10004"/>
                  </a:ext>
                </a:extLst>
              </a:tr>
              <a:tr h="365760">
                <a:tc>
                  <a:txBody>
                    <a:bodyPr/>
                    <a:lstStyle/>
                    <a:p>
                      <a:pPr marL="0" indent="0" algn="l">
                        <a:buNone/>
                      </a:pPr>
                      <a:r>
                        <a:rPr lang="en-US" sz="900" b="1" dirty="0">
                          <a:solidFill>
                            <a:srgbClr val="0B1F3A"/>
                          </a:solidFill>
                          <a:latin typeface="Calibri" pitchFamily="34" charset="0"/>
                          <a:ea typeface="Calibri" pitchFamily="34" charset="-122"/>
                          <a:cs typeface="Calibri" pitchFamily="34" charset="-120"/>
                        </a:rPr>
                        <a:t>The Valley</a:t>
                      </a:r>
                      <a:endParaRPr lang="en-US" sz="90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B1F3A"/>
                          </a:solidFill>
                          <a:latin typeface="Calibri" pitchFamily="34" charset="0"/>
                          <a:ea typeface="Calibri" pitchFamily="34" charset="-122"/>
                          <a:cs typeface="Calibri" pitchFamily="34" charset="-120"/>
                        </a:rPr>
                        <a:t>AED 1.15–1.8M</a:t>
                      </a:r>
                      <a:endParaRPr lang="en-US" sz="90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B1F3A"/>
                          </a:solidFill>
                          <a:latin typeface="Calibri" pitchFamily="34" charset="0"/>
                          <a:ea typeface="Calibri" pitchFamily="34" charset="-122"/>
                          <a:cs typeface="Calibri" pitchFamily="34" charset="-120"/>
                        </a:rPr>
                        <a:t>&gt;6%</a:t>
                      </a:r>
                      <a:endParaRPr lang="en-US" sz="90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B1F3A"/>
                          </a:solidFill>
                          <a:latin typeface="Calibri" pitchFamily="34" charset="0"/>
                          <a:ea typeface="Calibri" pitchFamily="34" charset="-122"/>
                          <a:cs typeface="Calibri" pitchFamily="34" charset="-120"/>
                        </a:rPr>
                        <a:t>Low-Med</a:t>
                      </a:r>
                      <a:endParaRPr lang="en-US" sz="90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Text 3"/>
          <p:cNvSpPr/>
          <p:nvPr/>
        </p:nvSpPr>
        <p:spPr>
          <a:xfrm>
            <a:off x="5897880" y="3977640"/>
            <a:ext cx="5790895" cy="365760"/>
          </a:xfrm>
          <a:prstGeom prst="rect">
            <a:avLst/>
          </a:prstGeom>
          <a:noFill/>
          <a:ln/>
        </p:spPr>
        <p:txBody>
          <a:bodyPr wrap="square" lIns="0" tIns="0" rIns="0" bIns="0" rtlCol="0" anchor="ctr"/>
          <a:lstStyle/>
          <a:p>
            <a:pPr marL="0" indent="0">
              <a:lnSpc>
                <a:spcPct val="105000"/>
              </a:lnSpc>
              <a:buNone/>
            </a:pPr>
            <a:r>
              <a:rPr lang="en-US" sz="800" i="1" dirty="0">
                <a:solidFill>
                  <a:srgbClr val="9AA1AC"/>
                </a:solidFill>
                <a:latin typeface="Calibri" pitchFamily="34" charset="0"/>
                <a:ea typeface="Calibri" pitchFamily="34" charset="-122"/>
                <a:cs typeface="Calibri" pitchFamily="34" charset="-120"/>
              </a:rPr>
              <a:t>Source: Takween AlDar; Oliva; Casttio; PalmObserver; easternhousing.ae (Part 14).</a:t>
            </a:r>
            <a:endParaRPr lang="en-US" sz="800" dirty="0"/>
          </a:p>
        </p:txBody>
      </p:sp>
      <p:sp>
        <p:nvSpPr>
          <p:cNvPr id="8" name="Shape 4"/>
          <p:cNvSpPr/>
          <p:nvPr/>
        </p:nvSpPr>
        <p:spPr>
          <a:xfrm>
            <a:off x="502920" y="5806440"/>
            <a:ext cx="11185855" cy="566928"/>
          </a:xfrm>
          <a:prstGeom prst="rect">
            <a:avLst/>
          </a:prstGeom>
          <a:solidFill>
            <a:srgbClr val="EEF1F6"/>
          </a:solidFill>
          <a:ln/>
        </p:spPr>
      </p:sp>
      <p:pic>
        <p:nvPicPr>
          <p:cNvPr id="9" name="Image 0" descr="icons/star_gold.png"/>
          <p:cNvPicPr>
            <a:picLocks noChangeAspect="1"/>
          </p:cNvPicPr>
          <p:nvPr/>
        </p:nvPicPr>
        <p:blipFill>
          <a:blip r:embed="rId4"/>
          <a:stretch>
            <a:fillRect/>
          </a:stretch>
        </p:blipFill>
        <p:spPr>
          <a:xfrm>
            <a:off x="667512" y="5952744"/>
            <a:ext cx="274320" cy="274320"/>
          </a:xfrm>
          <a:prstGeom prst="rect">
            <a:avLst/>
          </a:prstGeom>
        </p:spPr>
      </p:pic>
      <p:sp>
        <p:nvSpPr>
          <p:cNvPr id="10" name="Text 5"/>
          <p:cNvSpPr/>
          <p:nvPr/>
        </p:nvSpPr>
        <p:spPr>
          <a:xfrm>
            <a:off x="1069848" y="5806440"/>
            <a:ext cx="10454335" cy="566928"/>
          </a:xfrm>
          <a:prstGeom prst="rect">
            <a:avLst/>
          </a:prstGeom>
          <a:noFill/>
          <a:ln/>
        </p:spPr>
        <p:txBody>
          <a:bodyPr wrap="square" lIns="0" tIns="0" rIns="0" bIns="0" rtlCol="0" anchor="ctr"/>
          <a:lstStyle/>
          <a:p>
            <a:pPr marL="0" indent="0" algn="l">
              <a:lnSpc>
                <a:spcPct val="105000"/>
              </a:lnSpc>
              <a:buNone/>
            </a:pPr>
            <a:r>
              <a:rPr lang="en-US" sz="1050" b="1" kern="0" spc="100" dirty="0">
                <a:solidFill>
                  <a:srgbClr val="0B1F3A"/>
                </a:solidFill>
                <a:latin typeface="Calibri" pitchFamily="34" charset="0"/>
                <a:ea typeface="Calibri" pitchFamily="34" charset="-122"/>
                <a:cs typeface="Calibri" pitchFamily="34" charset="-120"/>
              </a:rPr>
              <a:t>EXECUTIVE INSIGHT   </a:t>
            </a:r>
            <a:r>
              <a:rPr lang="en-US" sz="1150" dirty="0">
                <a:solidFill>
                  <a:srgbClr val="0B1F3A"/>
                </a:solidFill>
                <a:latin typeface="Calibri" pitchFamily="34" charset="0"/>
                <a:ea typeface="Calibri" pitchFamily="34" charset="-122"/>
                <a:cs typeface="Calibri" pitchFamily="34" charset="-120"/>
              </a:rPr>
              <a:t>Golf Acres trades affordability for a less mature appreciation track record — a deliberate, budget-driven trade-off rather than a weaker asset.</a:t>
            </a:r>
            <a:endParaRPr lang="en-US" sz="1050" dirty="0"/>
          </a:p>
        </p:txBody>
      </p:sp>
      <p:sp>
        <p:nvSpPr>
          <p:cNvPr id="11" name="Text 6"/>
          <p:cNvSpPr/>
          <p:nvPr/>
        </p:nvSpPr>
        <p:spPr>
          <a:xfrm>
            <a:off x="502920" y="6510528"/>
            <a:ext cx="3657600" cy="256032"/>
          </a:xfrm>
          <a:prstGeom prst="rect">
            <a:avLst/>
          </a:prstGeom>
          <a:noFill/>
          <a:ln/>
        </p:spPr>
        <p:txBody>
          <a:bodyPr wrap="square" lIns="0" tIns="0" rIns="0" bIns="0" rtlCol="0" anchor="ctr"/>
          <a:lstStyle/>
          <a:p>
            <a:pPr marL="0" indent="0" algn="l">
              <a:buNone/>
            </a:pPr>
            <a:r>
              <a:rPr lang="en-US" sz="800" kern="0" spc="100" dirty="0">
                <a:solidFill>
                  <a:srgbClr val="9AA1AC"/>
                </a:solidFill>
                <a:latin typeface="Calibri" pitchFamily="34" charset="0"/>
                <a:ea typeface="Calibri" pitchFamily="34" charset="-122"/>
                <a:cs typeface="Calibri" pitchFamily="34" charset="-120"/>
              </a:rPr>
              <a:t>LUXURY REAL ESTATE INVESTMENT ADVISORY</a:t>
            </a:r>
            <a:endParaRPr lang="en-US" sz="800" dirty="0"/>
          </a:p>
        </p:txBody>
      </p:sp>
      <p:sp>
        <p:nvSpPr>
          <p:cNvPr id="12" name="Text 7"/>
          <p:cNvSpPr/>
          <p:nvPr/>
        </p:nvSpPr>
        <p:spPr>
          <a:xfrm>
            <a:off x="3809848" y="6510528"/>
            <a:ext cx="4572000" cy="256032"/>
          </a:xfrm>
          <a:prstGeom prst="rect">
            <a:avLst/>
          </a:prstGeom>
          <a:noFill/>
          <a:ln/>
        </p:spPr>
        <p:txBody>
          <a:bodyPr wrap="square" lIns="0" tIns="0" rIns="0" bIns="0" rtlCol="0" anchor="ctr"/>
          <a:lstStyle/>
          <a:p>
            <a:pPr marL="0" indent="0" algn="ctr">
              <a:buNone/>
            </a:pPr>
            <a:r>
              <a:rPr lang="en-US" sz="800" dirty="0">
                <a:solidFill>
                  <a:srgbClr val="9AA1AC"/>
                </a:solidFill>
                <a:latin typeface="Calibri" pitchFamily="34" charset="0"/>
                <a:ea typeface="Calibri" pitchFamily="34" charset="-122"/>
                <a:cs typeface="Calibri" pitchFamily="34" charset="-120"/>
              </a:rPr>
              <a:t>Competitive Benchmark</a:t>
            </a:r>
            <a:endParaRPr lang="en-US" sz="800" dirty="0"/>
          </a:p>
        </p:txBody>
      </p:sp>
      <p:sp>
        <p:nvSpPr>
          <p:cNvPr id="13" name="Text 8"/>
          <p:cNvSpPr/>
          <p:nvPr/>
        </p:nvSpPr>
        <p:spPr>
          <a:xfrm>
            <a:off x="8031175" y="6510528"/>
            <a:ext cx="3657600" cy="256032"/>
          </a:xfrm>
          <a:prstGeom prst="rect">
            <a:avLst/>
          </a:prstGeom>
          <a:noFill/>
          <a:ln/>
        </p:spPr>
        <p:txBody>
          <a:bodyPr wrap="square" lIns="0" tIns="0" rIns="0" bIns="0" rtlCol="0" anchor="ctr"/>
          <a:lstStyle/>
          <a:p>
            <a:pPr marL="0" indent="0" algn="r">
              <a:buNone/>
            </a:pPr>
            <a:r>
              <a:rPr lang="en-US" sz="800" dirty="0">
                <a:solidFill>
                  <a:srgbClr val="9AA1AC"/>
                </a:solidFill>
                <a:latin typeface="Calibri" pitchFamily="34" charset="0"/>
                <a:ea typeface="Calibri" pitchFamily="34" charset="-122"/>
                <a:cs typeface="Calibri" pitchFamily="34" charset="-120"/>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lgn="l">
              <a:buNone/>
            </a:pPr>
            <a:r>
              <a:rPr lang="en-US" sz="1150" b="1" kern="0" spc="200" dirty="0">
                <a:solidFill>
                  <a:srgbClr val="C9A227"/>
                </a:solidFill>
                <a:latin typeface="Calibri" pitchFamily="34" charset="0"/>
                <a:ea typeface="Calibri" pitchFamily="34" charset="-122"/>
                <a:cs typeface="Calibri" pitchFamily="34" charset="-120"/>
              </a:rPr>
              <a:t>SECTION 14 · WEIGHTED SCORING MODEL</a:t>
            </a:r>
            <a:endParaRPr lang="en-US" sz="1150" dirty="0"/>
          </a:p>
        </p:txBody>
      </p:sp>
      <p:sp>
        <p:nvSpPr>
          <p:cNvPr id="3" name="Text 1"/>
          <p:cNvSpPr/>
          <p:nvPr/>
        </p:nvSpPr>
        <p:spPr>
          <a:xfrm>
            <a:off x="502920" y="658368"/>
            <a:ext cx="10607040" cy="566928"/>
          </a:xfrm>
          <a:prstGeom prst="rect">
            <a:avLst/>
          </a:prstGeom>
          <a:noFill/>
          <a:ln/>
        </p:spPr>
        <p:txBody>
          <a:bodyPr wrap="square" lIns="0" tIns="0" rIns="0" bIns="0" rtlCol="0" anchor="ctr"/>
          <a:lstStyle/>
          <a:p>
            <a:pPr marL="0" indent="0" algn="l">
              <a:buNone/>
            </a:pPr>
            <a:r>
              <a:rPr lang="en-US" sz="2600" b="1" dirty="0">
                <a:solidFill>
                  <a:srgbClr val="0B1F3A"/>
                </a:solidFill>
                <a:latin typeface="Cambria" pitchFamily="34" charset="0"/>
                <a:ea typeface="Cambria" pitchFamily="34" charset="-122"/>
                <a:cs typeface="Cambria" pitchFamily="34" charset="-120"/>
              </a:rPr>
              <a:t>Investment Scorecard: Why Golf Acres Wins</a:t>
            </a:r>
            <a:endParaRPr lang="en-US" sz="2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9144000" cy="2633472"/>
        </p:xfrm>
        <a:graphic>
          <a:graphicData uri="http://schemas.openxmlformats.org/drawingml/2006/table">
            <a:tbl>
              <a:tblPr/>
              <a:tblGrid>
                <a:gridCol w="242316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gridCol w="1417320">
                  <a:extLst>
                    <a:ext uri="{9D8B030D-6E8A-4147-A177-3AD203B41FA5}">
                      <a16:colId xmlns:a16="http://schemas.microsoft.com/office/drawing/2014/main" val="20003"/>
                    </a:ext>
                  </a:extLst>
                </a:gridCol>
                <a:gridCol w="3200400">
                  <a:extLst>
                    <a:ext uri="{9D8B030D-6E8A-4147-A177-3AD203B41FA5}">
                      <a16:colId xmlns:a16="http://schemas.microsoft.com/office/drawing/2014/main" val="20004"/>
                    </a:ext>
                  </a:extLst>
                </a:gridCol>
              </a:tblGrid>
              <a:tr h="329184">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Criterion</a:t>
                      </a:r>
                      <a:endParaRPr lang="en-US" sz="100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0B1F3A"/>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Wt.</a:t>
                      </a:r>
                      <a:endParaRPr lang="en-US" sz="100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0B1F3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Golf Acres</a:t>
                      </a:r>
                      <a:endParaRPr lang="en-US" sz="100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0B1F3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Greenspoint</a:t>
                      </a:r>
                      <a:endParaRPr lang="en-US" sz="100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0B1F3A"/>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Basis</a:t>
                      </a:r>
                      <a:endParaRPr lang="en-US" sz="100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329184">
                <a:tc>
                  <a:txBody>
                    <a:bodyPr/>
                    <a:lstStyle/>
                    <a:p>
                      <a:pPr marL="0" indent="0" algn="l">
                        <a:buNone/>
                      </a:pPr>
                      <a:r>
                        <a:rPr lang="en-US" sz="950" b="1" dirty="0">
                          <a:solidFill>
                            <a:srgbClr val="0B1F3A"/>
                          </a:solidFill>
                          <a:latin typeface="Calibri" pitchFamily="34" charset="0"/>
                          <a:ea typeface="Calibri" pitchFamily="34" charset="-122"/>
                          <a:cs typeface="Calibri" pitchFamily="34" charset="-120"/>
                        </a:rPr>
                        <a:t>Budget Fit</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marL="0" indent="0" algn="l">
                        <a:buNone/>
                      </a:pPr>
                      <a:r>
                        <a:rPr lang="en-US" sz="950" dirty="0">
                          <a:solidFill>
                            <a:srgbClr val="0B1F3A"/>
                          </a:solidFill>
                          <a:latin typeface="Calibri" pitchFamily="34" charset="0"/>
                          <a:ea typeface="Calibri" pitchFamily="34" charset="-122"/>
                          <a:cs typeface="Calibri" pitchFamily="34" charset="-120"/>
                        </a:rPr>
                        <a:t>30%</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1E7B45"/>
                          </a:solidFill>
                          <a:latin typeface="Calibri" pitchFamily="34" charset="0"/>
                          <a:ea typeface="Calibri" pitchFamily="34" charset="-122"/>
                          <a:cs typeface="Calibri" pitchFamily="34" charset="-120"/>
                        </a:rPr>
                        <a:t>30/30</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B22222"/>
                          </a:solidFill>
                          <a:latin typeface="Calibri" pitchFamily="34" charset="0"/>
                          <a:ea typeface="Calibri" pitchFamily="34" charset="-122"/>
                          <a:cs typeface="Calibri" pitchFamily="34" charset="-120"/>
                        </a:rPr>
                        <a:t>0/30</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marL="0" indent="0" algn="l">
                        <a:buNone/>
                      </a:pPr>
                      <a:r>
                        <a:rPr lang="en-US" sz="950" dirty="0">
                          <a:solidFill>
                            <a:srgbClr val="0B1F3A"/>
                          </a:solidFill>
                          <a:latin typeface="Calibri" pitchFamily="34" charset="0"/>
                          <a:ea typeface="Calibri" pitchFamily="34" charset="-122"/>
                          <a:cs typeface="Calibri" pitchFamily="34" charset="-120"/>
                        </a:rPr>
                        <a:t>Greenspoint exceeds budget by 68%+</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lgn="l">
                        <a:buNone/>
                      </a:pPr>
                      <a:r>
                        <a:rPr lang="en-US" sz="950" b="1" dirty="0">
                          <a:solidFill>
                            <a:srgbClr val="0B1F3A"/>
                          </a:solidFill>
                          <a:latin typeface="Calibri" pitchFamily="34" charset="0"/>
                          <a:ea typeface="Calibri" pitchFamily="34" charset="-122"/>
                          <a:cs typeface="Calibri" pitchFamily="34" charset="-120"/>
                        </a:rPr>
                        <a:t>Developer Quality</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EEF1F6"/>
                    </a:solidFill>
                  </a:tcPr>
                </a:tc>
                <a:tc>
                  <a:txBody>
                    <a:bodyPr/>
                    <a:lstStyle/>
                    <a:p>
                      <a:pPr marL="0" indent="0" algn="l">
                        <a:buNone/>
                      </a:pPr>
                      <a:r>
                        <a:rPr lang="en-US" sz="950" dirty="0">
                          <a:solidFill>
                            <a:srgbClr val="0B1F3A"/>
                          </a:solidFill>
                          <a:latin typeface="Calibri" pitchFamily="34" charset="0"/>
                          <a:ea typeface="Calibri" pitchFamily="34" charset="-122"/>
                          <a:cs typeface="Calibri" pitchFamily="34" charset="-120"/>
                        </a:rPr>
                        <a:t>15%</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EEF1F6"/>
                    </a:solidFill>
                  </a:tcPr>
                </a:tc>
                <a:tc>
                  <a:txBody>
                    <a:bodyPr/>
                    <a:lstStyle/>
                    <a:p>
                      <a:pPr marL="0" indent="0" algn="ctr">
                        <a:buNone/>
                      </a:pPr>
                      <a:r>
                        <a:rPr lang="en-US" sz="950" b="1" dirty="0">
                          <a:solidFill>
                            <a:srgbClr val="1E7B45"/>
                          </a:solidFill>
                          <a:latin typeface="Calibri" pitchFamily="34" charset="0"/>
                          <a:ea typeface="Calibri" pitchFamily="34" charset="-122"/>
                          <a:cs typeface="Calibri" pitchFamily="34" charset="-120"/>
                        </a:rPr>
                        <a:t>15/15</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EEF1F6"/>
                    </a:solidFill>
                  </a:tcPr>
                </a:tc>
                <a:tc>
                  <a:txBody>
                    <a:bodyPr/>
                    <a:lstStyle/>
                    <a:p>
                      <a:pPr marL="0" indent="0" algn="ctr">
                        <a:buNone/>
                      </a:pPr>
                      <a:r>
                        <a:rPr lang="en-US" sz="950" b="1" dirty="0">
                          <a:solidFill>
                            <a:srgbClr val="0B1F3A"/>
                          </a:solidFill>
                          <a:latin typeface="Calibri" pitchFamily="34" charset="0"/>
                          <a:ea typeface="Calibri" pitchFamily="34" charset="-122"/>
                          <a:cs typeface="Calibri" pitchFamily="34" charset="-120"/>
                        </a:rPr>
                        <a:t>15/15</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EEF1F6"/>
                    </a:solidFill>
                  </a:tcPr>
                </a:tc>
                <a:tc>
                  <a:txBody>
                    <a:bodyPr/>
                    <a:lstStyle/>
                    <a:p>
                      <a:pPr marL="0" indent="0" algn="l">
                        <a:buNone/>
                      </a:pPr>
                      <a:r>
                        <a:rPr lang="en-US" sz="950" dirty="0">
                          <a:solidFill>
                            <a:srgbClr val="0B1F3A"/>
                          </a:solidFill>
                          <a:latin typeface="Calibri" pitchFamily="34" charset="0"/>
                          <a:ea typeface="Calibri" pitchFamily="34" charset="-122"/>
                          <a:cs typeface="Calibri" pitchFamily="34" charset="-120"/>
                        </a:rPr>
                        <a:t>Identical — same developer/financials</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EEF1F6"/>
                    </a:solidFill>
                  </a:tcPr>
                </a:tc>
                <a:extLst>
                  <a:ext uri="{0D108BD9-81ED-4DB2-BD59-A6C34878D82A}">
                    <a16:rowId xmlns:a16="http://schemas.microsoft.com/office/drawing/2014/main" val="10002"/>
                  </a:ext>
                </a:extLst>
              </a:tr>
              <a:tr h="329184">
                <a:tc>
                  <a:txBody>
                    <a:bodyPr/>
                    <a:lstStyle/>
                    <a:p>
                      <a:pPr marL="0" indent="0" algn="l">
                        <a:buNone/>
                      </a:pPr>
                      <a:r>
                        <a:rPr lang="en-US" sz="950" b="1" dirty="0">
                          <a:solidFill>
                            <a:srgbClr val="0B1F3A"/>
                          </a:solidFill>
                          <a:latin typeface="Calibri" pitchFamily="34" charset="0"/>
                          <a:ea typeface="Calibri" pitchFamily="34" charset="-122"/>
                          <a:cs typeface="Calibri" pitchFamily="34" charset="-120"/>
                        </a:rPr>
                        <a:t>Liquidity / Transactions</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marL="0" indent="0" algn="l">
                        <a:buNone/>
                      </a:pPr>
                      <a:r>
                        <a:rPr lang="en-US" sz="950" dirty="0">
                          <a:solidFill>
                            <a:srgbClr val="0B1F3A"/>
                          </a:solidFill>
                          <a:latin typeface="Calibri" pitchFamily="34" charset="0"/>
                          <a:ea typeface="Calibri" pitchFamily="34" charset="-122"/>
                          <a:cs typeface="Calibri" pitchFamily="34" charset="-120"/>
                        </a:rPr>
                        <a:t>15%</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1E7B45"/>
                          </a:solidFill>
                          <a:latin typeface="Calibri" pitchFamily="34" charset="0"/>
                          <a:ea typeface="Calibri" pitchFamily="34" charset="-122"/>
                          <a:cs typeface="Calibri" pitchFamily="34" charset="-120"/>
                        </a:rPr>
                        <a:t>13/15</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B22222"/>
                          </a:solidFill>
                          <a:latin typeface="Calibri" pitchFamily="34" charset="0"/>
                          <a:ea typeface="Calibri" pitchFamily="34" charset="-122"/>
                          <a:cs typeface="Calibri" pitchFamily="34" charset="-120"/>
                        </a:rPr>
                        <a:t>5/15</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marL="0" indent="0" algn="l">
                        <a:buNone/>
                      </a:pPr>
                      <a:r>
                        <a:rPr lang="en-US" sz="950" dirty="0">
                          <a:solidFill>
                            <a:srgbClr val="0B1F3A"/>
                          </a:solidFill>
                          <a:latin typeface="Calibri" pitchFamily="34" charset="0"/>
                          <a:ea typeface="Calibri" pitchFamily="34" charset="-122"/>
                          <a:cs typeface="Calibri" pitchFamily="34" charset="-120"/>
                        </a:rPr>
                        <a:t>50 DLD sales vs. none located</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lgn="l">
                        <a:buNone/>
                      </a:pPr>
                      <a:r>
                        <a:rPr lang="en-US" sz="950" b="1" dirty="0">
                          <a:solidFill>
                            <a:srgbClr val="0B1F3A"/>
                          </a:solidFill>
                          <a:latin typeface="Calibri" pitchFamily="34" charset="0"/>
                          <a:ea typeface="Calibri" pitchFamily="34" charset="-122"/>
                          <a:cs typeface="Calibri" pitchFamily="34" charset="-120"/>
                        </a:rPr>
                        <a:t>Connectivity</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EEF1F6"/>
                    </a:solidFill>
                  </a:tcPr>
                </a:tc>
                <a:tc>
                  <a:txBody>
                    <a:bodyPr/>
                    <a:lstStyle/>
                    <a:p>
                      <a:pPr marL="0" indent="0" algn="l">
                        <a:buNone/>
                      </a:pPr>
                      <a:r>
                        <a:rPr lang="en-US" sz="950" dirty="0">
                          <a:solidFill>
                            <a:srgbClr val="0B1F3A"/>
                          </a:solidFill>
                          <a:latin typeface="Calibri" pitchFamily="34" charset="0"/>
                          <a:ea typeface="Calibri" pitchFamily="34" charset="-122"/>
                          <a:cs typeface="Calibri" pitchFamily="34" charset="-120"/>
                        </a:rPr>
                        <a:t>10%</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EEF1F6"/>
                    </a:solidFill>
                  </a:tcPr>
                </a:tc>
                <a:tc>
                  <a:txBody>
                    <a:bodyPr/>
                    <a:lstStyle/>
                    <a:p>
                      <a:pPr marL="0" indent="0" algn="ctr">
                        <a:buNone/>
                      </a:pPr>
                      <a:r>
                        <a:rPr lang="en-US" sz="950" b="1" dirty="0">
                          <a:solidFill>
                            <a:srgbClr val="1E7B45"/>
                          </a:solidFill>
                          <a:latin typeface="Calibri" pitchFamily="34" charset="0"/>
                          <a:ea typeface="Calibri" pitchFamily="34" charset="-122"/>
                          <a:cs typeface="Calibri" pitchFamily="34" charset="-120"/>
                        </a:rPr>
                        <a:t>9/10</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EEF1F6"/>
                    </a:solidFill>
                  </a:tcPr>
                </a:tc>
                <a:tc>
                  <a:txBody>
                    <a:bodyPr/>
                    <a:lstStyle/>
                    <a:p>
                      <a:pPr marL="0" indent="0" algn="ctr">
                        <a:buNone/>
                      </a:pPr>
                      <a:r>
                        <a:rPr lang="en-US" sz="950" b="1" dirty="0">
                          <a:solidFill>
                            <a:srgbClr val="0B1F3A"/>
                          </a:solidFill>
                          <a:latin typeface="Calibri" pitchFamily="34" charset="0"/>
                          <a:ea typeface="Calibri" pitchFamily="34" charset="-122"/>
                          <a:cs typeface="Calibri" pitchFamily="34" charset="-120"/>
                        </a:rPr>
                        <a:t>10/10</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EEF1F6"/>
                    </a:solidFill>
                  </a:tcPr>
                </a:tc>
                <a:tc>
                  <a:txBody>
                    <a:bodyPr/>
                    <a:lstStyle/>
                    <a:p>
                      <a:pPr marL="0" indent="0" algn="l">
                        <a:buNone/>
                      </a:pPr>
                      <a:r>
                        <a:rPr lang="en-US" sz="950" dirty="0">
                          <a:solidFill>
                            <a:srgbClr val="0B1F3A"/>
                          </a:solidFill>
                          <a:latin typeface="Calibri" pitchFamily="34" charset="0"/>
                          <a:ea typeface="Calibri" pitchFamily="34" charset="-122"/>
                          <a:cs typeface="Calibri" pitchFamily="34" charset="-120"/>
                        </a:rPr>
                        <a:t>Both strong; Greenspoint marginally closer</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EEF1F6"/>
                    </a:solidFill>
                  </a:tcPr>
                </a:tc>
                <a:extLst>
                  <a:ext uri="{0D108BD9-81ED-4DB2-BD59-A6C34878D82A}">
                    <a16:rowId xmlns:a16="http://schemas.microsoft.com/office/drawing/2014/main" val="10004"/>
                  </a:ext>
                </a:extLst>
              </a:tr>
              <a:tr h="329184">
                <a:tc>
                  <a:txBody>
                    <a:bodyPr/>
                    <a:lstStyle/>
                    <a:p>
                      <a:pPr marL="0" indent="0" algn="l">
                        <a:buNone/>
                      </a:pPr>
                      <a:r>
                        <a:rPr lang="en-US" sz="950" b="1" dirty="0">
                          <a:solidFill>
                            <a:srgbClr val="0B1F3A"/>
                          </a:solidFill>
                          <a:latin typeface="Calibri" pitchFamily="34" charset="0"/>
                          <a:ea typeface="Calibri" pitchFamily="34" charset="-122"/>
                          <a:cs typeface="Calibri" pitchFamily="34" charset="-120"/>
                        </a:rPr>
                        <a:t>Livability / Amenities</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marL="0" indent="0" algn="l">
                        <a:buNone/>
                      </a:pPr>
                      <a:r>
                        <a:rPr lang="en-US" sz="950" dirty="0">
                          <a:solidFill>
                            <a:srgbClr val="0B1F3A"/>
                          </a:solidFill>
                          <a:latin typeface="Calibri" pitchFamily="34" charset="0"/>
                          <a:ea typeface="Calibri" pitchFamily="34" charset="-122"/>
                          <a:cs typeface="Calibri" pitchFamily="34" charset="-120"/>
                        </a:rPr>
                        <a:t>10%</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1E7B45"/>
                          </a:solidFill>
                          <a:latin typeface="Calibri" pitchFamily="34" charset="0"/>
                          <a:ea typeface="Calibri" pitchFamily="34" charset="-122"/>
                          <a:cs typeface="Calibri" pitchFamily="34" charset="-120"/>
                        </a:rPr>
                        <a:t>9/10</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0B1F3A"/>
                          </a:solidFill>
                          <a:latin typeface="Calibri" pitchFamily="34" charset="0"/>
                          <a:ea typeface="Calibri" pitchFamily="34" charset="-122"/>
                          <a:cs typeface="Calibri" pitchFamily="34" charset="-120"/>
                        </a:rPr>
                        <a:t>9/10</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marL="0" indent="0" algn="l">
                        <a:buNone/>
                      </a:pPr>
                      <a:r>
                        <a:rPr lang="en-US" sz="950" dirty="0">
                          <a:solidFill>
                            <a:srgbClr val="0B1F3A"/>
                          </a:solidFill>
                          <a:latin typeface="Calibri" pitchFamily="34" charset="0"/>
                          <a:ea typeface="Calibri" pitchFamily="34" charset="-122"/>
                          <a:cs typeface="Calibri" pitchFamily="34" charset="-120"/>
                        </a:rPr>
                        <a:t>Comparable community amenities</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9184">
                <a:tc>
                  <a:txBody>
                    <a:bodyPr/>
                    <a:lstStyle/>
                    <a:p>
                      <a:pPr marL="0" indent="0" algn="l">
                        <a:buNone/>
                      </a:pPr>
                      <a:r>
                        <a:rPr lang="en-US" sz="950" b="1" dirty="0">
                          <a:solidFill>
                            <a:srgbClr val="0B1F3A"/>
                          </a:solidFill>
                          <a:latin typeface="Calibri" pitchFamily="34" charset="0"/>
                          <a:ea typeface="Calibri" pitchFamily="34" charset="-122"/>
                          <a:cs typeface="Calibri" pitchFamily="34" charset="-120"/>
                        </a:rPr>
                        <a:t>Regulatory &amp; Dev. Risk</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EEF1F6"/>
                    </a:solidFill>
                  </a:tcPr>
                </a:tc>
                <a:tc>
                  <a:txBody>
                    <a:bodyPr/>
                    <a:lstStyle/>
                    <a:p>
                      <a:pPr marL="0" indent="0" algn="l">
                        <a:buNone/>
                      </a:pPr>
                      <a:r>
                        <a:rPr lang="en-US" sz="950" dirty="0">
                          <a:solidFill>
                            <a:srgbClr val="0B1F3A"/>
                          </a:solidFill>
                          <a:latin typeface="Calibri" pitchFamily="34" charset="0"/>
                          <a:ea typeface="Calibri" pitchFamily="34" charset="-122"/>
                          <a:cs typeface="Calibri" pitchFamily="34" charset="-120"/>
                        </a:rPr>
                        <a:t>10%</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EEF1F6"/>
                    </a:solidFill>
                  </a:tcPr>
                </a:tc>
                <a:tc>
                  <a:txBody>
                    <a:bodyPr/>
                    <a:lstStyle/>
                    <a:p>
                      <a:pPr marL="0" indent="0" algn="ctr">
                        <a:buNone/>
                      </a:pPr>
                      <a:r>
                        <a:rPr lang="en-US" sz="950" b="1" dirty="0">
                          <a:solidFill>
                            <a:srgbClr val="1E7B45"/>
                          </a:solidFill>
                          <a:latin typeface="Calibri" pitchFamily="34" charset="0"/>
                          <a:ea typeface="Calibri" pitchFamily="34" charset="-122"/>
                          <a:cs typeface="Calibri" pitchFamily="34" charset="-120"/>
                        </a:rPr>
                        <a:t>10/10</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EEF1F6"/>
                    </a:solidFill>
                  </a:tcPr>
                </a:tc>
                <a:tc>
                  <a:txBody>
                    <a:bodyPr/>
                    <a:lstStyle/>
                    <a:p>
                      <a:pPr marL="0" indent="0" algn="ctr">
                        <a:buNone/>
                      </a:pPr>
                      <a:r>
                        <a:rPr lang="en-US" sz="950" b="1" dirty="0">
                          <a:solidFill>
                            <a:srgbClr val="0B1F3A"/>
                          </a:solidFill>
                          <a:latin typeface="Calibri" pitchFamily="34" charset="0"/>
                          <a:ea typeface="Calibri" pitchFamily="34" charset="-122"/>
                          <a:cs typeface="Calibri" pitchFamily="34" charset="-120"/>
                        </a:rPr>
                        <a:t>10/10</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EEF1F6"/>
                    </a:solidFill>
                  </a:tcPr>
                </a:tc>
                <a:tc>
                  <a:txBody>
                    <a:bodyPr/>
                    <a:lstStyle/>
                    <a:p>
                      <a:pPr marL="0" indent="0" algn="l">
                        <a:buNone/>
                      </a:pPr>
                      <a:r>
                        <a:rPr lang="en-US" sz="950" dirty="0">
                          <a:solidFill>
                            <a:srgbClr val="0B1F3A"/>
                          </a:solidFill>
                          <a:latin typeface="Calibri" pitchFamily="34" charset="0"/>
                          <a:ea typeface="Calibri" pitchFamily="34" charset="-122"/>
                          <a:cs typeface="Calibri" pitchFamily="34" charset="-120"/>
                        </a:rPr>
                        <a:t>Identical escrow/RERA framework</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EEF1F6"/>
                    </a:solidFill>
                  </a:tcPr>
                </a:tc>
                <a:extLst>
                  <a:ext uri="{0D108BD9-81ED-4DB2-BD59-A6C34878D82A}">
                    <a16:rowId xmlns:a16="http://schemas.microsoft.com/office/drawing/2014/main" val="10006"/>
                  </a:ext>
                </a:extLst>
              </a:tr>
              <a:tr h="329184">
                <a:tc>
                  <a:txBody>
                    <a:bodyPr/>
                    <a:lstStyle/>
                    <a:p>
                      <a:pPr marL="0" indent="0" algn="l">
                        <a:buNone/>
                      </a:pPr>
                      <a:r>
                        <a:rPr lang="en-US" sz="950" b="1" dirty="0">
                          <a:solidFill>
                            <a:srgbClr val="0B1F3A"/>
                          </a:solidFill>
                          <a:latin typeface="Calibri" pitchFamily="34" charset="0"/>
                          <a:ea typeface="Calibri" pitchFamily="34" charset="-122"/>
                          <a:cs typeface="Calibri" pitchFamily="34" charset="-120"/>
                        </a:rPr>
                        <a:t>Appreciation Exposure</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marL="0" indent="0" algn="l">
                        <a:buNone/>
                      </a:pPr>
                      <a:r>
                        <a:rPr lang="en-US" sz="950" dirty="0">
                          <a:solidFill>
                            <a:srgbClr val="0B1F3A"/>
                          </a:solidFill>
                          <a:latin typeface="Calibri" pitchFamily="34" charset="0"/>
                          <a:ea typeface="Calibri" pitchFamily="34" charset="-122"/>
                          <a:cs typeface="Calibri" pitchFamily="34" charset="-120"/>
                        </a:rPr>
                        <a:t>10%</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1E7B45"/>
                          </a:solidFill>
                          <a:latin typeface="Calibri" pitchFamily="34" charset="0"/>
                          <a:ea typeface="Calibri" pitchFamily="34" charset="-122"/>
                          <a:cs typeface="Calibri" pitchFamily="34" charset="-120"/>
                        </a:rPr>
                        <a:t>9/10</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0B1F3A"/>
                          </a:solidFill>
                          <a:latin typeface="Calibri" pitchFamily="34" charset="0"/>
                          <a:ea typeface="Calibri" pitchFamily="34" charset="-122"/>
                          <a:cs typeface="Calibri" pitchFamily="34" charset="-120"/>
                        </a:rPr>
                        <a:t>9/10</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tc>
                  <a:txBody>
                    <a:bodyPr/>
                    <a:lstStyle/>
                    <a:p>
                      <a:pPr marL="0" indent="0" algn="l">
                        <a:buNone/>
                      </a:pPr>
                      <a:r>
                        <a:rPr lang="en-US" sz="950" dirty="0">
                          <a:solidFill>
                            <a:srgbClr val="0B1F3A"/>
                          </a:solidFill>
                          <a:latin typeface="Calibri" pitchFamily="34" charset="0"/>
                          <a:ea typeface="Calibri" pitchFamily="34" charset="-122"/>
                          <a:cs typeface="Calibri" pitchFamily="34" charset="-120"/>
                        </a:rPr>
                        <a:t>Both equally exposed to airport catalyst</a:t>
                      </a:r>
                      <a:endParaRPr lang="en-US" sz="950" dirty="0">
                        <a:latin typeface="Calibri" charset="0"/>
                        <a:ea typeface="Calibri" charset="0"/>
                        <a:cs typeface="Calibri" charset="0"/>
                      </a:endParaRPr>
                    </a:p>
                  </a:txBody>
                  <a:tcPr anchor="ctr">
                    <a:lnL w="6350" cap="flat" cmpd="sng" algn="ctr">
                      <a:solidFill>
                        <a:srgbClr val="E2E5EA"/>
                      </a:solidFill>
                      <a:prstDash val="solid"/>
                      <a:round/>
                      <a:headEnd type="none" w="med" len="med"/>
                      <a:tailEnd type="none" w="med" len="med"/>
                    </a:lnL>
                    <a:lnR w="6350" cap="flat" cmpd="sng" algn="ctr">
                      <a:solidFill>
                        <a:srgbClr val="E2E5EA"/>
                      </a:solidFill>
                      <a:prstDash val="solid"/>
                      <a:round/>
                      <a:headEnd type="none" w="med" len="med"/>
                      <a:tailEnd type="none" w="med" len="med"/>
                    </a:lnR>
                    <a:lnT w="6350" cap="flat" cmpd="sng" algn="ctr">
                      <a:solidFill>
                        <a:srgbClr val="E2E5EA"/>
                      </a:solidFill>
                      <a:prstDash val="solid"/>
                      <a:round/>
                      <a:headEnd type="none" w="med" len="med"/>
                      <a:tailEnd type="none" w="med" len="med"/>
                    </a:lnT>
                    <a:lnB w="6350" cap="flat" cmpd="sng" algn="ctr">
                      <a:solidFill>
                        <a:srgbClr val="E2E5E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5" name="Shape 2"/>
          <p:cNvSpPr/>
          <p:nvPr/>
        </p:nvSpPr>
        <p:spPr>
          <a:xfrm>
            <a:off x="502920" y="4050792"/>
            <a:ext cx="11185855" cy="502920"/>
          </a:xfrm>
          <a:prstGeom prst="rect">
            <a:avLst/>
          </a:prstGeom>
          <a:solidFill>
            <a:srgbClr val="0B1F3A"/>
          </a:solidFill>
          <a:ln/>
        </p:spPr>
      </p:sp>
      <p:sp>
        <p:nvSpPr>
          <p:cNvPr id="6" name="Text 3"/>
          <p:cNvSpPr/>
          <p:nvPr/>
        </p:nvSpPr>
        <p:spPr>
          <a:xfrm>
            <a:off x="685800" y="4050792"/>
            <a:ext cx="2926080" cy="5029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TOTAL WEIGHTED SCORE</a:t>
            </a:r>
            <a:endParaRPr lang="en-US" sz="1150" dirty="0"/>
          </a:p>
        </p:txBody>
      </p:sp>
      <p:sp>
        <p:nvSpPr>
          <p:cNvPr id="7" name="Text 4"/>
          <p:cNvSpPr/>
          <p:nvPr/>
        </p:nvSpPr>
        <p:spPr>
          <a:xfrm>
            <a:off x="3611880" y="4050792"/>
            <a:ext cx="1417320" cy="502920"/>
          </a:xfrm>
          <a:prstGeom prst="rect">
            <a:avLst/>
          </a:prstGeom>
          <a:noFill/>
          <a:ln/>
        </p:spPr>
        <p:txBody>
          <a:bodyPr wrap="square" lIns="0" tIns="0" rIns="0" bIns="0" rtlCol="0" anchor="ctr"/>
          <a:lstStyle/>
          <a:p>
            <a:pPr marL="0" indent="0" algn="ctr">
              <a:buNone/>
            </a:pPr>
            <a:r>
              <a:rPr lang="en-US" sz="1600" b="1" dirty="0">
                <a:solidFill>
                  <a:srgbClr val="C9A227"/>
                </a:solidFill>
                <a:latin typeface="Cambria" pitchFamily="34" charset="0"/>
                <a:ea typeface="Cambria" pitchFamily="34" charset="-122"/>
                <a:cs typeface="Cambria" pitchFamily="34" charset="-120"/>
              </a:rPr>
              <a:t>95 / 100</a:t>
            </a:r>
            <a:endParaRPr lang="en-US" sz="1600" dirty="0"/>
          </a:p>
        </p:txBody>
      </p:sp>
      <p:sp>
        <p:nvSpPr>
          <p:cNvPr id="8" name="Text 5"/>
          <p:cNvSpPr/>
          <p:nvPr/>
        </p:nvSpPr>
        <p:spPr>
          <a:xfrm>
            <a:off x="5029200" y="4050792"/>
            <a:ext cx="1417320" cy="502920"/>
          </a:xfrm>
          <a:prstGeom prst="rect">
            <a:avLst/>
          </a:prstGeom>
          <a:noFill/>
          <a:ln/>
        </p:spPr>
        <p:txBody>
          <a:bodyPr wrap="square" lIns="0" tIns="0" rIns="0" bIns="0" rtlCol="0" anchor="ctr"/>
          <a:lstStyle/>
          <a:p>
            <a:pPr marL="0" indent="0" algn="ctr">
              <a:buNone/>
            </a:pPr>
            <a:r>
              <a:rPr lang="en-US" sz="1600" b="1" dirty="0">
                <a:solidFill>
                  <a:srgbClr val="8A95AC"/>
                </a:solidFill>
                <a:latin typeface="Cambria" pitchFamily="34" charset="0"/>
                <a:ea typeface="Cambria" pitchFamily="34" charset="-122"/>
                <a:cs typeface="Cambria" pitchFamily="34" charset="-120"/>
              </a:rPr>
              <a:t>58 / 100</a:t>
            </a:r>
            <a:endParaRPr lang="en-US" sz="1600" dirty="0"/>
          </a:p>
        </p:txBody>
      </p:sp>
      <p:sp>
        <p:nvSpPr>
          <p:cNvPr id="9" name="Text 6"/>
          <p:cNvSpPr/>
          <p:nvPr/>
        </p:nvSpPr>
        <p:spPr>
          <a:xfrm>
            <a:off x="502920" y="4690872"/>
            <a:ext cx="11185855" cy="365760"/>
          </a:xfrm>
          <a:prstGeom prst="rect">
            <a:avLst/>
          </a:prstGeom>
          <a:noFill/>
          <a:ln/>
        </p:spPr>
        <p:txBody>
          <a:bodyPr wrap="square" lIns="0" tIns="0" rIns="0" bIns="0" rtlCol="0" anchor="ctr"/>
          <a:lstStyle/>
          <a:p>
            <a:pPr marL="0" indent="0">
              <a:lnSpc>
                <a:spcPct val="110000"/>
              </a:lnSpc>
              <a:buNone/>
            </a:pPr>
            <a:r>
              <a:rPr lang="en-US" sz="950" i="1" dirty="0">
                <a:solidFill>
                  <a:srgbClr val="9AA1AC"/>
                </a:solidFill>
                <a:latin typeface="Calibri" pitchFamily="34" charset="0"/>
                <a:ea typeface="Calibri" pitchFamily="34" charset="-122"/>
                <a:cs typeface="Calibri" pitchFamily="34" charset="-120"/>
              </a:rPr>
              <a:t>Methodology: weights reflect THIS client's mandate (firm AED 2,000,000 budget). A different client profile would likely produce a different ranking — this is a client-specific score, not a universal verdict on either project.</a:t>
            </a:r>
            <a:endParaRPr lang="en-US" sz="950" dirty="0"/>
          </a:p>
        </p:txBody>
      </p:sp>
      <p:sp>
        <p:nvSpPr>
          <p:cNvPr id="10" name="Shape 7"/>
          <p:cNvSpPr/>
          <p:nvPr/>
        </p:nvSpPr>
        <p:spPr>
          <a:xfrm>
            <a:off x="502920" y="5897880"/>
            <a:ext cx="11185855" cy="566928"/>
          </a:xfrm>
          <a:prstGeom prst="rect">
            <a:avLst/>
          </a:prstGeom>
          <a:solidFill>
            <a:srgbClr val="EEF1F6"/>
          </a:solidFill>
          <a:ln/>
        </p:spPr>
      </p:sp>
      <p:pic>
        <p:nvPicPr>
          <p:cNvPr id="11" name="Image 0" descr="icons/star_gold.png"/>
          <p:cNvPicPr>
            <a:picLocks noChangeAspect="1"/>
          </p:cNvPicPr>
          <p:nvPr/>
        </p:nvPicPr>
        <p:blipFill>
          <a:blip r:embed="rId3"/>
          <a:stretch>
            <a:fillRect/>
          </a:stretch>
        </p:blipFill>
        <p:spPr>
          <a:xfrm>
            <a:off x="667512" y="6044184"/>
            <a:ext cx="274320" cy="274320"/>
          </a:xfrm>
          <a:prstGeom prst="rect">
            <a:avLst/>
          </a:prstGeom>
        </p:spPr>
      </p:pic>
      <p:sp>
        <p:nvSpPr>
          <p:cNvPr id="12" name="Text 8"/>
          <p:cNvSpPr/>
          <p:nvPr/>
        </p:nvSpPr>
        <p:spPr>
          <a:xfrm>
            <a:off x="1069848" y="5897880"/>
            <a:ext cx="10454335" cy="566928"/>
          </a:xfrm>
          <a:prstGeom prst="rect">
            <a:avLst/>
          </a:prstGeom>
          <a:noFill/>
          <a:ln/>
        </p:spPr>
        <p:txBody>
          <a:bodyPr wrap="square" lIns="0" tIns="0" rIns="0" bIns="0" rtlCol="0" anchor="ctr"/>
          <a:lstStyle/>
          <a:p>
            <a:pPr marL="0" indent="0" algn="l">
              <a:lnSpc>
                <a:spcPct val="105000"/>
              </a:lnSpc>
              <a:buNone/>
            </a:pPr>
            <a:r>
              <a:rPr lang="en-US" sz="1050" b="1" kern="0" spc="100" dirty="0">
                <a:solidFill>
                  <a:srgbClr val="0B1F3A"/>
                </a:solidFill>
                <a:latin typeface="Calibri" pitchFamily="34" charset="0"/>
                <a:ea typeface="Calibri" pitchFamily="34" charset="-122"/>
                <a:cs typeface="Calibri" pitchFamily="34" charset="-120"/>
              </a:rPr>
              <a:t>EXECUTIVE INSIGHT   </a:t>
            </a:r>
            <a:r>
              <a:rPr lang="en-US" sz="1150" dirty="0">
                <a:solidFill>
                  <a:srgbClr val="0B1F3A"/>
                </a:solidFill>
                <a:latin typeface="Calibri" pitchFamily="34" charset="0"/>
                <a:ea typeface="Calibri" pitchFamily="34" charset="-122"/>
                <a:cs typeface="Calibri" pitchFamily="34" charset="-120"/>
              </a:rPr>
              <a:t>Golf Acres wins on a 37-point margin driven almost entirely by Budget Fit and Liquidity — the two criteria most directly tied to this client's mandate.</a:t>
            </a:r>
            <a:endParaRPr lang="en-US" sz="1050" dirty="0"/>
          </a:p>
        </p:txBody>
      </p:sp>
      <p:sp>
        <p:nvSpPr>
          <p:cNvPr id="13" name="Text 9"/>
          <p:cNvSpPr/>
          <p:nvPr/>
        </p:nvSpPr>
        <p:spPr>
          <a:xfrm>
            <a:off x="502920" y="6510528"/>
            <a:ext cx="3657600" cy="256032"/>
          </a:xfrm>
          <a:prstGeom prst="rect">
            <a:avLst/>
          </a:prstGeom>
          <a:noFill/>
          <a:ln/>
        </p:spPr>
        <p:txBody>
          <a:bodyPr wrap="square" lIns="0" tIns="0" rIns="0" bIns="0" rtlCol="0" anchor="ctr"/>
          <a:lstStyle/>
          <a:p>
            <a:pPr marL="0" indent="0" algn="l">
              <a:buNone/>
            </a:pPr>
            <a:r>
              <a:rPr lang="en-US" sz="800" kern="0" spc="100" dirty="0">
                <a:solidFill>
                  <a:srgbClr val="9AA1AC"/>
                </a:solidFill>
                <a:latin typeface="Calibri" pitchFamily="34" charset="0"/>
                <a:ea typeface="Calibri" pitchFamily="34" charset="-122"/>
                <a:cs typeface="Calibri" pitchFamily="34" charset="-120"/>
              </a:rPr>
              <a:t>LUXURY REAL ESTATE INVESTMENT ADVISORY</a:t>
            </a:r>
            <a:endParaRPr lang="en-US" sz="800" dirty="0"/>
          </a:p>
        </p:txBody>
      </p:sp>
      <p:sp>
        <p:nvSpPr>
          <p:cNvPr id="14" name="Text 10"/>
          <p:cNvSpPr/>
          <p:nvPr/>
        </p:nvSpPr>
        <p:spPr>
          <a:xfrm>
            <a:off x="3809848" y="6510528"/>
            <a:ext cx="4572000" cy="256032"/>
          </a:xfrm>
          <a:prstGeom prst="rect">
            <a:avLst/>
          </a:prstGeom>
          <a:noFill/>
          <a:ln/>
        </p:spPr>
        <p:txBody>
          <a:bodyPr wrap="square" lIns="0" tIns="0" rIns="0" bIns="0" rtlCol="0" anchor="ctr"/>
          <a:lstStyle/>
          <a:p>
            <a:pPr marL="0" indent="0" algn="ctr">
              <a:buNone/>
            </a:pPr>
            <a:r>
              <a:rPr lang="en-US" sz="800" dirty="0">
                <a:solidFill>
                  <a:srgbClr val="9AA1AC"/>
                </a:solidFill>
                <a:latin typeface="Calibri" pitchFamily="34" charset="0"/>
                <a:ea typeface="Calibri" pitchFamily="34" charset="-122"/>
                <a:cs typeface="Calibri" pitchFamily="34" charset="-120"/>
              </a:rPr>
              <a:t>Investment Scorecard</a:t>
            </a:r>
            <a:endParaRPr lang="en-US" sz="800" dirty="0"/>
          </a:p>
        </p:txBody>
      </p:sp>
      <p:sp>
        <p:nvSpPr>
          <p:cNvPr id="15" name="Text 11"/>
          <p:cNvSpPr/>
          <p:nvPr/>
        </p:nvSpPr>
        <p:spPr>
          <a:xfrm>
            <a:off x="8031175" y="6510528"/>
            <a:ext cx="3657600" cy="256032"/>
          </a:xfrm>
          <a:prstGeom prst="rect">
            <a:avLst/>
          </a:prstGeom>
          <a:noFill/>
          <a:ln/>
        </p:spPr>
        <p:txBody>
          <a:bodyPr wrap="square" lIns="0" tIns="0" rIns="0" bIns="0" rtlCol="0" anchor="ctr"/>
          <a:lstStyle/>
          <a:p>
            <a:pPr marL="0" indent="0" algn="r">
              <a:buNone/>
            </a:pPr>
            <a:r>
              <a:rPr lang="en-US" sz="800" dirty="0">
                <a:solidFill>
                  <a:srgbClr val="9AA1AC"/>
                </a:solidFill>
                <a:latin typeface="Calibri" pitchFamily="34" charset="0"/>
                <a:ea typeface="Calibri" pitchFamily="34" charset="-122"/>
                <a:cs typeface="Calibri" pitchFamily="34" charset="-120"/>
              </a:rPr>
              <a:t>15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lgn="l">
              <a:buNone/>
            </a:pPr>
            <a:r>
              <a:rPr lang="en-US" sz="1150" b="1" kern="0" spc="200" dirty="0">
                <a:solidFill>
                  <a:srgbClr val="C9A227"/>
                </a:solidFill>
                <a:latin typeface="Calibri" pitchFamily="34" charset="0"/>
                <a:ea typeface="Calibri" pitchFamily="34" charset="-122"/>
                <a:cs typeface="Calibri" pitchFamily="34" charset="-120"/>
              </a:rPr>
              <a:t>SECTION 16 · BUYER SUITABILITY</a:t>
            </a:r>
            <a:endParaRPr lang="en-US" sz="1150" dirty="0"/>
          </a:p>
        </p:txBody>
      </p:sp>
      <p:sp>
        <p:nvSpPr>
          <p:cNvPr id="3" name="Text 1"/>
          <p:cNvSpPr/>
          <p:nvPr/>
        </p:nvSpPr>
        <p:spPr>
          <a:xfrm>
            <a:off x="502920" y="658368"/>
            <a:ext cx="10607040" cy="566928"/>
          </a:xfrm>
          <a:prstGeom prst="rect">
            <a:avLst/>
          </a:prstGeom>
          <a:noFill/>
          <a:ln/>
        </p:spPr>
        <p:txBody>
          <a:bodyPr wrap="square" lIns="0" tIns="0" rIns="0" bIns="0" rtlCol="0" anchor="ctr"/>
          <a:lstStyle/>
          <a:p>
            <a:pPr marL="0" indent="0" algn="l">
              <a:buNone/>
            </a:pPr>
            <a:r>
              <a:rPr lang="en-US" sz="2600" b="1" dirty="0">
                <a:solidFill>
                  <a:srgbClr val="0B1F3A"/>
                </a:solidFill>
                <a:latin typeface="Cambria" pitchFamily="34" charset="0"/>
                <a:ea typeface="Cambria" pitchFamily="34" charset="-122"/>
                <a:cs typeface="Cambria" pitchFamily="34" charset="-120"/>
              </a:rPr>
              <a:t>Target Buyer Analysis: Does the Client Fit?</a:t>
            </a:r>
            <a:endParaRPr lang="en-US" sz="2600" dirty="0"/>
          </a:p>
        </p:txBody>
      </p:sp>
      <p:sp>
        <p:nvSpPr>
          <p:cNvPr id="4" name="Shape 2"/>
          <p:cNvSpPr/>
          <p:nvPr/>
        </p:nvSpPr>
        <p:spPr>
          <a:xfrm>
            <a:off x="502920" y="1417320"/>
            <a:ext cx="5437480" cy="3749040"/>
          </a:xfrm>
          <a:prstGeom prst="rect">
            <a:avLst/>
          </a:prstGeom>
          <a:solidFill>
            <a:srgbClr val="FFFFFF"/>
          </a:solidFill>
          <a:ln w="12700">
            <a:solidFill>
              <a:srgbClr val="E2E5EA"/>
            </a:solidFill>
            <a:prstDash val="solid"/>
          </a:ln>
          <a:effectLst>
            <a:outerShdw blurRad="88900" dist="25400" dir="5400000" algn="bl" rotWithShape="0">
              <a:srgbClr val="0B1F3A">
                <a:alpha val="10000"/>
              </a:srgbClr>
            </a:outerShdw>
          </a:effectLst>
        </p:spPr>
      </p:sp>
      <p:sp>
        <p:nvSpPr>
          <p:cNvPr id="5" name="Text 3"/>
          <p:cNvSpPr/>
          <p:nvPr/>
        </p:nvSpPr>
        <p:spPr>
          <a:xfrm>
            <a:off x="758952" y="1600200"/>
            <a:ext cx="4925416" cy="329184"/>
          </a:xfrm>
          <a:prstGeom prst="rect">
            <a:avLst/>
          </a:prstGeom>
          <a:noFill/>
          <a:ln/>
        </p:spPr>
        <p:txBody>
          <a:bodyPr wrap="square" lIns="0" tIns="0" rIns="0" bIns="0" rtlCol="0" anchor="ctr"/>
          <a:lstStyle/>
          <a:p>
            <a:pPr marL="0" indent="0">
              <a:buNone/>
            </a:pPr>
            <a:r>
              <a:rPr lang="en-US" sz="1450" b="1" dirty="0">
                <a:solidFill>
                  <a:srgbClr val="0B1F3A"/>
                </a:solidFill>
                <a:latin typeface="Cambria" pitchFamily="34" charset="0"/>
                <a:ea typeface="Cambria" pitchFamily="34" charset="-122"/>
                <a:cs typeface="Cambria" pitchFamily="34" charset="-120"/>
              </a:rPr>
              <a:t>Golf Acres — Ideal Buyer Profiles</a:t>
            </a:r>
            <a:endParaRPr lang="en-US" sz="1450" dirty="0"/>
          </a:p>
        </p:txBody>
      </p:sp>
      <p:sp>
        <p:nvSpPr>
          <p:cNvPr id="6" name="Shape 4"/>
          <p:cNvSpPr/>
          <p:nvPr/>
        </p:nvSpPr>
        <p:spPr>
          <a:xfrm>
            <a:off x="758952" y="2002536"/>
            <a:ext cx="4925416" cy="0"/>
          </a:xfrm>
          <a:prstGeom prst="line">
            <a:avLst/>
          </a:prstGeom>
          <a:noFill/>
          <a:ln w="12700">
            <a:solidFill>
              <a:srgbClr val="E2E5EA"/>
            </a:solidFill>
            <a:prstDash val="solid"/>
          </a:ln>
        </p:spPr>
      </p:sp>
      <p:pic>
        <p:nvPicPr>
          <p:cNvPr id="7" name="Image 0" descr="icons/child_navy.png"/>
          <p:cNvPicPr>
            <a:picLocks noChangeAspect="1"/>
          </p:cNvPicPr>
          <p:nvPr/>
        </p:nvPicPr>
        <p:blipFill>
          <a:blip r:embed="rId3"/>
          <a:stretch>
            <a:fillRect/>
          </a:stretch>
        </p:blipFill>
        <p:spPr>
          <a:xfrm>
            <a:off x="758952" y="2203704"/>
            <a:ext cx="274320" cy="274320"/>
          </a:xfrm>
          <a:prstGeom prst="rect">
            <a:avLst/>
          </a:prstGeom>
        </p:spPr>
      </p:pic>
      <p:sp>
        <p:nvSpPr>
          <p:cNvPr id="8" name="Text 5"/>
          <p:cNvSpPr/>
          <p:nvPr/>
        </p:nvSpPr>
        <p:spPr>
          <a:xfrm>
            <a:off x="1161288" y="2148840"/>
            <a:ext cx="4523080" cy="237744"/>
          </a:xfrm>
          <a:prstGeom prst="rect">
            <a:avLst/>
          </a:prstGeom>
          <a:noFill/>
          <a:ln/>
        </p:spPr>
        <p:txBody>
          <a:bodyPr wrap="square" lIns="0" tIns="0" rIns="0" bIns="0" rtlCol="0" anchor="ctr"/>
          <a:lstStyle/>
          <a:p>
            <a:pPr marL="0" indent="0">
              <a:buNone/>
            </a:pPr>
            <a:r>
              <a:rPr lang="en-US" sz="1150" b="1" dirty="0">
                <a:solidFill>
                  <a:srgbClr val="0B1F3A"/>
                </a:solidFill>
                <a:latin typeface="Calibri" pitchFamily="34" charset="0"/>
                <a:ea typeface="Calibri" pitchFamily="34" charset="-122"/>
                <a:cs typeface="Calibri" pitchFamily="34" charset="-120"/>
              </a:rPr>
              <a:t>Families</a:t>
            </a:r>
            <a:endParaRPr lang="en-US" sz="1150" dirty="0"/>
          </a:p>
        </p:txBody>
      </p:sp>
      <p:sp>
        <p:nvSpPr>
          <p:cNvPr id="9" name="Text 6"/>
          <p:cNvSpPr/>
          <p:nvPr/>
        </p:nvSpPr>
        <p:spPr>
          <a:xfrm>
            <a:off x="1161288" y="2368296"/>
            <a:ext cx="4523080" cy="256032"/>
          </a:xfrm>
          <a:prstGeom prst="rect">
            <a:avLst/>
          </a:prstGeom>
          <a:noFill/>
          <a:ln/>
        </p:spPr>
        <p:txBody>
          <a:bodyPr wrap="square" lIns="0" tIns="0" rIns="0" bIns="0" rtlCol="0" anchor="ctr"/>
          <a:lstStyle/>
          <a:p>
            <a:pPr marL="0" indent="0">
              <a:buNone/>
            </a:pPr>
            <a:r>
              <a:rPr lang="en-US" sz="950" dirty="0">
                <a:solidFill>
                  <a:srgbClr val="666666"/>
                </a:solidFill>
                <a:latin typeface="Calibri" pitchFamily="34" charset="0"/>
                <a:ea typeface="Calibri" pitchFamily="34" charset="-122"/>
                <a:cs typeface="Calibri" pitchFamily="34" charset="-120"/>
              </a:rPr>
              <a:t>1–3 bed range; school 1.0 km away</a:t>
            </a:r>
            <a:endParaRPr lang="en-US" sz="950" dirty="0"/>
          </a:p>
        </p:txBody>
      </p:sp>
      <p:pic>
        <p:nvPicPr>
          <p:cNvPr id="10" name="Image 1" descr="icons/usertie_navy.png"/>
          <p:cNvPicPr>
            <a:picLocks noChangeAspect="1"/>
          </p:cNvPicPr>
          <p:nvPr/>
        </p:nvPicPr>
        <p:blipFill>
          <a:blip r:embed="rId4"/>
          <a:stretch>
            <a:fillRect/>
          </a:stretch>
        </p:blipFill>
        <p:spPr>
          <a:xfrm>
            <a:off x="758952" y="2807208"/>
            <a:ext cx="274320" cy="274320"/>
          </a:xfrm>
          <a:prstGeom prst="rect">
            <a:avLst/>
          </a:prstGeom>
        </p:spPr>
      </p:pic>
      <p:sp>
        <p:nvSpPr>
          <p:cNvPr id="11" name="Text 7"/>
          <p:cNvSpPr/>
          <p:nvPr/>
        </p:nvSpPr>
        <p:spPr>
          <a:xfrm>
            <a:off x="1161288" y="2752344"/>
            <a:ext cx="4523080" cy="237744"/>
          </a:xfrm>
          <a:prstGeom prst="rect">
            <a:avLst/>
          </a:prstGeom>
          <a:noFill/>
          <a:ln/>
        </p:spPr>
        <p:txBody>
          <a:bodyPr wrap="square" lIns="0" tIns="0" rIns="0" bIns="0" rtlCol="0" anchor="ctr"/>
          <a:lstStyle/>
          <a:p>
            <a:pPr marL="0" indent="0">
              <a:buNone/>
            </a:pPr>
            <a:r>
              <a:rPr lang="en-US" sz="1150" b="1" dirty="0">
                <a:solidFill>
                  <a:srgbClr val="0B1F3A"/>
                </a:solidFill>
                <a:latin typeface="Calibri" pitchFamily="34" charset="0"/>
                <a:ea typeface="Calibri" pitchFamily="34" charset="-122"/>
                <a:cs typeface="Calibri" pitchFamily="34" charset="-120"/>
              </a:rPr>
              <a:t>Aviation/Logistics Professionals</a:t>
            </a:r>
            <a:endParaRPr lang="en-US" sz="1150" dirty="0"/>
          </a:p>
        </p:txBody>
      </p:sp>
      <p:sp>
        <p:nvSpPr>
          <p:cNvPr id="12" name="Text 8"/>
          <p:cNvSpPr/>
          <p:nvPr/>
        </p:nvSpPr>
        <p:spPr>
          <a:xfrm>
            <a:off x="1161288" y="2971800"/>
            <a:ext cx="4523080" cy="256032"/>
          </a:xfrm>
          <a:prstGeom prst="rect">
            <a:avLst/>
          </a:prstGeom>
          <a:noFill/>
          <a:ln/>
        </p:spPr>
        <p:txBody>
          <a:bodyPr wrap="square" lIns="0" tIns="0" rIns="0" bIns="0" rtlCol="0" anchor="ctr"/>
          <a:lstStyle/>
          <a:p>
            <a:pPr marL="0" indent="0">
              <a:buNone/>
            </a:pPr>
            <a:r>
              <a:rPr lang="en-US" sz="950" dirty="0">
                <a:solidFill>
                  <a:srgbClr val="666666"/>
                </a:solidFill>
                <a:latin typeface="Calibri" pitchFamily="34" charset="0"/>
                <a:ea typeface="Calibri" pitchFamily="34" charset="-122"/>
                <a:cs typeface="Calibri" pitchFamily="34" charset="-120"/>
              </a:rPr>
              <a:t>7 min to Al Maktoum Airport workforce hub</a:t>
            </a:r>
            <a:endParaRPr lang="en-US" sz="950" dirty="0"/>
          </a:p>
        </p:txBody>
      </p:sp>
      <p:pic>
        <p:nvPicPr>
          <p:cNvPr id="13" name="Image 2" descr="icons/home_navy.png"/>
          <p:cNvPicPr>
            <a:picLocks noChangeAspect="1"/>
          </p:cNvPicPr>
          <p:nvPr/>
        </p:nvPicPr>
        <p:blipFill>
          <a:blip r:embed="rId5"/>
          <a:stretch>
            <a:fillRect/>
          </a:stretch>
        </p:blipFill>
        <p:spPr>
          <a:xfrm>
            <a:off x="758952" y="3410712"/>
            <a:ext cx="274320" cy="274320"/>
          </a:xfrm>
          <a:prstGeom prst="rect">
            <a:avLst/>
          </a:prstGeom>
        </p:spPr>
      </p:pic>
      <p:sp>
        <p:nvSpPr>
          <p:cNvPr id="14" name="Text 9"/>
          <p:cNvSpPr/>
          <p:nvPr/>
        </p:nvSpPr>
        <p:spPr>
          <a:xfrm>
            <a:off x="1161288" y="3355848"/>
            <a:ext cx="4523080" cy="237744"/>
          </a:xfrm>
          <a:prstGeom prst="rect">
            <a:avLst/>
          </a:prstGeom>
          <a:noFill/>
          <a:ln/>
        </p:spPr>
        <p:txBody>
          <a:bodyPr wrap="square" lIns="0" tIns="0" rIns="0" bIns="0" rtlCol="0" anchor="ctr"/>
          <a:lstStyle/>
          <a:p>
            <a:pPr marL="0" indent="0">
              <a:buNone/>
            </a:pPr>
            <a:r>
              <a:rPr lang="en-US" sz="1150" b="1" dirty="0">
                <a:solidFill>
                  <a:srgbClr val="0B1F3A"/>
                </a:solidFill>
                <a:latin typeface="Calibri" pitchFamily="34" charset="0"/>
                <a:ea typeface="Calibri" pitchFamily="34" charset="-122"/>
                <a:cs typeface="Calibri" pitchFamily="34" charset="-120"/>
              </a:rPr>
              <a:t>First-Time Buyers</a:t>
            </a:r>
            <a:endParaRPr lang="en-US" sz="1150" dirty="0"/>
          </a:p>
        </p:txBody>
      </p:sp>
      <p:sp>
        <p:nvSpPr>
          <p:cNvPr id="15" name="Text 10"/>
          <p:cNvSpPr/>
          <p:nvPr/>
        </p:nvSpPr>
        <p:spPr>
          <a:xfrm>
            <a:off x="1161288" y="3575304"/>
            <a:ext cx="4523080" cy="256032"/>
          </a:xfrm>
          <a:prstGeom prst="rect">
            <a:avLst/>
          </a:prstGeom>
          <a:noFill/>
          <a:ln/>
        </p:spPr>
        <p:txBody>
          <a:bodyPr wrap="square" lIns="0" tIns="0" rIns="0" bIns="0" rtlCol="0" anchor="ctr"/>
          <a:lstStyle/>
          <a:p>
            <a:pPr marL="0" indent="0">
              <a:buNone/>
            </a:pPr>
            <a:r>
              <a:rPr lang="en-US" sz="950" dirty="0">
                <a:solidFill>
                  <a:srgbClr val="666666"/>
                </a:solidFill>
                <a:latin typeface="Calibri" pitchFamily="34" charset="0"/>
                <a:ea typeface="Calibri" pitchFamily="34" charset="-122"/>
                <a:cs typeface="Calibri" pitchFamily="34" charset="-120"/>
              </a:rPr>
              <a:t>AED 950K entry below Dubai citywide average</a:t>
            </a:r>
            <a:endParaRPr lang="en-US" sz="950" dirty="0"/>
          </a:p>
        </p:txBody>
      </p:sp>
      <p:pic>
        <p:nvPicPr>
          <p:cNvPr id="16" name="Image 3" descr="icons/golf_navy.png"/>
          <p:cNvPicPr>
            <a:picLocks noChangeAspect="1"/>
          </p:cNvPicPr>
          <p:nvPr/>
        </p:nvPicPr>
        <p:blipFill>
          <a:blip r:embed="rId6"/>
          <a:stretch>
            <a:fillRect/>
          </a:stretch>
        </p:blipFill>
        <p:spPr>
          <a:xfrm>
            <a:off x="758952" y="4014216"/>
            <a:ext cx="274320" cy="274320"/>
          </a:xfrm>
          <a:prstGeom prst="rect">
            <a:avLst/>
          </a:prstGeom>
        </p:spPr>
      </p:pic>
      <p:sp>
        <p:nvSpPr>
          <p:cNvPr id="17" name="Text 11"/>
          <p:cNvSpPr/>
          <p:nvPr/>
        </p:nvSpPr>
        <p:spPr>
          <a:xfrm>
            <a:off x="1161288" y="3959352"/>
            <a:ext cx="4523080" cy="237744"/>
          </a:xfrm>
          <a:prstGeom prst="rect">
            <a:avLst/>
          </a:prstGeom>
          <a:noFill/>
          <a:ln/>
        </p:spPr>
        <p:txBody>
          <a:bodyPr wrap="square" lIns="0" tIns="0" rIns="0" bIns="0" rtlCol="0" anchor="ctr"/>
          <a:lstStyle/>
          <a:p>
            <a:pPr marL="0" indent="0">
              <a:buNone/>
            </a:pPr>
            <a:r>
              <a:rPr lang="en-US" sz="1150" b="1" dirty="0">
                <a:solidFill>
                  <a:srgbClr val="0B1F3A"/>
                </a:solidFill>
                <a:latin typeface="Calibri" pitchFamily="34" charset="0"/>
                <a:ea typeface="Calibri" pitchFamily="34" charset="-122"/>
                <a:cs typeface="Calibri" pitchFamily="34" charset="-120"/>
              </a:rPr>
              <a:t>Lifestyle / Golf Buyers</a:t>
            </a:r>
            <a:endParaRPr lang="en-US" sz="1150" dirty="0"/>
          </a:p>
        </p:txBody>
      </p:sp>
      <p:sp>
        <p:nvSpPr>
          <p:cNvPr id="18" name="Text 12"/>
          <p:cNvSpPr/>
          <p:nvPr/>
        </p:nvSpPr>
        <p:spPr>
          <a:xfrm>
            <a:off x="1161288" y="4178808"/>
            <a:ext cx="4523080" cy="256032"/>
          </a:xfrm>
          <a:prstGeom prst="rect">
            <a:avLst/>
          </a:prstGeom>
          <a:noFill/>
          <a:ln/>
        </p:spPr>
        <p:txBody>
          <a:bodyPr wrap="square" lIns="0" tIns="0" rIns="0" bIns="0" rtlCol="0" anchor="ctr"/>
          <a:lstStyle/>
          <a:p>
            <a:pPr marL="0" indent="0">
              <a:buNone/>
            </a:pPr>
            <a:r>
              <a:rPr lang="en-US" sz="950" dirty="0">
                <a:solidFill>
                  <a:srgbClr val="666666"/>
                </a:solidFill>
                <a:latin typeface="Calibri" pitchFamily="34" charset="0"/>
                <a:ea typeface="Calibri" pitchFamily="34" charset="-122"/>
                <a:cs typeface="Calibri" pitchFamily="34" charset="-120"/>
              </a:rPr>
              <a:t>Golf-course-facing mid-rise design</a:t>
            </a:r>
            <a:endParaRPr lang="en-US" sz="950" dirty="0"/>
          </a:p>
        </p:txBody>
      </p:sp>
      <p:sp>
        <p:nvSpPr>
          <p:cNvPr id="19" name="Shape 13"/>
          <p:cNvSpPr/>
          <p:nvPr/>
        </p:nvSpPr>
        <p:spPr>
          <a:xfrm>
            <a:off x="758952" y="4636008"/>
            <a:ext cx="4925416" cy="457200"/>
          </a:xfrm>
          <a:prstGeom prst="rect">
            <a:avLst/>
          </a:prstGeom>
          <a:solidFill>
            <a:srgbClr val="EAF4EE"/>
          </a:solidFill>
          <a:ln/>
        </p:spPr>
      </p:sp>
      <p:sp>
        <p:nvSpPr>
          <p:cNvPr id="20" name="Text 14"/>
          <p:cNvSpPr/>
          <p:nvPr/>
        </p:nvSpPr>
        <p:spPr>
          <a:xfrm>
            <a:off x="758952" y="4636008"/>
            <a:ext cx="4925416" cy="457200"/>
          </a:xfrm>
          <a:prstGeom prst="rect">
            <a:avLst/>
          </a:prstGeom>
          <a:noFill/>
          <a:ln/>
        </p:spPr>
        <p:txBody>
          <a:bodyPr wrap="square" lIns="0" tIns="0" rIns="0" bIns="0" rtlCol="0" anchor="ctr"/>
          <a:lstStyle/>
          <a:p>
            <a:pPr marL="0" indent="0" algn="ctr">
              <a:buNone/>
            </a:pPr>
            <a:r>
              <a:rPr lang="en-US" sz="1100" b="1" dirty="0">
                <a:solidFill>
                  <a:srgbClr val="1E7B45"/>
                </a:solidFill>
                <a:latin typeface="Calibri" pitchFamily="34" charset="0"/>
                <a:ea typeface="Calibri" pitchFamily="34" charset="-122"/>
                <a:cs typeface="Calibri" pitchFamily="34" charset="-120"/>
              </a:rPr>
              <a:t>MATCHES CLIENT MANDATE</a:t>
            </a:r>
            <a:endParaRPr lang="en-US" sz="1100" dirty="0"/>
          </a:p>
        </p:txBody>
      </p:sp>
      <p:sp>
        <p:nvSpPr>
          <p:cNvPr id="21" name="Shape 15"/>
          <p:cNvSpPr/>
          <p:nvPr/>
        </p:nvSpPr>
        <p:spPr>
          <a:xfrm>
            <a:off x="6251296" y="1417320"/>
            <a:ext cx="5437480" cy="3749040"/>
          </a:xfrm>
          <a:prstGeom prst="rect">
            <a:avLst/>
          </a:prstGeom>
          <a:solidFill>
            <a:srgbClr val="FFFFFF"/>
          </a:solidFill>
          <a:ln w="12700">
            <a:solidFill>
              <a:srgbClr val="E2E5EA"/>
            </a:solidFill>
            <a:prstDash val="solid"/>
          </a:ln>
          <a:effectLst>
            <a:outerShdw blurRad="88900" dist="25400" dir="5400000" algn="bl" rotWithShape="0">
              <a:srgbClr val="0B1F3A">
                <a:alpha val="10000"/>
              </a:srgbClr>
            </a:outerShdw>
          </a:effectLst>
        </p:spPr>
      </p:sp>
      <p:sp>
        <p:nvSpPr>
          <p:cNvPr id="22" name="Text 16"/>
          <p:cNvSpPr/>
          <p:nvPr/>
        </p:nvSpPr>
        <p:spPr>
          <a:xfrm>
            <a:off x="6507328" y="1600200"/>
            <a:ext cx="4925416" cy="329184"/>
          </a:xfrm>
          <a:prstGeom prst="rect">
            <a:avLst/>
          </a:prstGeom>
          <a:noFill/>
          <a:ln/>
        </p:spPr>
        <p:txBody>
          <a:bodyPr wrap="square" lIns="0" tIns="0" rIns="0" bIns="0" rtlCol="0" anchor="ctr"/>
          <a:lstStyle/>
          <a:p>
            <a:pPr marL="0" indent="0">
              <a:buNone/>
            </a:pPr>
            <a:r>
              <a:rPr lang="en-US" sz="1450" b="1" dirty="0">
                <a:solidFill>
                  <a:srgbClr val="0B1F3A"/>
                </a:solidFill>
                <a:latin typeface="Cambria" pitchFamily="34" charset="0"/>
                <a:ea typeface="Cambria" pitchFamily="34" charset="-122"/>
                <a:cs typeface="Cambria" pitchFamily="34" charset="-120"/>
              </a:rPr>
              <a:t>Greenspoint — Ideal Buyer Profiles</a:t>
            </a:r>
            <a:endParaRPr lang="en-US" sz="1450" dirty="0"/>
          </a:p>
        </p:txBody>
      </p:sp>
      <p:sp>
        <p:nvSpPr>
          <p:cNvPr id="23" name="Shape 17"/>
          <p:cNvSpPr/>
          <p:nvPr/>
        </p:nvSpPr>
        <p:spPr>
          <a:xfrm>
            <a:off x="6507328" y="2002536"/>
            <a:ext cx="4925416" cy="0"/>
          </a:xfrm>
          <a:prstGeom prst="line">
            <a:avLst/>
          </a:prstGeom>
          <a:noFill/>
          <a:ln w="12700">
            <a:solidFill>
              <a:srgbClr val="E2E5EA"/>
            </a:solidFill>
            <a:prstDash val="solid"/>
          </a:ln>
        </p:spPr>
      </p:sp>
      <p:pic>
        <p:nvPicPr>
          <p:cNvPr id="24" name="Image 4" descr="icons/usertie_navy.png"/>
          <p:cNvPicPr>
            <a:picLocks noChangeAspect="1"/>
          </p:cNvPicPr>
          <p:nvPr/>
        </p:nvPicPr>
        <p:blipFill>
          <a:blip r:embed="rId4"/>
          <a:stretch>
            <a:fillRect/>
          </a:stretch>
        </p:blipFill>
        <p:spPr>
          <a:xfrm>
            <a:off x="6507328" y="2203704"/>
            <a:ext cx="274320" cy="274320"/>
          </a:xfrm>
          <a:prstGeom prst="rect">
            <a:avLst/>
          </a:prstGeom>
        </p:spPr>
      </p:pic>
      <p:sp>
        <p:nvSpPr>
          <p:cNvPr id="25" name="Text 18"/>
          <p:cNvSpPr/>
          <p:nvPr/>
        </p:nvSpPr>
        <p:spPr>
          <a:xfrm>
            <a:off x="6909664" y="2148840"/>
            <a:ext cx="4523080" cy="237744"/>
          </a:xfrm>
          <a:prstGeom prst="rect">
            <a:avLst/>
          </a:prstGeom>
          <a:noFill/>
          <a:ln/>
        </p:spPr>
        <p:txBody>
          <a:bodyPr wrap="square" lIns="0" tIns="0" rIns="0" bIns="0" rtlCol="0" anchor="ctr"/>
          <a:lstStyle/>
          <a:p>
            <a:pPr marL="0" indent="0">
              <a:buNone/>
            </a:pPr>
            <a:r>
              <a:rPr lang="en-US" sz="1150" b="1" dirty="0">
                <a:solidFill>
                  <a:srgbClr val="0B1F3A"/>
                </a:solidFill>
                <a:latin typeface="Calibri" pitchFamily="34" charset="0"/>
                <a:ea typeface="Calibri" pitchFamily="34" charset="-122"/>
                <a:cs typeface="Calibri" pitchFamily="34" charset="-120"/>
              </a:rPr>
              <a:t>Premium Buyers</a:t>
            </a:r>
            <a:endParaRPr lang="en-US" sz="1150" dirty="0"/>
          </a:p>
        </p:txBody>
      </p:sp>
      <p:sp>
        <p:nvSpPr>
          <p:cNvPr id="26" name="Text 19"/>
          <p:cNvSpPr/>
          <p:nvPr/>
        </p:nvSpPr>
        <p:spPr>
          <a:xfrm>
            <a:off x="6909664" y="2368296"/>
            <a:ext cx="4523080" cy="256032"/>
          </a:xfrm>
          <a:prstGeom prst="rect">
            <a:avLst/>
          </a:prstGeom>
          <a:noFill/>
          <a:ln/>
        </p:spPr>
        <p:txBody>
          <a:bodyPr wrap="square" lIns="0" tIns="0" rIns="0" bIns="0" rtlCol="0" anchor="ctr"/>
          <a:lstStyle/>
          <a:p>
            <a:pPr marL="0" indent="0">
              <a:buNone/>
            </a:pPr>
            <a:r>
              <a:rPr lang="en-US" sz="950" dirty="0">
                <a:solidFill>
                  <a:srgbClr val="666666"/>
                </a:solidFill>
                <a:latin typeface="Calibri" pitchFamily="34" charset="0"/>
                <a:ea typeface="Calibri" pitchFamily="34" charset="-122"/>
                <a:cs typeface="Calibri" pitchFamily="34" charset="-120"/>
              </a:rPr>
              <a:t>AED 3.36M+ entry — above-budget exclusivity</a:t>
            </a:r>
            <a:endParaRPr lang="en-US" sz="950" dirty="0"/>
          </a:p>
        </p:txBody>
      </p:sp>
      <p:pic>
        <p:nvPicPr>
          <p:cNvPr id="27" name="Image 5" descr="icons/child_navy.png"/>
          <p:cNvPicPr>
            <a:picLocks noChangeAspect="1"/>
          </p:cNvPicPr>
          <p:nvPr/>
        </p:nvPicPr>
        <p:blipFill>
          <a:blip r:embed="rId3"/>
          <a:stretch>
            <a:fillRect/>
          </a:stretch>
        </p:blipFill>
        <p:spPr>
          <a:xfrm>
            <a:off x="6507328" y="2843784"/>
            <a:ext cx="274320" cy="274320"/>
          </a:xfrm>
          <a:prstGeom prst="rect">
            <a:avLst/>
          </a:prstGeom>
        </p:spPr>
      </p:pic>
      <p:sp>
        <p:nvSpPr>
          <p:cNvPr id="28" name="Text 20"/>
          <p:cNvSpPr/>
          <p:nvPr/>
        </p:nvSpPr>
        <p:spPr>
          <a:xfrm>
            <a:off x="6909664" y="2788920"/>
            <a:ext cx="4523080" cy="237744"/>
          </a:xfrm>
          <a:prstGeom prst="rect">
            <a:avLst/>
          </a:prstGeom>
          <a:noFill/>
          <a:ln/>
        </p:spPr>
        <p:txBody>
          <a:bodyPr wrap="square" lIns="0" tIns="0" rIns="0" bIns="0" rtlCol="0" anchor="ctr"/>
          <a:lstStyle/>
          <a:p>
            <a:pPr marL="0" indent="0">
              <a:buNone/>
            </a:pPr>
            <a:r>
              <a:rPr lang="en-US" sz="1150" b="1" dirty="0">
                <a:solidFill>
                  <a:srgbClr val="0B1F3A"/>
                </a:solidFill>
                <a:latin typeface="Calibri" pitchFamily="34" charset="0"/>
                <a:ea typeface="Calibri" pitchFamily="34" charset="-122"/>
                <a:cs typeface="Calibri" pitchFamily="34" charset="-120"/>
              </a:rPr>
              <a:t>Larger Families</a:t>
            </a:r>
            <a:endParaRPr lang="en-US" sz="1150" dirty="0"/>
          </a:p>
        </p:txBody>
      </p:sp>
      <p:sp>
        <p:nvSpPr>
          <p:cNvPr id="29" name="Text 21"/>
          <p:cNvSpPr/>
          <p:nvPr/>
        </p:nvSpPr>
        <p:spPr>
          <a:xfrm>
            <a:off x="6909664" y="3008376"/>
            <a:ext cx="4523080" cy="256032"/>
          </a:xfrm>
          <a:prstGeom prst="rect">
            <a:avLst/>
          </a:prstGeom>
          <a:noFill/>
          <a:ln/>
        </p:spPr>
        <p:txBody>
          <a:bodyPr wrap="square" lIns="0" tIns="0" rIns="0" bIns="0" rtlCol="0" anchor="ctr"/>
          <a:lstStyle/>
          <a:p>
            <a:pPr marL="0" indent="0">
              <a:buNone/>
            </a:pPr>
            <a:r>
              <a:rPr lang="en-US" sz="950" dirty="0">
                <a:solidFill>
                  <a:srgbClr val="666666"/>
                </a:solidFill>
                <a:latin typeface="Calibri" pitchFamily="34" charset="0"/>
                <a:ea typeface="Calibri" pitchFamily="34" charset="-122"/>
                <a:cs typeface="Calibri" pitchFamily="34" charset="-120"/>
              </a:rPr>
              <a:t>Up to 2,737 sq.ft BUA, private plots</a:t>
            </a:r>
            <a:endParaRPr lang="en-US" sz="950" dirty="0"/>
          </a:p>
        </p:txBody>
      </p:sp>
      <p:pic>
        <p:nvPicPr>
          <p:cNvPr id="30" name="Image 6" descr="icons/coins_navy.png"/>
          <p:cNvPicPr>
            <a:picLocks noChangeAspect="1"/>
          </p:cNvPicPr>
          <p:nvPr/>
        </p:nvPicPr>
        <p:blipFill>
          <a:blip r:embed="rId7"/>
          <a:stretch>
            <a:fillRect/>
          </a:stretch>
        </p:blipFill>
        <p:spPr>
          <a:xfrm>
            <a:off x="6507328" y="3483864"/>
            <a:ext cx="274320" cy="274320"/>
          </a:xfrm>
          <a:prstGeom prst="rect">
            <a:avLst/>
          </a:prstGeom>
        </p:spPr>
      </p:pic>
      <p:sp>
        <p:nvSpPr>
          <p:cNvPr id="31" name="Text 22"/>
          <p:cNvSpPr/>
          <p:nvPr/>
        </p:nvSpPr>
        <p:spPr>
          <a:xfrm>
            <a:off x="6909664" y="3429000"/>
            <a:ext cx="4523080" cy="237744"/>
          </a:xfrm>
          <a:prstGeom prst="rect">
            <a:avLst/>
          </a:prstGeom>
          <a:noFill/>
          <a:ln/>
        </p:spPr>
        <p:txBody>
          <a:bodyPr wrap="square" lIns="0" tIns="0" rIns="0" bIns="0" rtlCol="0" anchor="ctr"/>
          <a:lstStyle/>
          <a:p>
            <a:pPr marL="0" indent="0">
              <a:buNone/>
            </a:pPr>
            <a:r>
              <a:rPr lang="en-US" sz="1150" b="1" dirty="0">
                <a:solidFill>
                  <a:srgbClr val="0B1F3A"/>
                </a:solidFill>
                <a:latin typeface="Calibri" pitchFamily="34" charset="0"/>
                <a:ea typeface="Calibri" pitchFamily="34" charset="-122"/>
                <a:cs typeface="Calibri" pitchFamily="34" charset="-120"/>
              </a:rPr>
              <a:t>High-Income Professionals</a:t>
            </a:r>
            <a:endParaRPr lang="en-US" sz="1150" dirty="0"/>
          </a:p>
        </p:txBody>
      </p:sp>
      <p:sp>
        <p:nvSpPr>
          <p:cNvPr id="32" name="Text 23"/>
          <p:cNvSpPr/>
          <p:nvPr/>
        </p:nvSpPr>
        <p:spPr>
          <a:xfrm>
            <a:off x="6909664" y="3648456"/>
            <a:ext cx="4523080" cy="256032"/>
          </a:xfrm>
          <a:prstGeom prst="rect">
            <a:avLst/>
          </a:prstGeom>
          <a:noFill/>
          <a:ln/>
        </p:spPr>
        <p:txBody>
          <a:bodyPr wrap="square" lIns="0" tIns="0" rIns="0" bIns="0" rtlCol="0" anchor="ctr"/>
          <a:lstStyle/>
          <a:p>
            <a:pPr marL="0" indent="0">
              <a:buNone/>
            </a:pPr>
            <a:r>
              <a:rPr lang="en-US" sz="950" dirty="0">
                <a:solidFill>
                  <a:srgbClr val="666666"/>
                </a:solidFill>
                <a:latin typeface="Calibri" pitchFamily="34" charset="0"/>
                <a:ea typeface="Calibri" pitchFamily="34" charset="-122"/>
                <a:cs typeface="Calibri" pitchFamily="34" charset="-120"/>
              </a:rPr>
              <a:t>Higher entry price filters for stronger purchasing power</a:t>
            </a:r>
            <a:endParaRPr lang="en-US" sz="950" dirty="0"/>
          </a:p>
        </p:txBody>
      </p:sp>
      <p:sp>
        <p:nvSpPr>
          <p:cNvPr id="33" name="Shape 24"/>
          <p:cNvSpPr/>
          <p:nvPr/>
        </p:nvSpPr>
        <p:spPr>
          <a:xfrm>
            <a:off x="6507328" y="4178808"/>
            <a:ext cx="4925416" cy="713232"/>
          </a:xfrm>
          <a:prstGeom prst="rect">
            <a:avLst/>
          </a:prstGeom>
          <a:solidFill>
            <a:srgbClr val="FBEAEA"/>
          </a:solidFill>
          <a:ln/>
        </p:spPr>
      </p:sp>
      <p:sp>
        <p:nvSpPr>
          <p:cNvPr id="34" name="Text 25"/>
          <p:cNvSpPr/>
          <p:nvPr/>
        </p:nvSpPr>
        <p:spPr>
          <a:xfrm>
            <a:off x="6671920" y="4178808"/>
            <a:ext cx="4596232" cy="713232"/>
          </a:xfrm>
          <a:prstGeom prst="rect">
            <a:avLst/>
          </a:prstGeom>
          <a:noFill/>
          <a:ln/>
        </p:spPr>
        <p:txBody>
          <a:bodyPr wrap="square" lIns="0" tIns="0" rIns="0" bIns="0" rtlCol="0" anchor="ctr"/>
          <a:lstStyle/>
          <a:p>
            <a:pPr marL="0" indent="0" algn="ctr">
              <a:lnSpc>
                <a:spcPct val="110000"/>
              </a:lnSpc>
              <a:buNone/>
            </a:pPr>
            <a:r>
              <a:rPr lang="en-US" sz="1000" b="1" dirty="0">
                <a:solidFill>
                  <a:srgbClr val="B22222"/>
                </a:solidFill>
                <a:latin typeface="Calibri" pitchFamily="34" charset="0"/>
                <a:ea typeface="Calibri" pitchFamily="34" charset="-122"/>
                <a:cs typeface="Calibri" pitchFamily="34" charset="-120"/>
              </a:rPr>
              <a:t>NONE OF THE THREE PROFILES MATCH THIS CLIENT — budget is at least 68% below Greenspoint's effective buyer segment.</a:t>
            </a:r>
            <a:endParaRPr lang="en-US" sz="1000" dirty="0"/>
          </a:p>
        </p:txBody>
      </p:sp>
      <p:sp>
        <p:nvSpPr>
          <p:cNvPr id="35" name="Shape 26"/>
          <p:cNvSpPr/>
          <p:nvPr/>
        </p:nvSpPr>
        <p:spPr>
          <a:xfrm>
            <a:off x="502920" y="5806440"/>
            <a:ext cx="11185855" cy="566928"/>
          </a:xfrm>
          <a:prstGeom prst="rect">
            <a:avLst/>
          </a:prstGeom>
          <a:solidFill>
            <a:srgbClr val="EEF1F6"/>
          </a:solidFill>
          <a:ln/>
        </p:spPr>
      </p:sp>
      <p:pic>
        <p:nvPicPr>
          <p:cNvPr id="36" name="Image 7" descr="icons/star_gold.png"/>
          <p:cNvPicPr>
            <a:picLocks noChangeAspect="1"/>
          </p:cNvPicPr>
          <p:nvPr/>
        </p:nvPicPr>
        <p:blipFill>
          <a:blip r:embed="rId8"/>
          <a:stretch>
            <a:fillRect/>
          </a:stretch>
        </p:blipFill>
        <p:spPr>
          <a:xfrm>
            <a:off x="667512" y="5952744"/>
            <a:ext cx="274320" cy="274320"/>
          </a:xfrm>
          <a:prstGeom prst="rect">
            <a:avLst/>
          </a:prstGeom>
        </p:spPr>
      </p:pic>
      <p:sp>
        <p:nvSpPr>
          <p:cNvPr id="37" name="Text 27"/>
          <p:cNvSpPr/>
          <p:nvPr/>
        </p:nvSpPr>
        <p:spPr>
          <a:xfrm>
            <a:off x="1069848" y="5806440"/>
            <a:ext cx="10454335" cy="566928"/>
          </a:xfrm>
          <a:prstGeom prst="rect">
            <a:avLst/>
          </a:prstGeom>
          <a:noFill/>
          <a:ln/>
        </p:spPr>
        <p:txBody>
          <a:bodyPr wrap="square" lIns="0" tIns="0" rIns="0" bIns="0" rtlCol="0" anchor="ctr"/>
          <a:lstStyle/>
          <a:p>
            <a:pPr marL="0" indent="0" algn="l">
              <a:lnSpc>
                <a:spcPct val="105000"/>
              </a:lnSpc>
              <a:buNone/>
            </a:pPr>
            <a:r>
              <a:rPr lang="en-US" sz="1050" b="1" kern="0" spc="100" dirty="0">
                <a:solidFill>
                  <a:srgbClr val="0B1F3A"/>
                </a:solidFill>
                <a:latin typeface="Calibri" pitchFamily="34" charset="0"/>
                <a:ea typeface="Calibri" pitchFamily="34" charset="-122"/>
                <a:cs typeface="Calibri" pitchFamily="34" charset="-120"/>
              </a:rPr>
              <a:t>EXECUTIVE INSIGHT   </a:t>
            </a:r>
            <a:r>
              <a:rPr lang="en-US" sz="1150" dirty="0">
                <a:solidFill>
                  <a:srgbClr val="0B1F3A"/>
                </a:solidFill>
                <a:latin typeface="Calibri" pitchFamily="34" charset="0"/>
                <a:ea typeface="Calibri" pitchFamily="34" charset="-122"/>
                <a:cs typeface="Calibri" pitchFamily="34" charset="-120"/>
              </a:rPr>
              <a:t>Buyer-profile analysis independently confirms the pricing analysis: this client matches Golf Acres' target segment, not Greenspoint's.</a:t>
            </a:r>
            <a:endParaRPr lang="en-US" sz="1050" dirty="0"/>
          </a:p>
        </p:txBody>
      </p:sp>
      <p:sp>
        <p:nvSpPr>
          <p:cNvPr id="38" name="Text 28"/>
          <p:cNvSpPr/>
          <p:nvPr/>
        </p:nvSpPr>
        <p:spPr>
          <a:xfrm>
            <a:off x="502920" y="6510528"/>
            <a:ext cx="3657600" cy="256032"/>
          </a:xfrm>
          <a:prstGeom prst="rect">
            <a:avLst/>
          </a:prstGeom>
          <a:noFill/>
          <a:ln/>
        </p:spPr>
        <p:txBody>
          <a:bodyPr wrap="square" lIns="0" tIns="0" rIns="0" bIns="0" rtlCol="0" anchor="ctr"/>
          <a:lstStyle/>
          <a:p>
            <a:pPr marL="0" indent="0" algn="l">
              <a:buNone/>
            </a:pPr>
            <a:r>
              <a:rPr lang="en-US" sz="800" kern="0" spc="100" dirty="0">
                <a:solidFill>
                  <a:srgbClr val="9AA1AC"/>
                </a:solidFill>
                <a:latin typeface="Calibri" pitchFamily="34" charset="0"/>
                <a:ea typeface="Calibri" pitchFamily="34" charset="-122"/>
                <a:cs typeface="Calibri" pitchFamily="34" charset="-120"/>
              </a:rPr>
              <a:t>LUXURY REAL ESTATE INVESTMENT ADVISORY</a:t>
            </a:r>
            <a:endParaRPr lang="en-US" sz="800" dirty="0"/>
          </a:p>
        </p:txBody>
      </p:sp>
      <p:sp>
        <p:nvSpPr>
          <p:cNvPr id="39" name="Text 29"/>
          <p:cNvSpPr/>
          <p:nvPr/>
        </p:nvSpPr>
        <p:spPr>
          <a:xfrm>
            <a:off x="3809848" y="6510528"/>
            <a:ext cx="4572000" cy="256032"/>
          </a:xfrm>
          <a:prstGeom prst="rect">
            <a:avLst/>
          </a:prstGeom>
          <a:noFill/>
          <a:ln/>
        </p:spPr>
        <p:txBody>
          <a:bodyPr wrap="square" lIns="0" tIns="0" rIns="0" bIns="0" rtlCol="0" anchor="ctr"/>
          <a:lstStyle/>
          <a:p>
            <a:pPr marL="0" indent="0" algn="ctr">
              <a:buNone/>
            </a:pPr>
            <a:r>
              <a:rPr lang="en-US" sz="800" dirty="0">
                <a:solidFill>
                  <a:srgbClr val="9AA1AC"/>
                </a:solidFill>
                <a:latin typeface="Calibri" pitchFamily="34" charset="0"/>
                <a:ea typeface="Calibri" pitchFamily="34" charset="-122"/>
                <a:cs typeface="Calibri" pitchFamily="34" charset="-120"/>
              </a:rPr>
              <a:t>Target Buyer Fit</a:t>
            </a:r>
            <a:endParaRPr lang="en-US" sz="800" dirty="0"/>
          </a:p>
        </p:txBody>
      </p:sp>
      <p:sp>
        <p:nvSpPr>
          <p:cNvPr id="40" name="Text 30"/>
          <p:cNvSpPr/>
          <p:nvPr/>
        </p:nvSpPr>
        <p:spPr>
          <a:xfrm>
            <a:off x="8031175" y="6510528"/>
            <a:ext cx="3657600" cy="256032"/>
          </a:xfrm>
          <a:prstGeom prst="rect">
            <a:avLst/>
          </a:prstGeom>
          <a:noFill/>
          <a:ln/>
        </p:spPr>
        <p:txBody>
          <a:bodyPr wrap="square" lIns="0" tIns="0" rIns="0" bIns="0" rtlCol="0" anchor="ctr"/>
          <a:lstStyle/>
          <a:p>
            <a:pPr marL="0" indent="0" algn="r">
              <a:buNone/>
            </a:pPr>
            <a:r>
              <a:rPr lang="en-US" sz="800" dirty="0">
                <a:solidFill>
                  <a:srgbClr val="9AA1AC"/>
                </a:solidFill>
                <a:latin typeface="Calibri" pitchFamily="34" charset="0"/>
                <a:ea typeface="Calibri" pitchFamily="34" charset="-122"/>
                <a:cs typeface="Calibri" pitchFamily="34" charset="-120"/>
              </a:rPr>
              <a:t>  16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lgn="l">
              <a:buNone/>
            </a:pPr>
            <a:r>
              <a:rPr lang="en-US" sz="1150" b="1" kern="0" spc="200" dirty="0">
                <a:solidFill>
                  <a:srgbClr val="C9A227"/>
                </a:solidFill>
                <a:latin typeface="Calibri" pitchFamily="34" charset="0"/>
                <a:ea typeface="Calibri" pitchFamily="34" charset="-122"/>
                <a:cs typeface="Calibri" pitchFamily="34" charset="-120"/>
              </a:rPr>
              <a:t>SECTION 17 · REGULATORY &amp; MACRO CONTEXT</a:t>
            </a:r>
            <a:endParaRPr lang="en-US" sz="1150" dirty="0"/>
          </a:p>
        </p:txBody>
      </p:sp>
      <p:sp>
        <p:nvSpPr>
          <p:cNvPr id="3" name="Text 1"/>
          <p:cNvSpPr/>
          <p:nvPr/>
        </p:nvSpPr>
        <p:spPr>
          <a:xfrm>
            <a:off x="502920" y="658368"/>
            <a:ext cx="10607040" cy="566928"/>
          </a:xfrm>
          <a:prstGeom prst="rect">
            <a:avLst/>
          </a:prstGeom>
          <a:noFill/>
          <a:ln/>
        </p:spPr>
        <p:txBody>
          <a:bodyPr wrap="square" lIns="0" tIns="0" rIns="0" bIns="0" rtlCol="0" anchor="ctr"/>
          <a:lstStyle/>
          <a:p>
            <a:pPr marL="0" indent="0" algn="l">
              <a:buNone/>
            </a:pPr>
            <a:r>
              <a:rPr lang="en-US" sz="2600" b="1" dirty="0">
                <a:solidFill>
                  <a:srgbClr val="0B1F3A"/>
                </a:solidFill>
                <a:latin typeface="Cambria" pitchFamily="34" charset="0"/>
                <a:ea typeface="Cambria" pitchFamily="34" charset="-122"/>
                <a:cs typeface="Cambria" pitchFamily="34" charset="-120"/>
              </a:rPr>
              <a:t>Buyer Protection &amp; Economic Backdrop</a:t>
            </a:r>
            <a:endParaRPr lang="en-US" sz="2600" dirty="0"/>
          </a:p>
        </p:txBody>
      </p:sp>
      <p:sp>
        <p:nvSpPr>
          <p:cNvPr id="4" name="Text 2"/>
          <p:cNvSpPr/>
          <p:nvPr/>
        </p:nvSpPr>
        <p:spPr>
          <a:xfrm>
            <a:off x="502920" y="1417320"/>
            <a:ext cx="5577840" cy="237744"/>
          </a:xfrm>
          <a:prstGeom prst="rect">
            <a:avLst/>
          </a:prstGeom>
          <a:noFill/>
          <a:ln/>
        </p:spPr>
        <p:txBody>
          <a:bodyPr wrap="square" lIns="0" tIns="0" rIns="0" bIns="0" rtlCol="0" anchor="ctr"/>
          <a:lstStyle/>
          <a:p>
            <a:pPr marL="0" indent="0">
              <a:buNone/>
            </a:pPr>
            <a:r>
              <a:rPr lang="en-US" sz="1050" b="1" kern="0" spc="50" dirty="0">
                <a:solidFill>
                  <a:srgbClr val="0B1F3A"/>
                </a:solidFill>
                <a:latin typeface="Calibri" pitchFamily="34" charset="0"/>
                <a:ea typeface="Calibri" pitchFamily="34" charset="-122"/>
                <a:cs typeface="Calibri" pitchFamily="34" charset="-120"/>
              </a:rPr>
              <a:t>REGULATORY SAFEGUARDS</a:t>
            </a:r>
            <a:endParaRPr lang="en-US" sz="1050" dirty="0"/>
          </a:p>
        </p:txBody>
      </p:sp>
      <p:pic>
        <p:nvPicPr>
          <p:cNvPr id="5" name="Image 0" descr="icons/contract_navy.png"/>
          <p:cNvPicPr>
            <a:picLocks noChangeAspect="1"/>
          </p:cNvPicPr>
          <p:nvPr/>
        </p:nvPicPr>
        <p:blipFill>
          <a:blip r:embed="rId3"/>
          <a:stretch>
            <a:fillRect/>
          </a:stretch>
        </p:blipFill>
        <p:spPr>
          <a:xfrm>
            <a:off x="502920" y="1783080"/>
            <a:ext cx="274320" cy="274320"/>
          </a:xfrm>
          <a:prstGeom prst="rect">
            <a:avLst/>
          </a:prstGeom>
        </p:spPr>
      </p:pic>
      <p:sp>
        <p:nvSpPr>
          <p:cNvPr id="6" name="Text 3"/>
          <p:cNvSpPr/>
          <p:nvPr/>
        </p:nvSpPr>
        <p:spPr>
          <a:xfrm>
            <a:off x="886968" y="1728216"/>
            <a:ext cx="5193792" cy="237744"/>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Escrow Accounts (Law No. 8 of 2007)</a:t>
            </a:r>
            <a:endParaRPr lang="en-US" sz="1100" dirty="0"/>
          </a:p>
        </p:txBody>
      </p:sp>
      <p:sp>
        <p:nvSpPr>
          <p:cNvPr id="7" name="Text 4"/>
          <p:cNvSpPr/>
          <p:nvPr/>
        </p:nvSpPr>
        <p:spPr>
          <a:xfrm>
            <a:off x="886968" y="1965960"/>
            <a:ext cx="5193792" cy="384048"/>
          </a:xfrm>
          <a:prstGeom prst="rect">
            <a:avLst/>
          </a:prstGeom>
          <a:noFill/>
          <a:ln/>
        </p:spPr>
        <p:txBody>
          <a:bodyPr wrap="square" lIns="0" tIns="0" rIns="0" bIns="0" rtlCol="0" anchor="ctr"/>
          <a:lstStyle/>
          <a:p>
            <a:pPr marL="0" indent="0">
              <a:lnSpc>
                <a:spcPct val="105000"/>
              </a:lnSpc>
              <a:buNone/>
            </a:pPr>
            <a:r>
              <a:rPr lang="en-US" sz="900" dirty="0">
                <a:solidFill>
                  <a:srgbClr val="666666"/>
                </a:solidFill>
                <a:latin typeface="Calibri" pitchFamily="34" charset="0"/>
                <a:ea typeface="Calibri" pitchFamily="34" charset="-122"/>
                <a:cs typeface="Calibri" pitchFamily="34" charset="-120"/>
              </a:rPr>
              <a:t>All buyer payments ring-fenced; released only against verified construction milestones.</a:t>
            </a:r>
            <a:endParaRPr lang="en-US" sz="900" dirty="0"/>
          </a:p>
        </p:txBody>
      </p:sp>
      <p:pic>
        <p:nvPicPr>
          <p:cNvPr id="8" name="Image 1" descr="icons/key_navy.png"/>
          <p:cNvPicPr>
            <a:picLocks noChangeAspect="1"/>
          </p:cNvPicPr>
          <p:nvPr/>
        </p:nvPicPr>
        <p:blipFill>
          <a:blip r:embed="rId4"/>
          <a:stretch>
            <a:fillRect/>
          </a:stretch>
        </p:blipFill>
        <p:spPr>
          <a:xfrm>
            <a:off x="502920" y="2496312"/>
            <a:ext cx="274320" cy="274320"/>
          </a:xfrm>
          <a:prstGeom prst="rect">
            <a:avLst/>
          </a:prstGeom>
        </p:spPr>
      </p:pic>
      <p:sp>
        <p:nvSpPr>
          <p:cNvPr id="9" name="Text 5"/>
          <p:cNvSpPr/>
          <p:nvPr/>
        </p:nvSpPr>
        <p:spPr>
          <a:xfrm>
            <a:off x="886968" y="2441448"/>
            <a:ext cx="5193792" cy="237744"/>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Oqood Registration</a:t>
            </a:r>
            <a:endParaRPr lang="en-US" sz="1100" dirty="0"/>
          </a:p>
        </p:txBody>
      </p:sp>
      <p:sp>
        <p:nvSpPr>
          <p:cNvPr id="10" name="Text 6"/>
          <p:cNvSpPr/>
          <p:nvPr/>
        </p:nvSpPr>
        <p:spPr>
          <a:xfrm>
            <a:off x="886968" y="2679192"/>
            <a:ext cx="5193792" cy="384048"/>
          </a:xfrm>
          <a:prstGeom prst="rect">
            <a:avLst/>
          </a:prstGeom>
          <a:noFill/>
          <a:ln/>
        </p:spPr>
        <p:txBody>
          <a:bodyPr wrap="square" lIns="0" tIns="0" rIns="0" bIns="0" rtlCol="0" anchor="ctr"/>
          <a:lstStyle/>
          <a:p>
            <a:pPr marL="0" indent="0">
              <a:lnSpc>
                <a:spcPct val="105000"/>
              </a:lnSpc>
              <a:buNone/>
            </a:pPr>
            <a:r>
              <a:rPr lang="en-US" sz="900" dirty="0">
                <a:solidFill>
                  <a:srgbClr val="666666"/>
                </a:solidFill>
                <a:latin typeface="Calibri" pitchFamily="34" charset="0"/>
                <a:ea typeface="Calibri" pitchFamily="34" charset="-122"/>
                <a:cs typeface="Calibri" pitchFamily="34" charset="-120"/>
              </a:rPr>
              <a:t>Off-plan sale only legally enforceable once registered on DLD's interim register.</a:t>
            </a:r>
            <a:endParaRPr lang="en-US" sz="900" dirty="0"/>
          </a:p>
        </p:txBody>
      </p:sp>
      <p:pic>
        <p:nvPicPr>
          <p:cNvPr id="11" name="Image 2" descr="icons/shield_navy.png"/>
          <p:cNvPicPr>
            <a:picLocks noChangeAspect="1"/>
          </p:cNvPicPr>
          <p:nvPr/>
        </p:nvPicPr>
        <p:blipFill>
          <a:blip r:embed="rId5"/>
          <a:stretch>
            <a:fillRect/>
          </a:stretch>
        </p:blipFill>
        <p:spPr>
          <a:xfrm>
            <a:off x="502920" y="3209544"/>
            <a:ext cx="274320" cy="274320"/>
          </a:xfrm>
          <a:prstGeom prst="rect">
            <a:avLst/>
          </a:prstGeom>
        </p:spPr>
      </p:pic>
      <p:sp>
        <p:nvSpPr>
          <p:cNvPr id="12" name="Text 7"/>
          <p:cNvSpPr/>
          <p:nvPr/>
        </p:nvSpPr>
        <p:spPr>
          <a:xfrm>
            <a:off x="886968" y="3154680"/>
            <a:ext cx="5193792" cy="237744"/>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RERA Oversight</a:t>
            </a:r>
            <a:endParaRPr lang="en-US" sz="1100" dirty="0"/>
          </a:p>
        </p:txBody>
      </p:sp>
      <p:sp>
        <p:nvSpPr>
          <p:cNvPr id="13" name="Text 8"/>
          <p:cNvSpPr/>
          <p:nvPr/>
        </p:nvSpPr>
        <p:spPr>
          <a:xfrm>
            <a:off x="886968" y="3392424"/>
            <a:ext cx="5193792" cy="384048"/>
          </a:xfrm>
          <a:prstGeom prst="rect">
            <a:avLst/>
          </a:prstGeom>
          <a:noFill/>
          <a:ln/>
        </p:spPr>
        <p:txBody>
          <a:bodyPr wrap="square" lIns="0" tIns="0" rIns="0" bIns="0" rtlCol="0" anchor="ctr"/>
          <a:lstStyle/>
          <a:p>
            <a:pPr marL="0" indent="0">
              <a:lnSpc>
                <a:spcPct val="105000"/>
              </a:lnSpc>
              <a:buNone/>
            </a:pPr>
            <a:r>
              <a:rPr lang="en-US" sz="900" dirty="0">
                <a:solidFill>
                  <a:srgbClr val="666666"/>
                </a:solidFill>
                <a:latin typeface="Calibri" pitchFamily="34" charset="0"/>
                <a:ea typeface="Calibri" pitchFamily="34" charset="-122"/>
                <a:cs typeface="Calibri" pitchFamily="34" charset="-120"/>
              </a:rPr>
              <a:t>Licenses brokers, registers developers, mandates escrow, governs rent increases.</a:t>
            </a:r>
            <a:endParaRPr lang="en-US" sz="900" dirty="0"/>
          </a:p>
        </p:txBody>
      </p:sp>
      <p:pic>
        <p:nvPicPr>
          <p:cNvPr id="14" name="Image 3" descr="icons/balance_navy.png"/>
          <p:cNvPicPr>
            <a:picLocks noChangeAspect="1"/>
          </p:cNvPicPr>
          <p:nvPr/>
        </p:nvPicPr>
        <p:blipFill>
          <a:blip r:embed="rId6"/>
          <a:stretch>
            <a:fillRect/>
          </a:stretch>
        </p:blipFill>
        <p:spPr>
          <a:xfrm>
            <a:off x="502920" y="3922776"/>
            <a:ext cx="274320" cy="274320"/>
          </a:xfrm>
          <a:prstGeom prst="rect">
            <a:avLst/>
          </a:prstGeom>
        </p:spPr>
      </p:pic>
      <p:sp>
        <p:nvSpPr>
          <p:cNvPr id="15" name="Text 9"/>
          <p:cNvSpPr/>
          <p:nvPr/>
        </p:nvSpPr>
        <p:spPr>
          <a:xfrm>
            <a:off x="886968" y="3867912"/>
            <a:ext cx="5193792" cy="237744"/>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Buyer Refund Rights</a:t>
            </a:r>
            <a:endParaRPr lang="en-US" sz="1100" dirty="0"/>
          </a:p>
        </p:txBody>
      </p:sp>
      <p:sp>
        <p:nvSpPr>
          <p:cNvPr id="16" name="Text 10"/>
          <p:cNvSpPr/>
          <p:nvPr/>
        </p:nvSpPr>
        <p:spPr>
          <a:xfrm>
            <a:off x="886968" y="4105656"/>
            <a:ext cx="5193792" cy="384048"/>
          </a:xfrm>
          <a:prstGeom prst="rect">
            <a:avLst/>
          </a:prstGeom>
          <a:noFill/>
          <a:ln/>
        </p:spPr>
        <p:txBody>
          <a:bodyPr wrap="square" lIns="0" tIns="0" rIns="0" bIns="0" rtlCol="0" anchor="ctr"/>
          <a:lstStyle/>
          <a:p>
            <a:pPr marL="0" indent="0">
              <a:lnSpc>
                <a:spcPct val="105000"/>
              </a:lnSpc>
              <a:buNone/>
            </a:pPr>
            <a:r>
              <a:rPr lang="en-US" sz="900" dirty="0">
                <a:solidFill>
                  <a:srgbClr val="666666"/>
                </a:solidFill>
                <a:latin typeface="Calibri" pitchFamily="34" charset="0"/>
                <a:ea typeface="Calibri" pitchFamily="34" charset="-122"/>
                <a:cs typeface="Calibri" pitchFamily="34" charset="-120"/>
              </a:rPr>
              <a:t>If a project is cancelled, escrow funds are legally the buyer's property — not the developer's, even in bankruptcy.</a:t>
            </a:r>
            <a:endParaRPr lang="en-US" sz="900" dirty="0"/>
          </a:p>
        </p:txBody>
      </p:sp>
      <p:sp>
        <p:nvSpPr>
          <p:cNvPr id="17" name="Text 11"/>
          <p:cNvSpPr/>
          <p:nvPr/>
        </p:nvSpPr>
        <p:spPr>
          <a:xfrm>
            <a:off x="6446520" y="1417320"/>
            <a:ext cx="5242255" cy="237744"/>
          </a:xfrm>
          <a:prstGeom prst="rect">
            <a:avLst/>
          </a:prstGeom>
          <a:noFill/>
          <a:ln/>
        </p:spPr>
        <p:txBody>
          <a:bodyPr wrap="square" lIns="0" tIns="0" rIns="0" bIns="0" rtlCol="0" anchor="ctr"/>
          <a:lstStyle/>
          <a:p>
            <a:pPr marL="0" indent="0">
              <a:buNone/>
            </a:pPr>
            <a:r>
              <a:rPr lang="en-US" sz="1050" b="1" kern="0" spc="50" dirty="0">
                <a:solidFill>
                  <a:srgbClr val="0B1F3A"/>
                </a:solidFill>
                <a:latin typeface="Calibri" pitchFamily="34" charset="0"/>
                <a:ea typeface="Calibri" pitchFamily="34" charset="-122"/>
                <a:cs typeface="Calibri" pitchFamily="34" charset="-120"/>
              </a:rPr>
              <a:t>UAE MACROECONOMIC SNAPSHOT</a:t>
            </a:r>
            <a:endParaRPr lang="en-US" sz="1050" dirty="0"/>
          </a:p>
        </p:txBody>
      </p:sp>
      <p:sp>
        <p:nvSpPr>
          <p:cNvPr id="18" name="Shape 12"/>
          <p:cNvSpPr/>
          <p:nvPr/>
        </p:nvSpPr>
        <p:spPr>
          <a:xfrm>
            <a:off x="6446520" y="1746504"/>
            <a:ext cx="5242255" cy="713232"/>
          </a:xfrm>
          <a:prstGeom prst="rect">
            <a:avLst/>
          </a:prstGeom>
          <a:solidFill>
            <a:srgbClr val="EEF1F6"/>
          </a:solidFill>
          <a:ln/>
        </p:spPr>
      </p:sp>
      <p:sp>
        <p:nvSpPr>
          <p:cNvPr id="19" name="Text 13"/>
          <p:cNvSpPr/>
          <p:nvPr/>
        </p:nvSpPr>
        <p:spPr>
          <a:xfrm>
            <a:off x="6611112" y="1819656"/>
            <a:ext cx="1554480" cy="566928"/>
          </a:xfrm>
          <a:prstGeom prst="rect">
            <a:avLst/>
          </a:prstGeom>
          <a:noFill/>
          <a:ln/>
        </p:spPr>
        <p:txBody>
          <a:bodyPr wrap="square" lIns="0" tIns="0" rIns="0" bIns="0" rtlCol="0" anchor="ctr"/>
          <a:lstStyle/>
          <a:p>
            <a:pPr marL="0" indent="0">
              <a:buNone/>
            </a:pPr>
            <a:r>
              <a:rPr lang="en-US" sz="1700" b="1" dirty="0">
                <a:solidFill>
                  <a:srgbClr val="0B1F3A"/>
                </a:solidFill>
                <a:latin typeface="Cambria" pitchFamily="34" charset="0"/>
                <a:ea typeface="Cambria" pitchFamily="34" charset="-122"/>
                <a:cs typeface="Cambria" pitchFamily="34" charset="-120"/>
              </a:rPr>
              <a:t>5.6%</a:t>
            </a:r>
            <a:endParaRPr lang="en-US" sz="1700" dirty="0"/>
          </a:p>
        </p:txBody>
      </p:sp>
      <p:sp>
        <p:nvSpPr>
          <p:cNvPr id="20" name="Text 14"/>
          <p:cNvSpPr/>
          <p:nvPr/>
        </p:nvSpPr>
        <p:spPr>
          <a:xfrm>
            <a:off x="8229600" y="1746504"/>
            <a:ext cx="3322015" cy="713232"/>
          </a:xfrm>
          <a:prstGeom prst="rect">
            <a:avLst/>
          </a:prstGeom>
          <a:noFill/>
          <a:ln/>
        </p:spPr>
        <p:txBody>
          <a:bodyPr wrap="square" lIns="0" tIns="0" rIns="0" bIns="0" rtlCol="0" anchor="ctr"/>
          <a:lstStyle/>
          <a:p>
            <a:pPr marL="0" indent="0">
              <a:lnSpc>
                <a:spcPct val="105000"/>
              </a:lnSpc>
              <a:buNone/>
            </a:pPr>
            <a:r>
              <a:rPr lang="en-US" sz="900" dirty="0">
                <a:solidFill>
                  <a:srgbClr val="666666"/>
                </a:solidFill>
                <a:latin typeface="Calibri" pitchFamily="34" charset="0"/>
                <a:ea typeface="Calibri" pitchFamily="34" charset="-122"/>
                <a:cs typeface="Calibri" pitchFamily="34" charset="-120"/>
              </a:rPr>
              <a:t>UAE Real GDP Growth, 2025 (CBUAE)</a:t>
            </a:r>
            <a:endParaRPr lang="en-US" sz="900" dirty="0"/>
          </a:p>
        </p:txBody>
      </p:sp>
      <p:sp>
        <p:nvSpPr>
          <p:cNvPr id="21" name="Shape 15"/>
          <p:cNvSpPr/>
          <p:nvPr/>
        </p:nvSpPr>
        <p:spPr>
          <a:xfrm>
            <a:off x="6446520" y="2587752"/>
            <a:ext cx="5242255" cy="713232"/>
          </a:xfrm>
          <a:prstGeom prst="rect">
            <a:avLst/>
          </a:prstGeom>
          <a:solidFill>
            <a:srgbClr val="EEF1F6"/>
          </a:solidFill>
          <a:ln/>
        </p:spPr>
      </p:sp>
      <p:sp>
        <p:nvSpPr>
          <p:cNvPr id="22" name="Text 16"/>
          <p:cNvSpPr/>
          <p:nvPr/>
        </p:nvSpPr>
        <p:spPr>
          <a:xfrm>
            <a:off x="6611112" y="2660904"/>
            <a:ext cx="1554480" cy="566928"/>
          </a:xfrm>
          <a:prstGeom prst="rect">
            <a:avLst/>
          </a:prstGeom>
          <a:noFill/>
          <a:ln/>
        </p:spPr>
        <p:txBody>
          <a:bodyPr wrap="square" lIns="0" tIns="0" rIns="0" bIns="0" rtlCol="0" anchor="ctr"/>
          <a:lstStyle/>
          <a:p>
            <a:pPr marL="0" indent="0">
              <a:buNone/>
            </a:pPr>
            <a:r>
              <a:rPr lang="en-US" sz="1700" b="1" dirty="0">
                <a:solidFill>
                  <a:srgbClr val="0B1F3A"/>
                </a:solidFill>
                <a:latin typeface="Cambria" pitchFamily="34" charset="0"/>
                <a:ea typeface="Cambria" pitchFamily="34" charset="-122"/>
                <a:cs typeface="Cambria" pitchFamily="34" charset="-120"/>
              </a:rPr>
              <a:t>3.65%</a:t>
            </a:r>
            <a:endParaRPr lang="en-US" sz="1700" dirty="0"/>
          </a:p>
        </p:txBody>
      </p:sp>
      <p:sp>
        <p:nvSpPr>
          <p:cNvPr id="23" name="Text 17"/>
          <p:cNvSpPr/>
          <p:nvPr/>
        </p:nvSpPr>
        <p:spPr>
          <a:xfrm>
            <a:off x="8229600" y="2587752"/>
            <a:ext cx="3322015" cy="713232"/>
          </a:xfrm>
          <a:prstGeom prst="rect">
            <a:avLst/>
          </a:prstGeom>
          <a:noFill/>
          <a:ln/>
        </p:spPr>
        <p:txBody>
          <a:bodyPr wrap="square" lIns="0" tIns="0" rIns="0" bIns="0" rtlCol="0" anchor="ctr"/>
          <a:lstStyle/>
          <a:p>
            <a:pPr marL="0" indent="0">
              <a:lnSpc>
                <a:spcPct val="105000"/>
              </a:lnSpc>
              <a:buNone/>
            </a:pPr>
            <a:r>
              <a:rPr lang="en-US" sz="900" dirty="0">
                <a:solidFill>
                  <a:srgbClr val="666666"/>
                </a:solidFill>
                <a:latin typeface="Calibri" pitchFamily="34" charset="0"/>
                <a:ea typeface="Calibri" pitchFamily="34" charset="-122"/>
                <a:cs typeface="Calibri" pitchFamily="34" charset="-120"/>
              </a:rPr>
              <a:t>UAE Central Bank Base Rate (held since Dec 2025)</a:t>
            </a:r>
            <a:endParaRPr lang="en-US" sz="900" dirty="0"/>
          </a:p>
        </p:txBody>
      </p:sp>
      <p:sp>
        <p:nvSpPr>
          <p:cNvPr id="24" name="Shape 18"/>
          <p:cNvSpPr/>
          <p:nvPr/>
        </p:nvSpPr>
        <p:spPr>
          <a:xfrm>
            <a:off x="6446520" y="3429000"/>
            <a:ext cx="5242255" cy="713232"/>
          </a:xfrm>
          <a:prstGeom prst="rect">
            <a:avLst/>
          </a:prstGeom>
          <a:solidFill>
            <a:srgbClr val="EEF1F6"/>
          </a:solidFill>
          <a:ln/>
        </p:spPr>
      </p:sp>
      <p:sp>
        <p:nvSpPr>
          <p:cNvPr id="25" name="Text 19"/>
          <p:cNvSpPr/>
          <p:nvPr/>
        </p:nvSpPr>
        <p:spPr>
          <a:xfrm>
            <a:off x="6611112" y="3502152"/>
            <a:ext cx="1554480" cy="566928"/>
          </a:xfrm>
          <a:prstGeom prst="rect">
            <a:avLst/>
          </a:prstGeom>
          <a:noFill/>
          <a:ln/>
        </p:spPr>
        <p:txBody>
          <a:bodyPr wrap="square" lIns="0" tIns="0" rIns="0" bIns="0" rtlCol="0" anchor="ctr"/>
          <a:lstStyle/>
          <a:p>
            <a:pPr marL="0" indent="0">
              <a:buNone/>
            </a:pPr>
            <a:r>
              <a:rPr lang="en-US" sz="1700" b="1" dirty="0">
                <a:solidFill>
                  <a:srgbClr val="0B1F3A"/>
                </a:solidFill>
                <a:latin typeface="Cambria" pitchFamily="34" charset="0"/>
                <a:ea typeface="Cambria" pitchFamily="34" charset="-122"/>
                <a:cs typeface="Cambria" pitchFamily="34" charset="-120"/>
              </a:rPr>
              <a:t>AED 148.35bn</a:t>
            </a:r>
            <a:endParaRPr lang="en-US" sz="1700" dirty="0"/>
          </a:p>
        </p:txBody>
      </p:sp>
      <p:sp>
        <p:nvSpPr>
          <p:cNvPr id="26" name="Text 20"/>
          <p:cNvSpPr/>
          <p:nvPr/>
        </p:nvSpPr>
        <p:spPr>
          <a:xfrm>
            <a:off x="8229600" y="3429000"/>
            <a:ext cx="3322015" cy="713232"/>
          </a:xfrm>
          <a:prstGeom prst="rect">
            <a:avLst/>
          </a:prstGeom>
          <a:noFill/>
          <a:ln/>
        </p:spPr>
        <p:txBody>
          <a:bodyPr wrap="square" lIns="0" tIns="0" rIns="0" bIns="0" rtlCol="0" anchor="ctr"/>
          <a:lstStyle/>
          <a:p>
            <a:pPr marL="0" indent="0">
              <a:lnSpc>
                <a:spcPct val="105000"/>
              </a:lnSpc>
              <a:buNone/>
            </a:pPr>
            <a:r>
              <a:rPr lang="en-US" sz="900" dirty="0">
                <a:solidFill>
                  <a:srgbClr val="666666"/>
                </a:solidFill>
                <a:latin typeface="Calibri" pitchFamily="34" charset="0"/>
                <a:ea typeface="Calibri" pitchFamily="34" charset="-122"/>
                <a:cs typeface="Calibri" pitchFamily="34" charset="-120"/>
              </a:rPr>
              <a:t>Foreign Investment in Dubai RE, Q1 2026 (+26% YoY)</a:t>
            </a:r>
            <a:endParaRPr lang="en-US" sz="900" dirty="0"/>
          </a:p>
        </p:txBody>
      </p:sp>
      <p:sp>
        <p:nvSpPr>
          <p:cNvPr id="27" name="Shape 21"/>
          <p:cNvSpPr/>
          <p:nvPr/>
        </p:nvSpPr>
        <p:spPr>
          <a:xfrm>
            <a:off x="6446520" y="4270248"/>
            <a:ext cx="5242255" cy="713232"/>
          </a:xfrm>
          <a:prstGeom prst="rect">
            <a:avLst/>
          </a:prstGeom>
          <a:solidFill>
            <a:srgbClr val="EEF1F6"/>
          </a:solidFill>
          <a:ln/>
        </p:spPr>
      </p:sp>
      <p:sp>
        <p:nvSpPr>
          <p:cNvPr id="28" name="Text 22"/>
          <p:cNvSpPr/>
          <p:nvPr/>
        </p:nvSpPr>
        <p:spPr>
          <a:xfrm>
            <a:off x="6611112" y="4343400"/>
            <a:ext cx="1554480" cy="566928"/>
          </a:xfrm>
          <a:prstGeom prst="rect">
            <a:avLst/>
          </a:prstGeom>
          <a:noFill/>
          <a:ln/>
        </p:spPr>
        <p:txBody>
          <a:bodyPr wrap="square" lIns="0" tIns="0" rIns="0" bIns="0" rtlCol="0" anchor="ctr"/>
          <a:lstStyle/>
          <a:p>
            <a:pPr marL="0" indent="0">
              <a:buNone/>
            </a:pPr>
            <a:r>
              <a:rPr lang="en-US" sz="1700" b="1" dirty="0">
                <a:solidFill>
                  <a:srgbClr val="0B1F3A"/>
                </a:solidFill>
                <a:latin typeface="Cambria" pitchFamily="34" charset="0"/>
                <a:ea typeface="Cambria" pitchFamily="34" charset="-122"/>
                <a:cs typeface="Cambria" pitchFamily="34" charset="-120"/>
              </a:rPr>
              <a:t>1.3%</a:t>
            </a:r>
            <a:endParaRPr lang="en-US" sz="1700" dirty="0"/>
          </a:p>
        </p:txBody>
      </p:sp>
      <p:sp>
        <p:nvSpPr>
          <p:cNvPr id="29" name="Text 23"/>
          <p:cNvSpPr/>
          <p:nvPr/>
        </p:nvSpPr>
        <p:spPr>
          <a:xfrm>
            <a:off x="8229600" y="4270248"/>
            <a:ext cx="3322015" cy="713232"/>
          </a:xfrm>
          <a:prstGeom prst="rect">
            <a:avLst/>
          </a:prstGeom>
          <a:noFill/>
          <a:ln/>
        </p:spPr>
        <p:txBody>
          <a:bodyPr wrap="square" lIns="0" tIns="0" rIns="0" bIns="0" rtlCol="0" anchor="ctr"/>
          <a:lstStyle/>
          <a:p>
            <a:pPr marL="0" indent="0">
              <a:lnSpc>
                <a:spcPct val="105000"/>
              </a:lnSpc>
              <a:buNone/>
            </a:pPr>
            <a:r>
              <a:rPr lang="en-US" sz="900" dirty="0">
                <a:solidFill>
                  <a:srgbClr val="666666"/>
                </a:solidFill>
                <a:latin typeface="Calibri" pitchFamily="34" charset="0"/>
                <a:ea typeface="Calibri" pitchFamily="34" charset="-122"/>
                <a:cs typeface="Calibri" pitchFamily="34" charset="-120"/>
              </a:rPr>
              <a:t>UAE Inflation, 2025 Actual (CBUAE)</a:t>
            </a:r>
            <a:endParaRPr lang="en-US" sz="900" dirty="0"/>
          </a:p>
        </p:txBody>
      </p:sp>
      <p:sp>
        <p:nvSpPr>
          <p:cNvPr id="30" name="Shape 24"/>
          <p:cNvSpPr/>
          <p:nvPr/>
        </p:nvSpPr>
        <p:spPr>
          <a:xfrm>
            <a:off x="502920" y="5806440"/>
            <a:ext cx="11185855" cy="566928"/>
          </a:xfrm>
          <a:prstGeom prst="rect">
            <a:avLst/>
          </a:prstGeom>
          <a:solidFill>
            <a:srgbClr val="EEF1F6"/>
          </a:solidFill>
          <a:ln/>
        </p:spPr>
      </p:sp>
      <p:pic>
        <p:nvPicPr>
          <p:cNvPr id="31" name="Image 4" descr="icons/star_gold.png"/>
          <p:cNvPicPr>
            <a:picLocks noChangeAspect="1"/>
          </p:cNvPicPr>
          <p:nvPr/>
        </p:nvPicPr>
        <p:blipFill>
          <a:blip r:embed="rId7"/>
          <a:stretch>
            <a:fillRect/>
          </a:stretch>
        </p:blipFill>
        <p:spPr>
          <a:xfrm>
            <a:off x="667512" y="5952744"/>
            <a:ext cx="274320" cy="274320"/>
          </a:xfrm>
          <a:prstGeom prst="rect">
            <a:avLst/>
          </a:prstGeom>
        </p:spPr>
      </p:pic>
      <p:sp>
        <p:nvSpPr>
          <p:cNvPr id="32" name="Text 25"/>
          <p:cNvSpPr/>
          <p:nvPr/>
        </p:nvSpPr>
        <p:spPr>
          <a:xfrm>
            <a:off x="1069848" y="5806440"/>
            <a:ext cx="10454335" cy="566928"/>
          </a:xfrm>
          <a:prstGeom prst="rect">
            <a:avLst/>
          </a:prstGeom>
          <a:noFill/>
          <a:ln/>
        </p:spPr>
        <p:txBody>
          <a:bodyPr wrap="square" lIns="0" tIns="0" rIns="0" bIns="0" rtlCol="0" anchor="ctr"/>
          <a:lstStyle/>
          <a:p>
            <a:pPr marL="0" indent="0" algn="l">
              <a:lnSpc>
                <a:spcPct val="105000"/>
              </a:lnSpc>
              <a:buNone/>
            </a:pPr>
            <a:r>
              <a:rPr lang="en-US" sz="1050" b="1" kern="0" spc="100" dirty="0">
                <a:solidFill>
                  <a:srgbClr val="0B1F3A"/>
                </a:solidFill>
                <a:latin typeface="Calibri" pitchFamily="34" charset="0"/>
                <a:ea typeface="Calibri" pitchFamily="34" charset="-122"/>
                <a:cs typeface="Calibri" pitchFamily="34" charset="-120"/>
              </a:rPr>
              <a:t>EXECUTIVE INSIGHT   </a:t>
            </a:r>
            <a:r>
              <a:rPr lang="en-US" sz="1150" dirty="0">
                <a:solidFill>
                  <a:srgbClr val="0B1F3A"/>
                </a:solidFill>
                <a:latin typeface="Calibri" pitchFamily="34" charset="0"/>
                <a:ea typeface="Calibri" pitchFamily="34" charset="-122"/>
                <a:cs typeface="Calibri" pitchFamily="34" charset="-120"/>
              </a:rPr>
              <a:t>Mature buyer protections plus supportive macro conditions reduce systemic risk for both projects — the deciding factor remains budget fit, not regulatory exposure.</a:t>
            </a:r>
            <a:endParaRPr lang="en-US" sz="1050" dirty="0"/>
          </a:p>
        </p:txBody>
      </p:sp>
      <p:sp>
        <p:nvSpPr>
          <p:cNvPr id="33" name="Text 26"/>
          <p:cNvSpPr/>
          <p:nvPr/>
        </p:nvSpPr>
        <p:spPr>
          <a:xfrm>
            <a:off x="502920" y="6510528"/>
            <a:ext cx="3657600" cy="256032"/>
          </a:xfrm>
          <a:prstGeom prst="rect">
            <a:avLst/>
          </a:prstGeom>
          <a:noFill/>
          <a:ln/>
        </p:spPr>
        <p:txBody>
          <a:bodyPr wrap="square" lIns="0" tIns="0" rIns="0" bIns="0" rtlCol="0" anchor="ctr"/>
          <a:lstStyle/>
          <a:p>
            <a:pPr marL="0" indent="0" algn="l">
              <a:buNone/>
            </a:pPr>
            <a:r>
              <a:rPr lang="en-US" sz="800" kern="0" spc="100" dirty="0">
                <a:solidFill>
                  <a:srgbClr val="9AA1AC"/>
                </a:solidFill>
                <a:latin typeface="Calibri" pitchFamily="34" charset="0"/>
                <a:ea typeface="Calibri" pitchFamily="34" charset="-122"/>
                <a:cs typeface="Calibri" pitchFamily="34" charset="-120"/>
              </a:rPr>
              <a:t>LUXURY REAL ESTATE INVESTMENT ADVISORY</a:t>
            </a:r>
            <a:endParaRPr lang="en-US" sz="800" dirty="0"/>
          </a:p>
        </p:txBody>
      </p:sp>
      <p:sp>
        <p:nvSpPr>
          <p:cNvPr id="34" name="Text 27"/>
          <p:cNvSpPr/>
          <p:nvPr/>
        </p:nvSpPr>
        <p:spPr>
          <a:xfrm>
            <a:off x="3809848" y="6510528"/>
            <a:ext cx="4572000" cy="256032"/>
          </a:xfrm>
          <a:prstGeom prst="rect">
            <a:avLst/>
          </a:prstGeom>
          <a:noFill/>
          <a:ln/>
        </p:spPr>
        <p:txBody>
          <a:bodyPr wrap="square" lIns="0" tIns="0" rIns="0" bIns="0" rtlCol="0" anchor="ctr"/>
          <a:lstStyle/>
          <a:p>
            <a:pPr marL="0" indent="0" algn="ctr">
              <a:buNone/>
            </a:pPr>
            <a:r>
              <a:rPr lang="en-US" sz="800" dirty="0">
                <a:solidFill>
                  <a:srgbClr val="9AA1AC"/>
                </a:solidFill>
                <a:latin typeface="Calibri" pitchFamily="34" charset="0"/>
                <a:ea typeface="Calibri" pitchFamily="34" charset="-122"/>
                <a:cs typeface="Calibri" pitchFamily="34" charset="-120"/>
              </a:rPr>
              <a:t>Regulatory &amp; Macro</a:t>
            </a:r>
            <a:endParaRPr lang="en-US" sz="800" dirty="0"/>
          </a:p>
        </p:txBody>
      </p:sp>
      <p:sp>
        <p:nvSpPr>
          <p:cNvPr id="35" name="Text 28"/>
          <p:cNvSpPr/>
          <p:nvPr/>
        </p:nvSpPr>
        <p:spPr>
          <a:xfrm>
            <a:off x="8031175" y="6510528"/>
            <a:ext cx="3657600" cy="256032"/>
          </a:xfrm>
          <a:prstGeom prst="rect">
            <a:avLst/>
          </a:prstGeom>
          <a:noFill/>
          <a:ln/>
        </p:spPr>
        <p:txBody>
          <a:bodyPr wrap="square" lIns="0" tIns="0" rIns="0" bIns="0" rtlCol="0" anchor="ctr"/>
          <a:lstStyle/>
          <a:p>
            <a:pPr marL="0" indent="0" algn="r">
              <a:buNone/>
            </a:pPr>
            <a:r>
              <a:rPr lang="en-US" sz="800" dirty="0">
                <a:solidFill>
                  <a:srgbClr val="9AA1AC"/>
                </a:solidFill>
                <a:latin typeface="Calibri" pitchFamily="34" charset="0"/>
                <a:ea typeface="Calibri" pitchFamily="34" charset="-122"/>
                <a:cs typeface="Calibri" pitchFamily="34" charset="-120"/>
              </a:rPr>
              <a:t>  17</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F3A"/>
        </a:solidFill>
        <a:effectLst/>
      </p:bgPr>
    </p:bg>
    <p:spTree>
      <p:nvGrpSpPr>
        <p:cNvPr id="1" name=""/>
        <p:cNvGrpSpPr/>
        <p:nvPr/>
      </p:nvGrpSpPr>
      <p:grpSpPr>
        <a:xfrm>
          <a:off x="0" y="0"/>
          <a:ext cx="0" cy="0"/>
          <a:chOff x="0" y="0"/>
          <a:chExt cx="0" cy="0"/>
        </a:xfrm>
      </p:grpSpPr>
      <p:sp>
        <p:nvSpPr>
          <p:cNvPr id="2" name="Text 0"/>
          <p:cNvSpPr/>
          <p:nvPr/>
        </p:nvSpPr>
        <p:spPr>
          <a:xfrm>
            <a:off x="502920" y="411480"/>
            <a:ext cx="9144000" cy="274320"/>
          </a:xfrm>
          <a:prstGeom prst="rect">
            <a:avLst/>
          </a:prstGeom>
          <a:noFill/>
          <a:ln/>
        </p:spPr>
        <p:txBody>
          <a:bodyPr wrap="square" lIns="0" tIns="0" rIns="0" bIns="0" rtlCol="0" anchor="ctr"/>
          <a:lstStyle/>
          <a:p>
            <a:pPr marL="0" indent="0">
              <a:buNone/>
            </a:pPr>
            <a:r>
              <a:rPr lang="en-US" sz="1150" b="1" kern="0" spc="200" dirty="0">
                <a:solidFill>
                  <a:srgbClr val="C9A227"/>
                </a:solidFill>
                <a:latin typeface="Calibri" pitchFamily="34" charset="0"/>
                <a:ea typeface="Calibri" pitchFamily="34" charset="-122"/>
                <a:cs typeface="Calibri" pitchFamily="34" charset="-120"/>
              </a:rPr>
              <a:t>SECTION 18 · EXECUTIVE DECISION</a:t>
            </a:r>
            <a:endParaRPr lang="en-US" sz="1150" dirty="0"/>
          </a:p>
        </p:txBody>
      </p:sp>
      <p:sp>
        <p:nvSpPr>
          <p:cNvPr id="3" name="Text 1"/>
          <p:cNvSpPr/>
          <p:nvPr/>
        </p:nvSpPr>
        <p:spPr>
          <a:xfrm>
            <a:off x="502920" y="676656"/>
            <a:ext cx="9144000" cy="5029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Final Recommendation</a:t>
            </a:r>
            <a:endParaRPr lang="en-US" sz="2800" dirty="0"/>
          </a:p>
        </p:txBody>
      </p:sp>
      <p:sp>
        <p:nvSpPr>
          <p:cNvPr id="4" name="Shape 2"/>
          <p:cNvSpPr/>
          <p:nvPr/>
        </p:nvSpPr>
        <p:spPr>
          <a:xfrm>
            <a:off x="502920" y="1298448"/>
            <a:ext cx="11185855" cy="594360"/>
          </a:xfrm>
          <a:prstGeom prst="rect">
            <a:avLst/>
          </a:prstGeom>
          <a:solidFill>
            <a:srgbClr val="C9A227"/>
          </a:solidFill>
          <a:ln/>
        </p:spPr>
      </p:sp>
      <p:sp>
        <p:nvSpPr>
          <p:cNvPr id="5" name="Text 3"/>
          <p:cNvSpPr/>
          <p:nvPr/>
        </p:nvSpPr>
        <p:spPr>
          <a:xfrm>
            <a:off x="502920" y="1298448"/>
            <a:ext cx="11185855" cy="594360"/>
          </a:xfrm>
          <a:prstGeom prst="rect">
            <a:avLst/>
          </a:prstGeom>
          <a:noFill/>
          <a:ln/>
        </p:spPr>
        <p:txBody>
          <a:bodyPr wrap="square" lIns="0" tIns="0" rIns="0" bIns="0" rtlCol="0" anchor="ctr"/>
          <a:lstStyle/>
          <a:p>
            <a:pPr marL="0" indent="0" algn="ctr">
              <a:buNone/>
            </a:pPr>
            <a:r>
              <a:rPr lang="en-US" sz="1600" b="1" dirty="0">
                <a:solidFill>
                  <a:srgbClr val="0B1F3A"/>
                </a:solidFill>
                <a:latin typeface="Cambria" pitchFamily="34" charset="0"/>
                <a:ea typeface="Cambria" pitchFamily="34" charset="-122"/>
                <a:cs typeface="Cambria" pitchFamily="34" charset="-120"/>
              </a:rPr>
              <a:t>PROCEED WITH GOLF ACRES — 1-BED (AED 950,000) OR 2-BED (AED 1,750,888)</a:t>
            </a:r>
            <a:endParaRPr lang="en-US" sz="1600" dirty="0"/>
          </a:p>
        </p:txBody>
      </p:sp>
      <p:sp>
        <p:nvSpPr>
          <p:cNvPr id="6" name="Text 4"/>
          <p:cNvSpPr/>
          <p:nvPr/>
        </p:nvSpPr>
        <p:spPr>
          <a:xfrm>
            <a:off x="502920" y="2121408"/>
            <a:ext cx="3533546" cy="256032"/>
          </a:xfrm>
          <a:prstGeom prst="rect">
            <a:avLst/>
          </a:prstGeom>
          <a:noFill/>
          <a:ln/>
        </p:spPr>
        <p:txBody>
          <a:bodyPr wrap="square" lIns="0" tIns="0" rIns="0" bIns="0" rtlCol="0" anchor="ctr"/>
          <a:lstStyle/>
          <a:p>
            <a:pPr marL="0" indent="0">
              <a:buNone/>
            </a:pPr>
            <a:r>
              <a:rPr lang="en-US" sz="1100" b="1" kern="0" spc="100" dirty="0">
                <a:solidFill>
                  <a:srgbClr val="C9A227"/>
                </a:solidFill>
                <a:latin typeface="Calibri" pitchFamily="34" charset="0"/>
                <a:ea typeface="Calibri" pitchFamily="34" charset="-122"/>
                <a:cs typeface="Calibri" pitchFamily="34" charset="-120"/>
              </a:rPr>
              <a:t>KEY REASONS</a:t>
            </a:r>
            <a:endParaRPr lang="en-US" sz="1100" dirty="0"/>
          </a:p>
        </p:txBody>
      </p:sp>
      <p:pic>
        <p:nvPicPr>
          <p:cNvPr id="7" name="Image 0" descr="icons/check_gold.png"/>
          <p:cNvPicPr>
            <a:picLocks noChangeAspect="1"/>
          </p:cNvPicPr>
          <p:nvPr/>
        </p:nvPicPr>
        <p:blipFill>
          <a:blip r:embed="rId3"/>
          <a:stretch>
            <a:fillRect/>
          </a:stretch>
        </p:blipFill>
        <p:spPr>
          <a:xfrm>
            <a:off x="502920" y="2468880"/>
            <a:ext cx="182880" cy="182880"/>
          </a:xfrm>
          <a:prstGeom prst="rect">
            <a:avLst/>
          </a:prstGeom>
        </p:spPr>
      </p:pic>
      <p:sp>
        <p:nvSpPr>
          <p:cNvPr id="8" name="Text 5"/>
          <p:cNvSpPr/>
          <p:nvPr/>
        </p:nvSpPr>
        <p:spPr>
          <a:xfrm>
            <a:off x="777240" y="2414016"/>
            <a:ext cx="3259226" cy="411480"/>
          </a:xfrm>
          <a:prstGeom prst="rect">
            <a:avLst/>
          </a:prstGeom>
          <a:noFill/>
          <a:ln/>
        </p:spPr>
        <p:txBody>
          <a:bodyPr wrap="square" lIns="0" tIns="0" rIns="0" bIns="0" rtlCol="0" anchor="t"/>
          <a:lstStyle/>
          <a:p>
            <a:pPr marL="0" indent="0">
              <a:lnSpc>
                <a:spcPct val="108000"/>
              </a:lnSpc>
              <a:buNone/>
            </a:pPr>
            <a:r>
              <a:rPr lang="en-US" sz="1050" dirty="0">
                <a:solidFill>
                  <a:srgbClr val="FFFFFF"/>
                </a:solidFill>
                <a:latin typeface="Calibri" pitchFamily="34" charset="0"/>
                <a:ea typeface="Calibri" pitchFamily="34" charset="-122"/>
                <a:cs typeface="Calibri" pitchFamily="34" charset="-120"/>
              </a:rPr>
              <a:t>Only project within AED 2,000,000 budget</a:t>
            </a:r>
            <a:endParaRPr lang="en-US" sz="1050" dirty="0"/>
          </a:p>
        </p:txBody>
      </p:sp>
      <p:pic>
        <p:nvPicPr>
          <p:cNvPr id="9" name="Image 1" descr="icons/check_gold.png"/>
          <p:cNvPicPr>
            <a:picLocks noChangeAspect="1"/>
          </p:cNvPicPr>
          <p:nvPr/>
        </p:nvPicPr>
        <p:blipFill>
          <a:blip r:embed="rId3"/>
          <a:stretch>
            <a:fillRect/>
          </a:stretch>
        </p:blipFill>
        <p:spPr>
          <a:xfrm>
            <a:off x="502920" y="2980944"/>
            <a:ext cx="182880" cy="182880"/>
          </a:xfrm>
          <a:prstGeom prst="rect">
            <a:avLst/>
          </a:prstGeom>
        </p:spPr>
      </p:pic>
      <p:sp>
        <p:nvSpPr>
          <p:cNvPr id="10" name="Text 6"/>
          <p:cNvSpPr/>
          <p:nvPr/>
        </p:nvSpPr>
        <p:spPr>
          <a:xfrm>
            <a:off x="777240" y="2926080"/>
            <a:ext cx="3259226" cy="411480"/>
          </a:xfrm>
          <a:prstGeom prst="rect">
            <a:avLst/>
          </a:prstGeom>
          <a:noFill/>
          <a:ln/>
        </p:spPr>
        <p:txBody>
          <a:bodyPr wrap="square" lIns="0" tIns="0" rIns="0" bIns="0" rtlCol="0" anchor="t"/>
          <a:lstStyle/>
          <a:p>
            <a:pPr marL="0" indent="0">
              <a:lnSpc>
                <a:spcPct val="108000"/>
              </a:lnSpc>
              <a:buNone/>
            </a:pPr>
            <a:r>
              <a:rPr lang="en-US" sz="1050" dirty="0">
                <a:solidFill>
                  <a:srgbClr val="FFFFFF"/>
                </a:solidFill>
                <a:latin typeface="Calibri" pitchFamily="34" charset="0"/>
                <a:ea typeface="Calibri" pitchFamily="34" charset="-122"/>
                <a:cs typeface="Calibri" pitchFamily="34" charset="-120"/>
              </a:rPr>
              <a:t>50 DLD transactions confirm active liquidity</a:t>
            </a:r>
            <a:endParaRPr lang="en-US" sz="1050" dirty="0"/>
          </a:p>
        </p:txBody>
      </p:sp>
      <p:pic>
        <p:nvPicPr>
          <p:cNvPr id="11" name="Image 2" descr="icons/check_gold.png"/>
          <p:cNvPicPr>
            <a:picLocks noChangeAspect="1"/>
          </p:cNvPicPr>
          <p:nvPr/>
        </p:nvPicPr>
        <p:blipFill>
          <a:blip r:embed="rId3"/>
          <a:stretch>
            <a:fillRect/>
          </a:stretch>
        </p:blipFill>
        <p:spPr>
          <a:xfrm>
            <a:off x="502920" y="3493008"/>
            <a:ext cx="182880" cy="182880"/>
          </a:xfrm>
          <a:prstGeom prst="rect">
            <a:avLst/>
          </a:prstGeom>
        </p:spPr>
      </p:pic>
      <p:sp>
        <p:nvSpPr>
          <p:cNvPr id="12" name="Text 7"/>
          <p:cNvSpPr/>
          <p:nvPr/>
        </p:nvSpPr>
        <p:spPr>
          <a:xfrm>
            <a:off x="777240" y="3438144"/>
            <a:ext cx="3259226" cy="411480"/>
          </a:xfrm>
          <a:prstGeom prst="rect">
            <a:avLst/>
          </a:prstGeom>
          <a:noFill/>
          <a:ln/>
        </p:spPr>
        <p:txBody>
          <a:bodyPr wrap="square" lIns="0" tIns="0" rIns="0" bIns="0" rtlCol="0" anchor="t"/>
          <a:lstStyle/>
          <a:p>
            <a:pPr marL="0" indent="0">
              <a:lnSpc>
                <a:spcPct val="108000"/>
              </a:lnSpc>
              <a:buNone/>
            </a:pPr>
            <a:r>
              <a:rPr lang="en-US" sz="1050" dirty="0">
                <a:solidFill>
                  <a:srgbClr val="FFFFFF"/>
                </a:solidFill>
                <a:latin typeface="Calibri" pitchFamily="34" charset="0"/>
                <a:ea typeface="Calibri" pitchFamily="34" charset="-122"/>
                <a:cs typeface="Calibri" pitchFamily="34" charset="-120"/>
              </a:rPr>
              <a:t>Closest school proximity (1.0 km)</a:t>
            </a:r>
            <a:endParaRPr lang="en-US" sz="1050" dirty="0"/>
          </a:p>
        </p:txBody>
      </p:sp>
      <p:pic>
        <p:nvPicPr>
          <p:cNvPr id="13" name="Image 3" descr="icons/check_gold.png"/>
          <p:cNvPicPr>
            <a:picLocks noChangeAspect="1"/>
          </p:cNvPicPr>
          <p:nvPr/>
        </p:nvPicPr>
        <p:blipFill>
          <a:blip r:embed="rId3"/>
          <a:stretch>
            <a:fillRect/>
          </a:stretch>
        </p:blipFill>
        <p:spPr>
          <a:xfrm>
            <a:off x="502920" y="4005072"/>
            <a:ext cx="182880" cy="182880"/>
          </a:xfrm>
          <a:prstGeom prst="rect">
            <a:avLst/>
          </a:prstGeom>
        </p:spPr>
      </p:pic>
      <p:sp>
        <p:nvSpPr>
          <p:cNvPr id="14" name="Text 8"/>
          <p:cNvSpPr/>
          <p:nvPr/>
        </p:nvSpPr>
        <p:spPr>
          <a:xfrm>
            <a:off x="777240" y="3950208"/>
            <a:ext cx="3259226" cy="411480"/>
          </a:xfrm>
          <a:prstGeom prst="rect">
            <a:avLst/>
          </a:prstGeom>
          <a:noFill/>
          <a:ln/>
        </p:spPr>
        <p:txBody>
          <a:bodyPr wrap="square" lIns="0" tIns="0" rIns="0" bIns="0" rtlCol="0" anchor="t"/>
          <a:lstStyle/>
          <a:p>
            <a:pPr marL="0" indent="0">
              <a:lnSpc>
                <a:spcPct val="108000"/>
              </a:lnSpc>
              <a:buNone/>
            </a:pPr>
            <a:r>
              <a:rPr lang="en-US" sz="1050" dirty="0">
                <a:solidFill>
                  <a:srgbClr val="FFFFFF"/>
                </a:solidFill>
                <a:latin typeface="Calibri" pitchFamily="34" charset="0"/>
                <a:ea typeface="Calibri" pitchFamily="34" charset="-122"/>
                <a:cs typeface="Calibri" pitchFamily="34" charset="-120"/>
              </a:rPr>
              <a:t>Same developer strength as Greenspoint</a:t>
            </a:r>
            <a:endParaRPr lang="en-US" sz="1050" dirty="0"/>
          </a:p>
        </p:txBody>
      </p:sp>
      <p:sp>
        <p:nvSpPr>
          <p:cNvPr id="15" name="Text 9"/>
          <p:cNvSpPr/>
          <p:nvPr/>
        </p:nvSpPr>
        <p:spPr>
          <a:xfrm>
            <a:off x="502920" y="4590288"/>
            <a:ext cx="3533546" cy="256032"/>
          </a:xfrm>
          <a:prstGeom prst="rect">
            <a:avLst/>
          </a:prstGeom>
          <a:noFill/>
          <a:ln/>
        </p:spPr>
        <p:txBody>
          <a:bodyPr wrap="square" lIns="0" tIns="0" rIns="0" bIns="0" rtlCol="0" anchor="ctr"/>
          <a:lstStyle/>
          <a:p>
            <a:pPr marL="0" indent="0">
              <a:buNone/>
            </a:pPr>
            <a:r>
              <a:rPr lang="en-US" sz="1100" b="1" kern="0" spc="100" dirty="0">
                <a:solidFill>
                  <a:srgbClr val="C9A227"/>
                </a:solidFill>
                <a:latin typeface="Calibri" pitchFamily="34" charset="0"/>
                <a:ea typeface="Calibri" pitchFamily="34" charset="-122"/>
                <a:cs typeface="Calibri" pitchFamily="34" charset="-120"/>
              </a:rPr>
              <a:t>INVESTMENT THESIS</a:t>
            </a:r>
            <a:endParaRPr lang="en-US" sz="1100" dirty="0"/>
          </a:p>
        </p:txBody>
      </p:sp>
      <p:sp>
        <p:nvSpPr>
          <p:cNvPr id="16" name="Text 10"/>
          <p:cNvSpPr/>
          <p:nvPr/>
        </p:nvSpPr>
        <p:spPr>
          <a:xfrm>
            <a:off x="502920" y="4882896"/>
            <a:ext cx="3533546" cy="777240"/>
          </a:xfrm>
          <a:prstGeom prst="rect">
            <a:avLst/>
          </a:prstGeom>
          <a:noFill/>
          <a:ln/>
        </p:spPr>
        <p:txBody>
          <a:bodyPr wrap="square" lIns="0" tIns="0" rIns="0" bIns="0" rtlCol="0" anchor="ctr"/>
          <a:lstStyle/>
          <a:p>
            <a:pPr marL="0" indent="0">
              <a:lnSpc>
                <a:spcPct val="115000"/>
              </a:lnSpc>
              <a:buNone/>
            </a:pPr>
            <a:r>
              <a:rPr lang="en-US" sz="1000" dirty="0">
                <a:solidFill>
                  <a:srgbClr val="C7D0DE"/>
                </a:solidFill>
                <a:latin typeface="Calibri" pitchFamily="34" charset="0"/>
                <a:ea typeface="Calibri" pitchFamily="34" charset="-122"/>
                <a:cs typeface="Calibri" pitchFamily="34" charset="-120"/>
              </a:rPr>
              <a:t>Below-market entry price in a community with above-market PSF growth (+19–23% YoY), backed by a AED 128bn funded infrastructure catalyst.</a:t>
            </a:r>
            <a:endParaRPr lang="en-US" sz="1000" dirty="0"/>
          </a:p>
        </p:txBody>
      </p:sp>
      <p:sp>
        <p:nvSpPr>
          <p:cNvPr id="17" name="Text 11"/>
          <p:cNvSpPr/>
          <p:nvPr/>
        </p:nvSpPr>
        <p:spPr>
          <a:xfrm>
            <a:off x="4329074" y="2121408"/>
            <a:ext cx="3533546" cy="256032"/>
          </a:xfrm>
          <a:prstGeom prst="rect">
            <a:avLst/>
          </a:prstGeom>
          <a:noFill/>
          <a:ln/>
        </p:spPr>
        <p:txBody>
          <a:bodyPr wrap="square" lIns="0" tIns="0" rIns="0" bIns="0" rtlCol="0" anchor="ctr"/>
          <a:lstStyle/>
          <a:p>
            <a:pPr marL="0" indent="0">
              <a:buNone/>
            </a:pPr>
            <a:r>
              <a:rPr lang="en-US" sz="1100" b="1" kern="0" spc="100" dirty="0">
                <a:solidFill>
                  <a:srgbClr val="C9A227"/>
                </a:solidFill>
                <a:latin typeface="Calibri" pitchFamily="34" charset="0"/>
                <a:ea typeface="Calibri" pitchFamily="34" charset="-122"/>
                <a:cs typeface="Calibri" pitchFamily="34" charset="-120"/>
              </a:rPr>
              <a:t>EXIT STRATEGY &amp; OUTLOOK</a:t>
            </a:r>
            <a:endParaRPr lang="en-US" sz="1100" dirty="0"/>
          </a:p>
        </p:txBody>
      </p:sp>
      <p:sp>
        <p:nvSpPr>
          <p:cNvPr id="18" name="Shape 12"/>
          <p:cNvSpPr/>
          <p:nvPr/>
        </p:nvSpPr>
        <p:spPr>
          <a:xfrm>
            <a:off x="4329074" y="2450592"/>
            <a:ext cx="3533546" cy="868680"/>
          </a:xfrm>
          <a:prstGeom prst="rect">
            <a:avLst/>
          </a:prstGeom>
          <a:solidFill>
            <a:srgbClr val="1B3A63"/>
          </a:solidFill>
          <a:ln/>
        </p:spPr>
      </p:sp>
      <p:sp>
        <p:nvSpPr>
          <p:cNvPr id="19" name="Text 13"/>
          <p:cNvSpPr/>
          <p:nvPr/>
        </p:nvSpPr>
        <p:spPr>
          <a:xfrm>
            <a:off x="4493666" y="2542032"/>
            <a:ext cx="3204362" cy="219456"/>
          </a:xfrm>
          <a:prstGeom prst="rect">
            <a:avLst/>
          </a:prstGeom>
          <a:noFill/>
          <a:ln/>
        </p:spPr>
        <p:txBody>
          <a:bodyPr wrap="square" lIns="0" tIns="0" rIns="0" bIns="0" rtlCol="0" anchor="ctr"/>
          <a:lstStyle/>
          <a:p>
            <a:pPr marL="0" indent="0">
              <a:buNone/>
            </a:pPr>
            <a:r>
              <a:rPr lang="en-US" sz="900" b="1" dirty="0">
                <a:solidFill>
                  <a:srgbClr val="C9A227"/>
                </a:solidFill>
                <a:latin typeface="Calibri" pitchFamily="34" charset="0"/>
                <a:ea typeface="Calibri" pitchFamily="34" charset="-122"/>
                <a:cs typeface="Calibri" pitchFamily="34" charset="-120"/>
              </a:rPr>
              <a:t>5-YEAR OUTLOOK (~2031)</a:t>
            </a:r>
            <a:endParaRPr lang="en-US" sz="900" dirty="0"/>
          </a:p>
        </p:txBody>
      </p:sp>
      <p:sp>
        <p:nvSpPr>
          <p:cNvPr id="20" name="Text 14"/>
          <p:cNvSpPr/>
          <p:nvPr/>
        </p:nvSpPr>
        <p:spPr>
          <a:xfrm>
            <a:off x="4493666" y="2761488"/>
            <a:ext cx="3204362" cy="502920"/>
          </a:xfrm>
          <a:prstGeom prst="rect">
            <a:avLst/>
          </a:prstGeom>
          <a:noFill/>
          <a:ln/>
        </p:spPr>
        <p:txBody>
          <a:bodyPr wrap="square" lIns="0" tIns="0" rIns="0" bIns="0" rtlCol="0" anchor="ctr"/>
          <a:lstStyle/>
          <a:p>
            <a:pPr marL="0" indent="0">
              <a:lnSpc>
                <a:spcPct val="110000"/>
              </a:lnSpc>
              <a:buNone/>
            </a:pPr>
            <a:r>
              <a:rPr lang="en-US" sz="950" dirty="0">
                <a:solidFill>
                  <a:srgbClr val="C7D0DE"/>
                </a:solidFill>
                <a:latin typeface="Calibri" pitchFamily="34" charset="0"/>
                <a:ea typeface="Calibri" pitchFamily="34" charset="-122"/>
                <a:cs typeface="Calibri" pitchFamily="34" charset="-120"/>
              </a:rPr>
              <a:t>Moderate appreciation as community matures; airport Phase 1 catalyst (2032) not yet realised.</a:t>
            </a:r>
            <a:endParaRPr lang="en-US" sz="950" dirty="0"/>
          </a:p>
        </p:txBody>
      </p:sp>
      <p:sp>
        <p:nvSpPr>
          <p:cNvPr id="21" name="Shape 15"/>
          <p:cNvSpPr/>
          <p:nvPr/>
        </p:nvSpPr>
        <p:spPr>
          <a:xfrm>
            <a:off x="4329074" y="3419856"/>
            <a:ext cx="3533546" cy="868680"/>
          </a:xfrm>
          <a:prstGeom prst="rect">
            <a:avLst/>
          </a:prstGeom>
          <a:solidFill>
            <a:srgbClr val="1B3A63"/>
          </a:solidFill>
          <a:ln/>
        </p:spPr>
      </p:sp>
      <p:sp>
        <p:nvSpPr>
          <p:cNvPr id="22" name="Text 16"/>
          <p:cNvSpPr/>
          <p:nvPr/>
        </p:nvSpPr>
        <p:spPr>
          <a:xfrm>
            <a:off x="4493666" y="3511296"/>
            <a:ext cx="3204362" cy="219456"/>
          </a:xfrm>
          <a:prstGeom prst="rect">
            <a:avLst/>
          </a:prstGeom>
          <a:noFill/>
          <a:ln/>
        </p:spPr>
        <p:txBody>
          <a:bodyPr wrap="square" lIns="0" tIns="0" rIns="0" bIns="0" rtlCol="0" anchor="ctr"/>
          <a:lstStyle/>
          <a:p>
            <a:pPr marL="0" indent="0">
              <a:buNone/>
            </a:pPr>
            <a:r>
              <a:rPr lang="en-US" sz="900" b="1" dirty="0">
                <a:solidFill>
                  <a:srgbClr val="C9A227"/>
                </a:solidFill>
                <a:latin typeface="Calibri" pitchFamily="34" charset="0"/>
                <a:ea typeface="Calibri" pitchFamily="34" charset="-122"/>
                <a:cs typeface="Calibri" pitchFamily="34" charset="-120"/>
              </a:rPr>
              <a:t>10-YEAR OUTLOOK (~2036)</a:t>
            </a:r>
            <a:endParaRPr lang="en-US" sz="900" dirty="0"/>
          </a:p>
        </p:txBody>
      </p:sp>
      <p:sp>
        <p:nvSpPr>
          <p:cNvPr id="23" name="Text 17"/>
          <p:cNvSpPr/>
          <p:nvPr/>
        </p:nvSpPr>
        <p:spPr>
          <a:xfrm>
            <a:off x="4493666" y="3730752"/>
            <a:ext cx="3204362" cy="502920"/>
          </a:xfrm>
          <a:prstGeom prst="rect">
            <a:avLst/>
          </a:prstGeom>
          <a:noFill/>
          <a:ln/>
        </p:spPr>
        <p:txBody>
          <a:bodyPr wrap="square" lIns="0" tIns="0" rIns="0" bIns="0" rtlCol="0" anchor="ctr"/>
          <a:lstStyle/>
          <a:p>
            <a:pPr marL="0" indent="0">
              <a:lnSpc>
                <a:spcPct val="110000"/>
              </a:lnSpc>
              <a:buNone/>
            </a:pPr>
            <a:r>
              <a:rPr lang="en-US" sz="950" dirty="0">
                <a:solidFill>
                  <a:srgbClr val="C7D0DE"/>
                </a:solidFill>
                <a:latin typeface="Calibri" pitchFamily="34" charset="0"/>
                <a:ea typeface="Calibri" pitchFamily="34" charset="-122"/>
                <a:cs typeface="Calibri" pitchFamily="34" charset="-120"/>
              </a:rPr>
              <a:t>Spans Airport Phase 1 + Emirates relocation. Full structural re-rating expected if megaproject executes on schedule.</a:t>
            </a:r>
            <a:endParaRPr lang="en-US" sz="950" dirty="0"/>
          </a:p>
        </p:txBody>
      </p:sp>
      <p:sp>
        <p:nvSpPr>
          <p:cNvPr id="24" name="Text 18"/>
          <p:cNvSpPr/>
          <p:nvPr/>
        </p:nvSpPr>
        <p:spPr>
          <a:xfrm>
            <a:off x="4329074" y="4407408"/>
            <a:ext cx="3533546"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RECOMMENDED HOLD: 6–8 YEARS</a:t>
            </a:r>
            <a:endParaRPr lang="en-US" sz="1100" dirty="0"/>
          </a:p>
        </p:txBody>
      </p:sp>
      <p:sp>
        <p:nvSpPr>
          <p:cNvPr id="25" name="Text 19"/>
          <p:cNvSpPr/>
          <p:nvPr/>
        </p:nvSpPr>
        <p:spPr>
          <a:xfrm>
            <a:off x="4329074" y="4681728"/>
            <a:ext cx="3533546" cy="548640"/>
          </a:xfrm>
          <a:prstGeom prst="rect">
            <a:avLst/>
          </a:prstGeom>
          <a:noFill/>
          <a:ln/>
        </p:spPr>
        <p:txBody>
          <a:bodyPr wrap="square" lIns="0" tIns="0" rIns="0" bIns="0" rtlCol="0" anchor="ctr"/>
          <a:lstStyle/>
          <a:p>
            <a:pPr marL="0" indent="0">
              <a:lnSpc>
                <a:spcPct val="110000"/>
              </a:lnSpc>
              <a:buNone/>
            </a:pPr>
            <a:r>
              <a:rPr lang="en-US" sz="950" i="1" dirty="0">
                <a:solidFill>
                  <a:srgbClr val="8A95AC"/>
                </a:solidFill>
                <a:latin typeface="Calibri" pitchFamily="34" charset="0"/>
                <a:ea typeface="Calibri" pitchFamily="34" charset="-122"/>
                <a:cs typeface="Calibri" pitchFamily="34" charset="-120"/>
              </a:rPr>
              <a:t>Aligns exit with Al Maktoum Airport Phase 1 (2032) — a forecast, not a guarantee.</a:t>
            </a:r>
            <a:endParaRPr lang="en-US" sz="950" dirty="0"/>
          </a:p>
        </p:txBody>
      </p:sp>
      <p:sp>
        <p:nvSpPr>
          <p:cNvPr id="26" name="Text 20"/>
          <p:cNvSpPr/>
          <p:nvPr/>
        </p:nvSpPr>
        <p:spPr>
          <a:xfrm>
            <a:off x="8155229" y="2121408"/>
            <a:ext cx="3533546" cy="256032"/>
          </a:xfrm>
          <a:prstGeom prst="rect">
            <a:avLst/>
          </a:prstGeom>
          <a:noFill/>
          <a:ln/>
        </p:spPr>
        <p:txBody>
          <a:bodyPr wrap="square" lIns="0" tIns="0" rIns="0" bIns="0" rtlCol="0" anchor="ctr"/>
          <a:lstStyle/>
          <a:p>
            <a:pPr marL="0" indent="0">
              <a:buNone/>
            </a:pPr>
            <a:r>
              <a:rPr lang="en-US" sz="1100" b="1" kern="0" spc="100" dirty="0">
                <a:solidFill>
                  <a:srgbClr val="C9A227"/>
                </a:solidFill>
                <a:latin typeface="Calibri" pitchFamily="34" charset="0"/>
                <a:ea typeface="Calibri" pitchFamily="34" charset="-122"/>
                <a:cs typeface="Calibri" pitchFamily="34" charset="-120"/>
              </a:rPr>
              <a:t>NEXT STEPS</a:t>
            </a:r>
            <a:endParaRPr lang="en-US" sz="1100" dirty="0"/>
          </a:p>
        </p:txBody>
      </p:sp>
      <p:sp>
        <p:nvSpPr>
          <p:cNvPr id="27" name="Shape 21"/>
          <p:cNvSpPr/>
          <p:nvPr/>
        </p:nvSpPr>
        <p:spPr>
          <a:xfrm>
            <a:off x="8155229" y="2468880"/>
            <a:ext cx="219456" cy="219456"/>
          </a:xfrm>
          <a:prstGeom prst="ellipse">
            <a:avLst/>
          </a:prstGeom>
          <a:solidFill>
            <a:srgbClr val="C9A227"/>
          </a:solidFill>
          <a:ln/>
        </p:spPr>
      </p:sp>
      <p:sp>
        <p:nvSpPr>
          <p:cNvPr id="28" name="Text 22"/>
          <p:cNvSpPr/>
          <p:nvPr/>
        </p:nvSpPr>
        <p:spPr>
          <a:xfrm>
            <a:off x="8155229" y="2468880"/>
            <a:ext cx="219456" cy="219456"/>
          </a:xfrm>
          <a:prstGeom prst="rect">
            <a:avLst/>
          </a:prstGeom>
          <a:noFill/>
          <a:ln/>
        </p:spPr>
        <p:txBody>
          <a:bodyPr wrap="square" lIns="0" tIns="0" rIns="0" bIns="0" rtlCol="0" anchor="ctr"/>
          <a:lstStyle/>
          <a:p>
            <a:pPr marL="0" indent="0" algn="ctr">
              <a:buNone/>
            </a:pPr>
            <a:r>
              <a:rPr lang="en-US" sz="1000" b="1" dirty="0">
                <a:solidFill>
                  <a:srgbClr val="0B1F3A"/>
                </a:solidFill>
                <a:latin typeface="Calibri" pitchFamily="34" charset="0"/>
                <a:ea typeface="Calibri" pitchFamily="34" charset="-122"/>
                <a:cs typeface="Calibri" pitchFamily="34" charset="-120"/>
              </a:rPr>
              <a:t>1</a:t>
            </a:r>
            <a:endParaRPr lang="en-US" sz="1000" dirty="0"/>
          </a:p>
        </p:txBody>
      </p:sp>
      <p:sp>
        <p:nvSpPr>
          <p:cNvPr id="29" name="Text 23"/>
          <p:cNvSpPr/>
          <p:nvPr/>
        </p:nvSpPr>
        <p:spPr>
          <a:xfrm>
            <a:off x="8466125" y="2414016"/>
            <a:ext cx="3222650" cy="594360"/>
          </a:xfrm>
          <a:prstGeom prst="rect">
            <a:avLst/>
          </a:prstGeom>
          <a:noFill/>
          <a:ln/>
        </p:spPr>
        <p:txBody>
          <a:bodyPr wrap="square" lIns="0" tIns="0" rIns="0" bIns="0" rtlCol="0" anchor="t"/>
          <a:lstStyle/>
          <a:p>
            <a:pPr marL="0" indent="0">
              <a:lnSpc>
                <a:spcPct val="110000"/>
              </a:lnSpc>
              <a:buNone/>
            </a:pPr>
            <a:r>
              <a:rPr lang="en-US" sz="1000" dirty="0">
                <a:solidFill>
                  <a:srgbClr val="FFFFFF"/>
                </a:solidFill>
                <a:latin typeface="Calibri" pitchFamily="34" charset="0"/>
                <a:ea typeface="Calibri" pitchFamily="34" charset="-122"/>
                <a:cs typeface="Calibri" pitchFamily="34" charset="-120"/>
              </a:rPr>
              <a:t>Verify live Golf Acres pricing/availability directly with Emaar</a:t>
            </a:r>
            <a:endParaRPr lang="en-US" sz="1000" dirty="0"/>
          </a:p>
        </p:txBody>
      </p:sp>
      <p:sp>
        <p:nvSpPr>
          <p:cNvPr id="30" name="Shape 24"/>
          <p:cNvSpPr/>
          <p:nvPr/>
        </p:nvSpPr>
        <p:spPr>
          <a:xfrm>
            <a:off x="8155229" y="3182112"/>
            <a:ext cx="219456" cy="219456"/>
          </a:xfrm>
          <a:prstGeom prst="ellipse">
            <a:avLst/>
          </a:prstGeom>
          <a:solidFill>
            <a:srgbClr val="C9A227"/>
          </a:solidFill>
          <a:ln/>
        </p:spPr>
      </p:sp>
      <p:sp>
        <p:nvSpPr>
          <p:cNvPr id="31" name="Text 25"/>
          <p:cNvSpPr/>
          <p:nvPr/>
        </p:nvSpPr>
        <p:spPr>
          <a:xfrm>
            <a:off x="8155229" y="3182112"/>
            <a:ext cx="219456" cy="219456"/>
          </a:xfrm>
          <a:prstGeom prst="rect">
            <a:avLst/>
          </a:prstGeom>
          <a:noFill/>
          <a:ln/>
        </p:spPr>
        <p:txBody>
          <a:bodyPr wrap="square" lIns="0" tIns="0" rIns="0" bIns="0" rtlCol="0" anchor="ctr"/>
          <a:lstStyle/>
          <a:p>
            <a:pPr marL="0" indent="0" algn="ctr">
              <a:buNone/>
            </a:pPr>
            <a:r>
              <a:rPr lang="en-US" sz="1000" b="1" dirty="0">
                <a:solidFill>
                  <a:srgbClr val="0B1F3A"/>
                </a:solidFill>
                <a:latin typeface="Calibri" pitchFamily="34" charset="0"/>
                <a:ea typeface="Calibri" pitchFamily="34" charset="-122"/>
                <a:cs typeface="Calibri" pitchFamily="34" charset="-120"/>
              </a:rPr>
              <a:t>2</a:t>
            </a:r>
            <a:endParaRPr lang="en-US" sz="1000" dirty="0"/>
          </a:p>
        </p:txBody>
      </p:sp>
      <p:sp>
        <p:nvSpPr>
          <p:cNvPr id="32" name="Text 26"/>
          <p:cNvSpPr/>
          <p:nvPr/>
        </p:nvSpPr>
        <p:spPr>
          <a:xfrm>
            <a:off x="8466125" y="3127248"/>
            <a:ext cx="3222650" cy="594360"/>
          </a:xfrm>
          <a:prstGeom prst="rect">
            <a:avLst/>
          </a:prstGeom>
          <a:noFill/>
          <a:ln/>
        </p:spPr>
        <p:txBody>
          <a:bodyPr wrap="square" lIns="0" tIns="0" rIns="0" bIns="0" rtlCol="0" anchor="t"/>
          <a:lstStyle/>
          <a:p>
            <a:pPr marL="0" indent="0">
              <a:lnSpc>
                <a:spcPct val="110000"/>
              </a:lnSpc>
              <a:buNone/>
            </a:pPr>
            <a:r>
              <a:rPr lang="en-US" sz="1000" dirty="0">
                <a:solidFill>
                  <a:srgbClr val="FFFFFF"/>
                </a:solidFill>
                <a:latin typeface="Calibri" pitchFamily="34" charset="0"/>
                <a:ea typeface="Calibri" pitchFamily="34" charset="-122"/>
                <a:cs typeface="Calibri" pitchFamily="34" charset="-120"/>
              </a:rPr>
              <a:t>Confirm RERA registration &amp; escrow details via Dubai REST app</a:t>
            </a:r>
            <a:endParaRPr lang="en-US" sz="1000" dirty="0"/>
          </a:p>
        </p:txBody>
      </p:sp>
      <p:sp>
        <p:nvSpPr>
          <p:cNvPr id="33" name="Shape 27"/>
          <p:cNvSpPr/>
          <p:nvPr/>
        </p:nvSpPr>
        <p:spPr>
          <a:xfrm>
            <a:off x="8155229" y="3895344"/>
            <a:ext cx="219456" cy="219456"/>
          </a:xfrm>
          <a:prstGeom prst="ellipse">
            <a:avLst/>
          </a:prstGeom>
          <a:solidFill>
            <a:srgbClr val="C9A227"/>
          </a:solidFill>
          <a:ln/>
        </p:spPr>
      </p:sp>
      <p:sp>
        <p:nvSpPr>
          <p:cNvPr id="34" name="Text 28"/>
          <p:cNvSpPr/>
          <p:nvPr/>
        </p:nvSpPr>
        <p:spPr>
          <a:xfrm>
            <a:off x="8155229" y="3895344"/>
            <a:ext cx="219456" cy="219456"/>
          </a:xfrm>
          <a:prstGeom prst="rect">
            <a:avLst/>
          </a:prstGeom>
          <a:noFill/>
          <a:ln/>
        </p:spPr>
        <p:txBody>
          <a:bodyPr wrap="square" lIns="0" tIns="0" rIns="0" bIns="0" rtlCol="0" anchor="ctr"/>
          <a:lstStyle/>
          <a:p>
            <a:pPr marL="0" indent="0" algn="ctr">
              <a:buNone/>
            </a:pPr>
            <a:r>
              <a:rPr lang="en-US" sz="1000" b="1" dirty="0">
                <a:solidFill>
                  <a:srgbClr val="0B1F3A"/>
                </a:solidFill>
                <a:latin typeface="Calibri" pitchFamily="34" charset="0"/>
                <a:ea typeface="Calibri" pitchFamily="34" charset="-122"/>
                <a:cs typeface="Calibri" pitchFamily="34" charset="-120"/>
              </a:rPr>
              <a:t>3</a:t>
            </a:r>
            <a:endParaRPr lang="en-US" sz="1000" dirty="0"/>
          </a:p>
        </p:txBody>
      </p:sp>
      <p:sp>
        <p:nvSpPr>
          <p:cNvPr id="35" name="Text 29"/>
          <p:cNvSpPr/>
          <p:nvPr/>
        </p:nvSpPr>
        <p:spPr>
          <a:xfrm>
            <a:off x="8466125" y="3840480"/>
            <a:ext cx="3222650" cy="594360"/>
          </a:xfrm>
          <a:prstGeom prst="rect">
            <a:avLst/>
          </a:prstGeom>
          <a:noFill/>
          <a:ln/>
        </p:spPr>
        <p:txBody>
          <a:bodyPr wrap="square" lIns="0" tIns="0" rIns="0" bIns="0" rtlCol="0" anchor="t"/>
          <a:lstStyle/>
          <a:p>
            <a:pPr marL="0" indent="0">
              <a:lnSpc>
                <a:spcPct val="110000"/>
              </a:lnSpc>
              <a:buNone/>
            </a:pPr>
            <a:r>
              <a:rPr lang="en-US" sz="1000" dirty="0">
                <a:solidFill>
                  <a:srgbClr val="FFFFFF"/>
                </a:solidFill>
                <a:latin typeface="Calibri" pitchFamily="34" charset="0"/>
                <a:ea typeface="Calibri" pitchFamily="34" charset="-122"/>
                <a:cs typeface="Calibri" pitchFamily="34" charset="-120"/>
              </a:rPr>
              <a:t>Reconcile minor data flags (storey count, handover date) with Emaar sales team</a:t>
            </a:r>
            <a:endParaRPr lang="en-US" sz="1000" dirty="0"/>
          </a:p>
        </p:txBody>
      </p:sp>
      <p:sp>
        <p:nvSpPr>
          <p:cNvPr id="36" name="Shape 30"/>
          <p:cNvSpPr/>
          <p:nvPr/>
        </p:nvSpPr>
        <p:spPr>
          <a:xfrm>
            <a:off x="8155229" y="4608576"/>
            <a:ext cx="219456" cy="219456"/>
          </a:xfrm>
          <a:prstGeom prst="ellipse">
            <a:avLst/>
          </a:prstGeom>
          <a:solidFill>
            <a:srgbClr val="C9A227"/>
          </a:solidFill>
          <a:ln/>
        </p:spPr>
      </p:sp>
      <p:sp>
        <p:nvSpPr>
          <p:cNvPr id="37" name="Text 31"/>
          <p:cNvSpPr/>
          <p:nvPr/>
        </p:nvSpPr>
        <p:spPr>
          <a:xfrm>
            <a:off x="8155229" y="4608576"/>
            <a:ext cx="219456" cy="219456"/>
          </a:xfrm>
          <a:prstGeom prst="rect">
            <a:avLst/>
          </a:prstGeom>
          <a:noFill/>
          <a:ln/>
        </p:spPr>
        <p:txBody>
          <a:bodyPr wrap="square" lIns="0" tIns="0" rIns="0" bIns="0" rtlCol="0" anchor="ctr"/>
          <a:lstStyle/>
          <a:p>
            <a:pPr marL="0" indent="0" algn="ctr">
              <a:buNone/>
            </a:pPr>
            <a:r>
              <a:rPr lang="en-US" sz="1000" b="1" dirty="0">
                <a:solidFill>
                  <a:srgbClr val="0B1F3A"/>
                </a:solidFill>
                <a:latin typeface="Calibri" pitchFamily="34" charset="0"/>
                <a:ea typeface="Calibri" pitchFamily="34" charset="-122"/>
                <a:cs typeface="Calibri" pitchFamily="34" charset="-120"/>
              </a:rPr>
              <a:t>4</a:t>
            </a:r>
            <a:endParaRPr lang="en-US" sz="1000" dirty="0"/>
          </a:p>
        </p:txBody>
      </p:sp>
      <p:sp>
        <p:nvSpPr>
          <p:cNvPr id="38" name="Text 32"/>
          <p:cNvSpPr/>
          <p:nvPr/>
        </p:nvSpPr>
        <p:spPr>
          <a:xfrm>
            <a:off x="8466125" y="4542695"/>
            <a:ext cx="3222650" cy="594360"/>
          </a:xfrm>
          <a:prstGeom prst="rect">
            <a:avLst/>
          </a:prstGeom>
          <a:noFill/>
          <a:ln/>
        </p:spPr>
        <p:txBody>
          <a:bodyPr wrap="square" lIns="0" tIns="0" rIns="0" bIns="0" rtlCol="0" anchor="t"/>
          <a:lstStyle/>
          <a:p>
            <a:pPr marL="0" indent="0">
              <a:lnSpc>
                <a:spcPct val="110000"/>
              </a:lnSpc>
              <a:buNone/>
            </a:pPr>
            <a:r>
              <a:rPr lang="en-US" sz="1000" dirty="0">
                <a:solidFill>
                  <a:srgbClr val="FFFFFF"/>
                </a:solidFill>
                <a:latin typeface="Calibri" pitchFamily="34" charset="0"/>
                <a:ea typeface="Calibri" pitchFamily="34" charset="-122"/>
                <a:cs typeface="Calibri" pitchFamily="34" charset="-120"/>
              </a:rPr>
              <a:t>If budget flexes, present Greenspoint as a secondary option</a:t>
            </a:r>
            <a:endParaRPr lang="en-US" sz="1000" dirty="0"/>
          </a:p>
        </p:txBody>
      </p:sp>
      <p:sp>
        <p:nvSpPr>
          <p:cNvPr id="39" name="Text 33"/>
          <p:cNvSpPr/>
          <p:nvPr/>
        </p:nvSpPr>
        <p:spPr>
          <a:xfrm>
            <a:off x="502920" y="6473952"/>
            <a:ext cx="11185855" cy="256032"/>
          </a:xfrm>
          <a:prstGeom prst="rect">
            <a:avLst/>
          </a:prstGeom>
          <a:noFill/>
          <a:ln/>
        </p:spPr>
        <p:txBody>
          <a:bodyPr wrap="square" lIns="0" tIns="0" rIns="0" bIns="0" rtlCol="0" anchor="ctr"/>
          <a:lstStyle/>
          <a:p>
            <a:pPr marL="0" indent="0" algn="ctr">
              <a:buNone/>
            </a:pPr>
            <a:r>
              <a:rPr lang="en-US" sz="800" i="1" dirty="0">
                <a:solidFill>
                  <a:srgbClr val="6E7A93"/>
                </a:solidFill>
                <a:latin typeface="Calibri" pitchFamily="34" charset="0"/>
                <a:ea typeface="Calibri" pitchFamily="34" charset="-122"/>
                <a:cs typeface="Calibri" pitchFamily="34" charset="-120"/>
              </a:rPr>
              <a:t>Confidential — For CEO Briefing Use  |  Prepared by Joshua Abejide  |  Dubai Luxury Real Estate Investment Advisory – Executive Case Study  |  June 2026</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117</TotalTime>
  <Words>5838</Words>
  <Application>Microsoft Office PowerPoint</Application>
  <PresentationFormat>Widescreen</PresentationFormat>
  <Paragraphs>547</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Dubai Luxury Real Estate Investment Advisory – Executive Case Study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Dubai Luxury Real Estate Investment Advisory – Executive Case Study</dc:title>
  <dc:subject>Dubai Luxury Real Estate Investment Analysis | Executive Consulting Case Study</dc:subject>
  <dc:creator>Joshua Abejide</dc:creator>
  <cp:lastModifiedBy>Joshua Abejide</cp:lastModifiedBy>
  <cp:revision>5</cp:revision>
  <dcterms:created xsi:type="dcterms:W3CDTF">2026-06-30T06:05:02Z</dcterms:created>
  <dcterms:modified xsi:type="dcterms:W3CDTF">2026-08-14T06:52:17Z</dcterms:modified>
</cp:coreProperties>
</file>